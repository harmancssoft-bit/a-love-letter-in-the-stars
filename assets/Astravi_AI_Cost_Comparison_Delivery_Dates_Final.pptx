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chart-data-snapshot-00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OpenAI API</c:v>
          </c:tx>
          <c:spPr>
            <a:solidFill>
              <a:srgbClr val="1E2761"/>
            </a:solidFill>
          </c:spPr>
          <c:invertIfNegative val="1"/>
          <c:dLbls>
            <c:spPr>
              <a:noFill/>
              <a:ln>
                <a:noFill/>
              </a:ln>
              <a:effectLst/>
            </c:spPr>
            <c:txPr>
              <a:bodyPr anchorCtr="1"/>
              <a:lstStyle/>
              <a:p>
                <a:pPr>
                  <a:defRPr sz="750">
                    <a:solidFill>
                      <a:srgbClr val="2B2E43"/>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100 employees
4 shots/min</c:v>
                </c:pt>
                <c:pt idx="1">
                  <c:v>100 employees
7 shots/min</c:v>
                </c:pt>
                <c:pt idx="2">
                  <c:v>200 employees
4 shots/min</c:v>
                </c:pt>
                <c:pt idx="3">
                  <c:v>200 employees
7 shots/min</c:v>
                </c:pt>
              </c:strCache>
            </c:strRef>
          </c:cat>
          <c:val>
            <c:numRef>
              <c:f>'Chart Data'!$B$2:$B$5</c:f>
              <c:numCache>
                <c:formatCode>\$#,##0</c:formatCode>
                <c:ptCount val="4"/>
                <c:pt idx="0">
                  <c:v>33132</c:v>
                </c:pt>
                <c:pt idx="1">
                  <c:v>56650</c:v>
                </c:pt>
                <c:pt idx="2">
                  <c:v>66264</c:v>
                </c:pt>
                <c:pt idx="3">
                  <c:v>113300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EA4B-4585-9627-FA86FBBEBB95}"/>
            </c:ext>
          </c:extLst>
        </c:ser>
        <c:ser>
          <c:idx val="1"/>
          <c:order val="1"/>
          <c:tx>
            <c:v>Claude API</c:v>
          </c:tx>
          <c:spPr>
            <a:solidFill>
              <a:srgbClr val="E8A33D"/>
            </a:solidFill>
          </c:spPr>
          <c:invertIfNegative val="1"/>
          <c:dLbls>
            <c:spPr>
              <a:noFill/>
              <a:ln>
                <a:noFill/>
              </a:ln>
              <a:effectLst/>
            </c:spPr>
            <c:txPr>
              <a:bodyPr anchorCtr="1"/>
              <a:lstStyle/>
              <a:p>
                <a:pPr>
                  <a:defRPr sz="750">
                    <a:solidFill>
                      <a:srgbClr val="2B2E43"/>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Data'!$C$2:$C$5</c:f>
              <c:strCache>
                <c:ptCount val="4"/>
                <c:pt idx="0">
                  <c:v>100 employees
4 shots/min</c:v>
                </c:pt>
                <c:pt idx="1">
                  <c:v>100 employees
7 shots/min</c:v>
                </c:pt>
                <c:pt idx="2">
                  <c:v>200 employees
4 shots/min</c:v>
                </c:pt>
                <c:pt idx="3">
                  <c:v>200 employees
7 shots/min</c:v>
                </c:pt>
              </c:strCache>
            </c:strRef>
          </c:cat>
          <c:val>
            <c:numRef>
              <c:f>'Chart Data'!$D$2:$D$5</c:f>
              <c:numCache>
                <c:formatCode>\$#,##0</c:formatCode>
                <c:ptCount val="4"/>
                <c:pt idx="0">
                  <c:v>56870</c:v>
                </c:pt>
                <c:pt idx="1">
                  <c:v>83974</c:v>
                </c:pt>
                <c:pt idx="2">
                  <c:v>113740</c:v>
                </c:pt>
                <c:pt idx="3">
                  <c:v>167948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EA4B-4585-9627-FA86FBBEBB95}"/>
            </c:ext>
          </c:extLst>
        </c:ser>
        <c:dLbls>
          <c:dLblPos val="outEnd"/>
          <c:showLegendKey val="0"/>
          <c:showVal val="1"/>
          <c:showCatName val="0"/>
          <c:showSerName val="0"/>
          <c:showPercent val="0"/>
          <c:showBubbleSize val="0"/>
        </c:dLbls>
        <c:gapWidth val="3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888888"/>
            </a:solidFill>
            <a:prstDash val="solid"/>
          </a:ln>
        </c:spPr>
        <c:txPr>
          <a:bodyPr anchorCtr="1"/>
          <a:lstStyle/>
          <a:p>
            <a:pPr>
              <a:defRPr sz="788">
                <a:solidFill>
                  <a:srgbClr val="2B2E43"/>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l"/>
        <c:majorGridlines>
          <c:spPr>
            <a:ln w="9525">
              <a:solidFill>
                <a:srgbClr val="E7EAF2"/>
              </a:solidFill>
              <a:prstDash val="solid"/>
            </a:ln>
          </c:spPr>
        </c:majorGridlines>
        <c:title>
          <c:tx>
            <c:rich>
              <a:bodyPr/>
              <a:lstStyle/>
              <a:p>
                <a:r>
                  <a:rPr lang="en-US" sz="788">
                    <a:solidFill>
                      <a:srgbClr val="6B7280"/>
                    </a:solidFill>
                    <a:latin typeface="Arial"/>
                    <a:ea typeface="Arial"/>
                    <a:cs typeface="Arial"/>
                  </a:rPr>
                  <a:t>Estimated $ / month</a:t>
                </a:r>
              </a:p>
            </c:rich>
          </c:tx>
          <c:overlay val="0"/>
        </c:title>
        <c:numFmt formatCode="\$#,##0" sourceLinked="1"/>
        <c:majorTickMark val="none"/>
        <c:minorTickMark val="none"/>
        <c:tickLblPos val="nextTo"/>
        <c:spPr>
          <a:ln w="9525">
            <a:solidFill>
              <a:srgbClr val="888888"/>
            </a:solidFill>
            <a:prstDash val="solid"/>
          </a:ln>
        </c:spPr>
        <c:txPr>
          <a:bodyPr anchorCtr="1"/>
          <a:lstStyle/>
          <a:p>
            <a:pPr>
              <a:defRPr sz="750">
                <a:solidFill>
                  <a:srgbClr val="6B7280"/>
                </a:solidFill>
                <a:latin typeface="Arial"/>
                <a:ea typeface="Arial"/>
                <a:cs typeface="Arial"/>
              </a:defRPr>
            </a:pPr>
            <a:endParaRPr lang="en-US"/>
          </a:p>
        </c:txPr>
        <c:crossAx val="48650112"/>
        <c:crosses val="autoZero"/>
        <c:crossBetween val="between"/>
      </c:valAx>
      <c:spPr>
        <a:solidFill>
          <a:srgbClr val="FFFFFF"/>
        </a:solidFill>
      </c:spPr>
    </c:plotArea>
    <c:legend>
      <c:legendPos val="b"/>
      <c:overlay val="0"/>
      <c:txPr>
        <a:bodyPr anchorCtr="1"/>
        <a:lstStyle/>
        <a:p>
          <a:pPr>
            <a:defRPr sz="900">
              <a:solidFill>
                <a:srgbClr val="2B2E43"/>
              </a:solidFill>
              <a:latin typeface="Arial"/>
              <a:ea typeface="Arial"/>
              <a:cs typeface="Arial"/>
            </a:defRPr>
          </a:pPr>
          <a:endParaRPr lang="en-US"/>
        </a:p>
      </c:txPr>
    </c:legend>
    <c:plotVisOnly val="1"/>
    <c:dispBlanksAs val="span"/>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OpenAI GPT-5.6 (Terra for vision captioning, Luna for text) is the lowest-cost API path across all four scenarios. Claude Sonnet 5 costs more but uses a single model across captioning and agent work, simplifying integration. Figures are per-employee estimates assuming 22 working days/month and exclude tax, retries, storage, network, and currency charges.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Astravi AI Cost Comparison Summary. Search costs at 100-employee scale added in this revision.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Astravi AI Cost Comparison Summary. Pricing and OpenAI daily-load breakdown added in this revision.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Astravi AI Cost Comparison Summary. Per-employee cost comparison added in this revision.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Recommended sequencing: rent Option 2 (2x L4 GPU) for 1-3 months rather than buying outright, validate with a realistic 100-200 employee load test, and only purchase hardware once throughput/latency targets are confirmed. This de-risks the capital commitment while we get real usage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user-supplied AI development-hours table. Total estimated hours: 360.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Tentative project delivery: 23 November 2026. Tentative QA completion: 30 November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9BF01C8-E076-41E0-8E23-E3CF4C4C59BB}"/>
              </a:ext>
            </a:extLst>
          </p:cNvPr>
          <p:cNvSpPr>
            <a:spLocks noGrp="1"/>
          </p:cNvSpPr>
          <p:nvPr/>
        </p:nvSpPr>
        <p:spPr>
          <a:xfrm>
            <a:off x="0" y="0"/>
            <a:ext cx="12188952" cy="6858000"/>
          </a:xfrm>
          <a:prstGeom prst="rect">
            <a:avLst/>
          </a:prstGeom>
          <a:solidFill>
            <a:srgbClr val="1E2761"/>
          </a:solidFill>
        </p:spPr>
        <p:txBody>
          <a:bodyPr/>
          <a:lstStyle/>
          <a:p>
            <a:endParaRPr/>
          </a:p>
        </p:txBody>
      </p:sp>
      <p:sp>
        <p:nvSpPr>
          <p:cNvPr id="3" name="Shape 1">
            <a:extLst>
              <a:ext uri="{FF2B5EF4-FFF2-40B4-BE49-F238E27FC236}">
                <a16:creationId xmlns:a16="http://schemas.microsoft.com/office/drawing/2014/main" id="{08968685-EBDD-46A1-B327-0864D4980EB9}"/>
              </a:ext>
            </a:extLst>
          </p:cNvPr>
          <p:cNvSpPr>
            <a:spLocks noGrp="1"/>
          </p:cNvSpPr>
          <p:nvPr/>
        </p:nvSpPr>
        <p:spPr>
          <a:xfrm>
            <a:off x="0" y="4480560"/>
            <a:ext cx="12188952" cy="2377440"/>
          </a:xfrm>
          <a:prstGeom prst="rect">
            <a:avLst/>
          </a:prstGeom>
          <a:solidFill>
            <a:srgbClr val="141B47"/>
          </a:solidFill>
        </p:spPr>
        <p:txBody>
          <a:bodyPr/>
          <a:lstStyle/>
          <a:p>
            <a:endParaRPr/>
          </a:p>
        </p:txBody>
      </p:sp>
      <p:sp>
        <p:nvSpPr>
          <p:cNvPr id="4" name="Text 2">
            <a:extLst>
              <a:ext uri="{FF2B5EF4-FFF2-40B4-BE49-F238E27FC236}">
                <a16:creationId xmlns:a16="http://schemas.microsoft.com/office/drawing/2014/main" id="{E121C540-FEB4-44CC-9572-1519E7830F52}"/>
              </a:ext>
            </a:extLst>
          </p:cNvPr>
          <p:cNvSpPr>
            <a:spLocks noGrp="1"/>
          </p:cNvSpPr>
          <p:nvPr/>
        </p:nvSpPr>
        <p:spPr>
          <a:xfrm>
            <a:off x="640080" y="1417320"/>
            <a:ext cx="9144000" cy="320040"/>
          </a:xfrm>
          <a:prstGeom prst="rect">
            <a:avLst/>
          </a:prstGeom>
          <a:noFill/>
        </p:spPr>
        <p:txBody>
          <a:bodyPr wrap="square" anchor="ctr"/>
          <a:lstStyle/>
          <a:p>
            <a:pPr marL="0" indent="0">
              <a:buNone/>
            </a:pPr>
            <a:r>
              <a:rPr sz="1300" b="1" spc="200">
                <a:solidFill>
                  <a:srgbClr val="E8A33D"/>
                </a:solidFill>
                <a:latin typeface="Calibri"/>
                <a:ea typeface="Calibri"/>
                <a:cs typeface="Calibri"/>
              </a:rPr>
              <a:t>PLANNING ESTIMATE  —  PREPARED FOR LEADERSHIP REVIEW</a:t>
            </a:r>
            <a:endParaRPr sz="1300"/>
          </a:p>
        </p:txBody>
      </p:sp>
      <p:sp>
        <p:nvSpPr>
          <p:cNvPr id="5" name="Text 3">
            <a:extLst>
              <a:ext uri="{FF2B5EF4-FFF2-40B4-BE49-F238E27FC236}">
                <a16:creationId xmlns:a16="http://schemas.microsoft.com/office/drawing/2014/main" id="{51390C02-BF06-4C4F-A05D-C02237EE56AF}"/>
              </a:ext>
            </a:extLst>
          </p:cNvPr>
          <p:cNvSpPr>
            <a:spLocks noGrp="1"/>
          </p:cNvSpPr>
          <p:nvPr/>
        </p:nvSpPr>
        <p:spPr>
          <a:xfrm>
            <a:off x="640080" y="1828800"/>
            <a:ext cx="10515600" cy="1554480"/>
          </a:xfrm>
          <a:prstGeom prst="rect">
            <a:avLst/>
          </a:prstGeom>
          <a:noFill/>
        </p:spPr>
        <p:txBody>
          <a:bodyPr wrap="square" anchor="ctr"/>
          <a:lstStyle/>
          <a:p>
            <a:pPr marL="0" indent="0">
              <a:buNone/>
            </a:pPr>
            <a:r>
              <a:rPr sz="4600" b="1">
                <a:solidFill>
                  <a:srgbClr val="FFFFFF"/>
                </a:solidFill>
                <a:latin typeface="Cambria"/>
                <a:ea typeface="Cambria"/>
                <a:cs typeface="Cambria"/>
              </a:rPr>
              <a:t>Astravi AI Cost Comparison</a:t>
            </a:r>
            <a:endParaRPr sz="4600"/>
          </a:p>
        </p:txBody>
      </p:sp>
      <p:sp>
        <p:nvSpPr>
          <p:cNvPr id="6" name="Text 4">
            <a:extLst>
              <a:ext uri="{FF2B5EF4-FFF2-40B4-BE49-F238E27FC236}">
                <a16:creationId xmlns:a16="http://schemas.microsoft.com/office/drawing/2014/main" id="{06786AFC-8E71-43BE-841A-75AB9601AFF7}"/>
              </a:ext>
            </a:extLst>
          </p:cNvPr>
          <p:cNvSpPr>
            <a:spLocks noGrp="1"/>
          </p:cNvSpPr>
          <p:nvPr/>
        </p:nvSpPr>
        <p:spPr>
          <a:xfrm>
            <a:off x="640080" y="3246120"/>
            <a:ext cx="9601200" cy="548640"/>
          </a:xfrm>
          <a:prstGeom prst="rect">
            <a:avLst/>
          </a:prstGeom>
          <a:noFill/>
        </p:spPr>
        <p:txBody>
          <a:bodyPr wrap="square" anchor="ctr"/>
          <a:lstStyle/>
          <a:p>
            <a:pPr marL="0" indent="0">
              <a:buNone/>
            </a:pPr>
            <a:r>
              <a:rPr sz="1800">
                <a:solidFill>
                  <a:srgbClr val="CADCFC"/>
                </a:solidFill>
                <a:latin typeface="Calibri"/>
                <a:ea typeface="Calibri"/>
                <a:cs typeface="Calibri"/>
              </a:rPr>
              <a:t>API vs. self-hosted: choosing the right path to power Astravi's AI workflows</a:t>
            </a:r>
            <a:endParaRPr sz="1800"/>
          </a:p>
        </p:txBody>
      </p:sp>
      <p:sp>
        <p:nvSpPr>
          <p:cNvPr id="7" name="Shape 5">
            <a:extLst>
              <a:ext uri="{FF2B5EF4-FFF2-40B4-BE49-F238E27FC236}">
                <a16:creationId xmlns:a16="http://schemas.microsoft.com/office/drawing/2014/main" id="{CAA64E28-E569-4B15-AA88-D8757E1146A0}"/>
              </a:ext>
            </a:extLst>
          </p:cNvPr>
          <p:cNvSpPr>
            <a:spLocks noGrp="1"/>
          </p:cNvSpPr>
          <p:nvPr/>
        </p:nvSpPr>
        <p:spPr>
          <a:xfrm>
            <a:off x="640080" y="4892040"/>
            <a:ext cx="3246120" cy="1143000"/>
          </a:xfrm>
          <a:prstGeom prst="roundRect">
            <a:avLst>
              <a:gd name="adj" fmla="val 6400"/>
            </a:avLst>
          </a:prstGeom>
          <a:solidFill>
            <a:srgbClr val="141B47"/>
          </a:solidFill>
          <a:ln w="12700">
            <a:solidFill>
              <a:srgbClr val="3A4380"/>
            </a:solidFill>
            <a:prstDash val="solid"/>
          </a:ln>
        </p:spPr>
        <p:txBody>
          <a:bodyPr/>
          <a:lstStyle/>
          <a:p>
            <a:endParaRPr/>
          </a:p>
        </p:txBody>
      </p:sp>
      <p:sp>
        <p:nvSpPr>
          <p:cNvPr id="8" name="Text 6">
            <a:extLst>
              <a:ext uri="{FF2B5EF4-FFF2-40B4-BE49-F238E27FC236}">
                <a16:creationId xmlns:a16="http://schemas.microsoft.com/office/drawing/2014/main" id="{E8D1292F-F6A0-41B8-A2D4-BAF315A2188E}"/>
              </a:ext>
            </a:extLst>
          </p:cNvPr>
          <p:cNvSpPr>
            <a:spLocks noGrp="1"/>
          </p:cNvSpPr>
          <p:nvPr/>
        </p:nvSpPr>
        <p:spPr>
          <a:xfrm>
            <a:off x="868680" y="5029200"/>
            <a:ext cx="2788920" cy="411480"/>
          </a:xfrm>
          <a:prstGeom prst="rect">
            <a:avLst/>
          </a:prstGeom>
          <a:noFill/>
        </p:spPr>
        <p:txBody>
          <a:bodyPr wrap="square" anchor="ctr"/>
          <a:lstStyle/>
          <a:p>
            <a:pPr marL="0" indent="0">
              <a:buNone/>
            </a:pPr>
            <a:r>
              <a:rPr sz="1600" b="1">
                <a:solidFill>
                  <a:srgbClr val="FFFFFF"/>
                </a:solidFill>
                <a:latin typeface="Cambria"/>
                <a:ea typeface="Cambria"/>
                <a:cs typeface="Cambria"/>
              </a:rPr>
              <a:t>OpenAI API</a:t>
            </a:r>
            <a:endParaRPr sz="1600"/>
          </a:p>
        </p:txBody>
      </p:sp>
      <p:sp>
        <p:nvSpPr>
          <p:cNvPr id="9" name="Text 7">
            <a:extLst>
              <a:ext uri="{FF2B5EF4-FFF2-40B4-BE49-F238E27FC236}">
                <a16:creationId xmlns:a16="http://schemas.microsoft.com/office/drawing/2014/main" id="{3867FBBE-875B-4666-AF73-5CF9F91D6C35}"/>
              </a:ext>
            </a:extLst>
          </p:cNvPr>
          <p:cNvSpPr>
            <a:spLocks noGrp="1"/>
          </p:cNvSpPr>
          <p:nvPr/>
        </p:nvSpPr>
        <p:spPr>
          <a:xfrm>
            <a:off x="868680" y="5440680"/>
            <a:ext cx="2788920" cy="457200"/>
          </a:xfrm>
          <a:prstGeom prst="rect">
            <a:avLst/>
          </a:prstGeom>
          <a:noFill/>
        </p:spPr>
        <p:txBody>
          <a:bodyPr wrap="square" anchor="ctr"/>
          <a:lstStyle/>
          <a:p>
            <a:pPr marL="0" indent="0">
              <a:buNone/>
            </a:pPr>
            <a:r>
              <a:rPr sz="1200">
                <a:solidFill>
                  <a:srgbClr val="CADCFC"/>
                </a:solidFill>
                <a:latin typeface="Calibri"/>
                <a:ea typeface="Calibri"/>
                <a:cs typeface="Calibri"/>
              </a:rPr>
              <a:t>Lowest-cost API option</a:t>
            </a:r>
            <a:endParaRPr sz="1200"/>
          </a:p>
        </p:txBody>
      </p:sp>
      <p:sp>
        <p:nvSpPr>
          <p:cNvPr id="10" name="Shape 8">
            <a:extLst>
              <a:ext uri="{FF2B5EF4-FFF2-40B4-BE49-F238E27FC236}">
                <a16:creationId xmlns:a16="http://schemas.microsoft.com/office/drawing/2014/main" id="{D4EFE24A-4A4C-4CF7-A2F0-A89ECA69A343}"/>
              </a:ext>
            </a:extLst>
          </p:cNvPr>
          <p:cNvSpPr>
            <a:spLocks noGrp="1"/>
          </p:cNvSpPr>
          <p:nvPr/>
        </p:nvSpPr>
        <p:spPr>
          <a:xfrm>
            <a:off x="4206240" y="4892040"/>
            <a:ext cx="3246120" cy="1143000"/>
          </a:xfrm>
          <a:prstGeom prst="roundRect">
            <a:avLst>
              <a:gd name="adj" fmla="val 6400"/>
            </a:avLst>
          </a:prstGeom>
          <a:solidFill>
            <a:srgbClr val="141B47"/>
          </a:solidFill>
          <a:ln w="12700">
            <a:solidFill>
              <a:srgbClr val="3A4380"/>
            </a:solidFill>
            <a:prstDash val="solid"/>
          </a:ln>
        </p:spPr>
        <p:txBody>
          <a:bodyPr/>
          <a:lstStyle/>
          <a:p>
            <a:endParaRPr/>
          </a:p>
        </p:txBody>
      </p:sp>
      <p:sp>
        <p:nvSpPr>
          <p:cNvPr id="11" name="Text 9">
            <a:extLst>
              <a:ext uri="{FF2B5EF4-FFF2-40B4-BE49-F238E27FC236}">
                <a16:creationId xmlns:a16="http://schemas.microsoft.com/office/drawing/2014/main" id="{1762D10B-DACD-4D8C-B92E-466F16F6C811}"/>
              </a:ext>
            </a:extLst>
          </p:cNvPr>
          <p:cNvSpPr>
            <a:spLocks noGrp="1"/>
          </p:cNvSpPr>
          <p:nvPr/>
        </p:nvSpPr>
        <p:spPr>
          <a:xfrm>
            <a:off x="4434840" y="5029200"/>
            <a:ext cx="2788920" cy="411480"/>
          </a:xfrm>
          <a:prstGeom prst="rect">
            <a:avLst/>
          </a:prstGeom>
          <a:noFill/>
        </p:spPr>
        <p:txBody>
          <a:bodyPr wrap="square" anchor="ctr"/>
          <a:lstStyle/>
          <a:p>
            <a:pPr marL="0" indent="0">
              <a:buNone/>
            </a:pPr>
            <a:r>
              <a:rPr sz="1600" b="1">
                <a:solidFill>
                  <a:srgbClr val="FFFFFF"/>
                </a:solidFill>
                <a:latin typeface="Cambria"/>
                <a:ea typeface="Cambria"/>
                <a:cs typeface="Cambria"/>
              </a:rPr>
              <a:t>Claude API</a:t>
            </a:r>
            <a:endParaRPr sz="1600"/>
          </a:p>
        </p:txBody>
      </p:sp>
      <p:sp>
        <p:nvSpPr>
          <p:cNvPr id="12" name="Text 10">
            <a:extLst>
              <a:ext uri="{FF2B5EF4-FFF2-40B4-BE49-F238E27FC236}">
                <a16:creationId xmlns:a16="http://schemas.microsoft.com/office/drawing/2014/main" id="{C128F127-F121-4CF5-8868-ADFA826C6273}"/>
              </a:ext>
            </a:extLst>
          </p:cNvPr>
          <p:cNvSpPr>
            <a:spLocks noGrp="1"/>
          </p:cNvSpPr>
          <p:nvPr/>
        </p:nvSpPr>
        <p:spPr>
          <a:xfrm>
            <a:off x="4434840" y="5440680"/>
            <a:ext cx="2788920" cy="457200"/>
          </a:xfrm>
          <a:prstGeom prst="rect">
            <a:avLst/>
          </a:prstGeom>
          <a:noFill/>
        </p:spPr>
        <p:txBody>
          <a:bodyPr wrap="square" anchor="ctr"/>
          <a:lstStyle/>
          <a:p>
            <a:pPr marL="0" indent="0">
              <a:buNone/>
            </a:pPr>
            <a:r>
              <a:rPr sz="1200">
                <a:solidFill>
                  <a:srgbClr val="CADCFC"/>
                </a:solidFill>
                <a:latin typeface="Calibri"/>
                <a:ea typeface="Calibri"/>
                <a:cs typeface="Calibri"/>
              </a:rPr>
              <a:t>One model, full workflow</a:t>
            </a:r>
            <a:endParaRPr sz="1200"/>
          </a:p>
        </p:txBody>
      </p:sp>
      <p:sp>
        <p:nvSpPr>
          <p:cNvPr id="13" name="Shape 11">
            <a:extLst>
              <a:ext uri="{FF2B5EF4-FFF2-40B4-BE49-F238E27FC236}">
                <a16:creationId xmlns:a16="http://schemas.microsoft.com/office/drawing/2014/main" id="{339F1648-72D7-4B68-A092-3F4C46C9496B}"/>
              </a:ext>
            </a:extLst>
          </p:cNvPr>
          <p:cNvSpPr>
            <a:spLocks noGrp="1"/>
          </p:cNvSpPr>
          <p:nvPr/>
        </p:nvSpPr>
        <p:spPr>
          <a:xfrm>
            <a:off x="7772400" y="4892040"/>
            <a:ext cx="3246120" cy="1143000"/>
          </a:xfrm>
          <a:prstGeom prst="roundRect">
            <a:avLst>
              <a:gd name="adj" fmla="val 6400"/>
            </a:avLst>
          </a:prstGeom>
          <a:solidFill>
            <a:srgbClr val="141B47"/>
          </a:solidFill>
          <a:ln w="12700">
            <a:solidFill>
              <a:srgbClr val="3A4380"/>
            </a:solidFill>
            <a:prstDash val="solid"/>
          </a:ln>
        </p:spPr>
        <p:txBody>
          <a:bodyPr/>
          <a:lstStyle/>
          <a:p>
            <a:endParaRPr/>
          </a:p>
        </p:txBody>
      </p:sp>
      <p:sp>
        <p:nvSpPr>
          <p:cNvPr id="14" name="Text 12">
            <a:extLst>
              <a:ext uri="{FF2B5EF4-FFF2-40B4-BE49-F238E27FC236}">
                <a16:creationId xmlns:a16="http://schemas.microsoft.com/office/drawing/2014/main" id="{1839F157-5590-4067-BC43-C4726F2C32A1}"/>
              </a:ext>
            </a:extLst>
          </p:cNvPr>
          <p:cNvSpPr>
            <a:spLocks noGrp="1"/>
          </p:cNvSpPr>
          <p:nvPr/>
        </p:nvSpPr>
        <p:spPr>
          <a:xfrm>
            <a:off x="8001000" y="5029200"/>
            <a:ext cx="2788920" cy="411480"/>
          </a:xfrm>
          <a:prstGeom prst="rect">
            <a:avLst/>
          </a:prstGeom>
          <a:noFill/>
        </p:spPr>
        <p:txBody>
          <a:bodyPr wrap="square" anchor="ctr"/>
          <a:lstStyle/>
          <a:p>
            <a:pPr marL="0" indent="0">
              <a:buNone/>
            </a:pPr>
            <a:r>
              <a:rPr sz="1600" b="1">
                <a:solidFill>
                  <a:srgbClr val="FFFFFF"/>
                </a:solidFill>
                <a:latin typeface="Cambria"/>
                <a:ea typeface="Cambria"/>
                <a:cs typeface="Cambria"/>
              </a:rPr>
              <a:t>Self-Hosted (Qwen)</a:t>
            </a:r>
            <a:endParaRPr sz="1600"/>
          </a:p>
        </p:txBody>
      </p:sp>
      <p:sp>
        <p:nvSpPr>
          <p:cNvPr id="15" name="Text 13">
            <a:extLst>
              <a:ext uri="{FF2B5EF4-FFF2-40B4-BE49-F238E27FC236}">
                <a16:creationId xmlns:a16="http://schemas.microsoft.com/office/drawing/2014/main" id="{42DCD2BE-04A5-4BEB-8E31-4837F4D7F422}"/>
              </a:ext>
            </a:extLst>
          </p:cNvPr>
          <p:cNvSpPr>
            <a:spLocks noGrp="1"/>
          </p:cNvSpPr>
          <p:nvPr/>
        </p:nvSpPr>
        <p:spPr>
          <a:xfrm>
            <a:off x="8001000" y="5440680"/>
            <a:ext cx="2788920" cy="457200"/>
          </a:xfrm>
          <a:prstGeom prst="rect">
            <a:avLst/>
          </a:prstGeom>
          <a:noFill/>
        </p:spPr>
        <p:txBody>
          <a:bodyPr wrap="square" anchor="ctr"/>
          <a:lstStyle/>
          <a:p>
            <a:pPr marL="0" indent="0">
              <a:buNone/>
            </a:pPr>
            <a:r>
              <a:rPr sz="1200">
                <a:solidFill>
                  <a:srgbClr val="CADCFC"/>
                </a:solidFill>
                <a:latin typeface="Calibri"/>
                <a:ea typeface="Calibri"/>
                <a:cs typeface="Calibri"/>
              </a:rPr>
              <a:t>No token charges</a:t>
            </a:r>
            <a:endParaRPr sz="1200"/>
          </a:p>
        </p:txBody>
      </p:sp>
      <p:sp>
        <p:nvSpPr>
          <p:cNvPr id="16" name="Text 14">
            <a:extLst>
              <a:ext uri="{FF2B5EF4-FFF2-40B4-BE49-F238E27FC236}">
                <a16:creationId xmlns:a16="http://schemas.microsoft.com/office/drawing/2014/main" id="{FC0A7D8C-F39B-411E-99CF-29F27C2938C0}"/>
              </a:ext>
            </a:extLst>
          </p:cNvPr>
          <p:cNvSpPr>
            <a:spLocks noGrp="1"/>
          </p:cNvSpPr>
          <p:nvPr/>
        </p:nvSpPr>
        <p:spPr>
          <a:xfrm>
            <a:off x="640080" y="6355080"/>
            <a:ext cx="3657600" cy="274320"/>
          </a:xfrm>
          <a:prstGeom prst="rect">
            <a:avLst/>
          </a:prstGeom>
          <a:noFill/>
        </p:spPr>
        <p:txBody>
          <a:bodyPr wrap="square" anchor="ctr"/>
          <a:lstStyle/>
          <a:p>
            <a:pPr marL="0" indent="0">
              <a:buNone/>
            </a:pPr>
            <a:r>
              <a:rPr sz="1100">
                <a:solidFill>
                  <a:srgbClr val="6B7280"/>
                </a:solidFill>
                <a:latin typeface="Calibri"/>
                <a:ea typeface="Calibri"/>
                <a:cs typeface="Calibri"/>
              </a:rPr>
              <a:t>September 2026</a:t>
            </a:r>
            <a:endParaRPr sz="1100"/>
          </a:p>
        </p:txBody>
      </p:sp>
    </p:spTree>
    <p:extLst>
      <p:ext uri="{BB962C8B-B14F-4D97-AF65-F5344CB8AC3E}">
        <p14:creationId xmlns:p14="http://schemas.microsoft.com/office/powerpoint/2010/main" val="1185363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117B045-7C2A-42DC-89AF-A5DB869FD2B7}"/>
              </a:ext>
            </a:extLst>
          </p:cNvPr>
          <p:cNvSpPr>
            <a:spLocks noGrp="1"/>
          </p:cNvSpPr>
          <p:nvPr/>
        </p:nvSpPr>
        <p:spPr>
          <a:xfrm>
            <a:off x="640080" y="411480"/>
            <a:ext cx="7315200" cy="320040"/>
          </a:xfrm>
          <a:prstGeom prst="rect">
            <a:avLst/>
          </a:prstGeom>
          <a:noFill/>
        </p:spPr>
        <p:txBody>
          <a:bodyPr wrap="square" anchor="ctr"/>
          <a:lstStyle/>
          <a:p>
            <a:pPr marL="0" indent="0">
              <a:buNone/>
            </a:pPr>
            <a:r>
              <a:rPr sz="1300" b="1" spc="200">
                <a:solidFill>
                  <a:srgbClr val="E8A33D"/>
                </a:solidFill>
                <a:latin typeface="Calibri"/>
                <a:ea typeface="Calibri"/>
                <a:cs typeface="Calibri"/>
              </a:rPr>
              <a:t>THE DECISION</a:t>
            </a:r>
            <a:endParaRPr sz="1300"/>
          </a:p>
        </p:txBody>
      </p:sp>
      <p:sp>
        <p:nvSpPr>
          <p:cNvPr id="3" name="Text 1">
            <a:extLst>
              <a:ext uri="{FF2B5EF4-FFF2-40B4-BE49-F238E27FC236}">
                <a16:creationId xmlns:a16="http://schemas.microsoft.com/office/drawing/2014/main" id="{8DDB5A05-2161-4195-BD26-D188AE1E8E01}"/>
              </a:ext>
            </a:extLst>
          </p:cNvPr>
          <p:cNvSpPr>
            <a:spLocks noGrp="1"/>
          </p:cNvSpPr>
          <p:nvPr/>
        </p:nvSpPr>
        <p:spPr>
          <a:xfrm>
            <a:off x="640080" y="713232"/>
            <a:ext cx="10515600" cy="822960"/>
          </a:xfrm>
          <a:prstGeom prst="rect">
            <a:avLst/>
          </a:prstGeom>
          <a:noFill/>
        </p:spPr>
        <p:txBody>
          <a:bodyPr wrap="square" anchor="ctr"/>
          <a:lstStyle/>
          <a:p>
            <a:pPr marL="0" indent="0">
              <a:lnSpc>
                <a:spcPts val="3400"/>
              </a:lnSpc>
              <a:buNone/>
            </a:pPr>
            <a:r>
              <a:rPr sz="3000" b="1">
                <a:solidFill>
                  <a:srgbClr val="1E2761"/>
                </a:solidFill>
                <a:latin typeface="Cambria"/>
                <a:ea typeface="Cambria"/>
                <a:cs typeface="Cambria"/>
              </a:rPr>
              <a:t>Three paths to power Astravi's AI workflows</a:t>
            </a:r>
            <a:endParaRPr sz="3000"/>
          </a:p>
        </p:txBody>
      </p:sp>
      <p:sp>
        <p:nvSpPr>
          <p:cNvPr id="4" name="Text 2">
            <a:extLst>
              <a:ext uri="{FF2B5EF4-FFF2-40B4-BE49-F238E27FC236}">
                <a16:creationId xmlns:a16="http://schemas.microsoft.com/office/drawing/2014/main" id="{F74F6338-D2B3-44F4-8669-AA52B7361AF4}"/>
              </a:ext>
            </a:extLst>
          </p:cNvPr>
          <p:cNvSpPr>
            <a:spLocks noGrp="1"/>
          </p:cNvSpPr>
          <p:nvPr/>
        </p:nvSpPr>
        <p:spPr>
          <a:xfrm>
            <a:off x="640080" y="1417320"/>
            <a:ext cx="10241280" cy="502920"/>
          </a:xfrm>
          <a:prstGeom prst="rect">
            <a:avLst/>
          </a:prstGeom>
          <a:noFill/>
        </p:spPr>
        <p:txBody>
          <a:bodyPr wrap="square" anchor="ctr"/>
          <a:lstStyle/>
          <a:p>
            <a:pPr marL="0" indent="0">
              <a:buNone/>
            </a:pPr>
            <a:r>
              <a:rPr sz="1350">
                <a:solidFill>
                  <a:srgbClr val="6B7280"/>
                </a:solidFill>
                <a:latin typeface="Calibri"/>
                <a:ea typeface="Calibri"/>
                <a:cs typeface="Calibri"/>
              </a:rPr>
              <a:t>Screenshot captioning, activity summarization, and recommendation generation can run on a hosted API or on infrastructure we operate ourselves.</a:t>
            </a:r>
            <a:endParaRPr sz="1350"/>
          </a:p>
        </p:txBody>
      </p:sp>
      <p:sp>
        <p:nvSpPr>
          <p:cNvPr id="5" name="Shape 3">
            <a:extLst>
              <a:ext uri="{FF2B5EF4-FFF2-40B4-BE49-F238E27FC236}">
                <a16:creationId xmlns:a16="http://schemas.microsoft.com/office/drawing/2014/main" id="{C492FAE2-DDF4-4BDE-B8E0-BF31BEE592EB}"/>
              </a:ext>
            </a:extLst>
          </p:cNvPr>
          <p:cNvSpPr>
            <a:spLocks noGrp="1"/>
          </p:cNvSpPr>
          <p:nvPr/>
        </p:nvSpPr>
        <p:spPr>
          <a:xfrm>
            <a:off x="640080" y="2148840"/>
            <a:ext cx="3383280" cy="3977640"/>
          </a:xfrm>
          <a:prstGeom prst="roundRect">
            <a:avLst>
              <a:gd name="adj" fmla="val 2432"/>
            </a:avLst>
          </a:prstGeom>
          <a:solidFill>
            <a:srgbClr val="F4F7FC"/>
          </a:solidFill>
          <a:ln w="12700">
            <a:solidFill>
              <a:srgbClr val="DCE3F0"/>
            </a:solidFill>
            <a:prstDash val="solid"/>
          </a:ln>
        </p:spPr>
        <p:txBody>
          <a:bodyPr/>
          <a:lstStyle/>
          <a:p>
            <a:endParaRPr/>
          </a:p>
        </p:txBody>
      </p:sp>
      <p:sp>
        <p:nvSpPr>
          <p:cNvPr id="6" name="Shape 4">
            <a:extLst>
              <a:ext uri="{FF2B5EF4-FFF2-40B4-BE49-F238E27FC236}">
                <a16:creationId xmlns:a16="http://schemas.microsoft.com/office/drawing/2014/main" id="{88E39EC2-7672-46C0-AB98-184A56D3FFF0}"/>
              </a:ext>
            </a:extLst>
          </p:cNvPr>
          <p:cNvSpPr>
            <a:spLocks noGrp="1"/>
          </p:cNvSpPr>
          <p:nvPr/>
        </p:nvSpPr>
        <p:spPr>
          <a:xfrm>
            <a:off x="914400" y="2423160"/>
            <a:ext cx="502920" cy="502920"/>
          </a:xfrm>
          <a:prstGeom prst="ellipse">
            <a:avLst/>
          </a:prstGeom>
          <a:solidFill>
            <a:srgbClr val="1E2761"/>
          </a:solidFill>
        </p:spPr>
        <p:txBody>
          <a:bodyPr/>
          <a:lstStyle/>
          <a:p>
            <a:endParaRPr/>
          </a:p>
        </p:txBody>
      </p:sp>
      <p:sp>
        <p:nvSpPr>
          <p:cNvPr id="7" name="Text 5">
            <a:extLst>
              <a:ext uri="{FF2B5EF4-FFF2-40B4-BE49-F238E27FC236}">
                <a16:creationId xmlns:a16="http://schemas.microsoft.com/office/drawing/2014/main" id="{C78BDB95-CC65-47C7-B665-FD4E508555FB}"/>
              </a:ext>
            </a:extLst>
          </p:cNvPr>
          <p:cNvSpPr>
            <a:spLocks noGrp="1"/>
          </p:cNvSpPr>
          <p:nvPr/>
        </p:nvSpPr>
        <p:spPr>
          <a:xfrm>
            <a:off x="914400" y="2423160"/>
            <a:ext cx="502920" cy="502920"/>
          </a:xfrm>
          <a:prstGeom prst="rect">
            <a:avLst/>
          </a:prstGeom>
          <a:noFill/>
        </p:spPr>
        <p:txBody>
          <a:bodyPr wrap="square" anchor="ctr"/>
          <a:lstStyle/>
          <a:p>
            <a:pPr marL="0" indent="0" algn="ctr">
              <a:buNone/>
            </a:pPr>
            <a:r>
              <a:rPr sz="2000" b="1">
                <a:solidFill>
                  <a:srgbClr val="FFFFFF"/>
                </a:solidFill>
                <a:latin typeface="Cambria"/>
                <a:ea typeface="Cambria"/>
                <a:cs typeface="Cambria"/>
              </a:rPr>
              <a:t>1</a:t>
            </a:r>
            <a:endParaRPr sz="2000"/>
          </a:p>
        </p:txBody>
      </p:sp>
      <p:sp>
        <p:nvSpPr>
          <p:cNvPr id="8" name="Text 6">
            <a:extLst>
              <a:ext uri="{FF2B5EF4-FFF2-40B4-BE49-F238E27FC236}">
                <a16:creationId xmlns:a16="http://schemas.microsoft.com/office/drawing/2014/main" id="{75C48815-6F1D-4412-822B-0C6C2633E37A}"/>
              </a:ext>
            </a:extLst>
          </p:cNvPr>
          <p:cNvSpPr>
            <a:spLocks noGrp="1"/>
          </p:cNvSpPr>
          <p:nvPr/>
        </p:nvSpPr>
        <p:spPr>
          <a:xfrm>
            <a:off x="1600200" y="2450592"/>
            <a:ext cx="2194560" cy="274320"/>
          </a:xfrm>
          <a:prstGeom prst="rect">
            <a:avLst/>
          </a:prstGeom>
          <a:noFill/>
        </p:spPr>
        <p:txBody>
          <a:bodyPr wrap="square" anchor="ctr"/>
          <a:lstStyle/>
          <a:p>
            <a:pPr marL="0" indent="0">
              <a:buNone/>
            </a:pPr>
            <a:r>
              <a:rPr sz="1050" b="1" spc="150">
                <a:solidFill>
                  <a:srgbClr val="6B7280"/>
                </a:solidFill>
                <a:latin typeface="Calibri"/>
                <a:ea typeface="Calibri"/>
                <a:cs typeface="Calibri"/>
              </a:rPr>
              <a:t>OPTION A</a:t>
            </a:r>
            <a:endParaRPr sz="1050"/>
          </a:p>
        </p:txBody>
      </p:sp>
      <p:sp>
        <p:nvSpPr>
          <p:cNvPr id="9" name="Text 7">
            <a:extLst>
              <a:ext uri="{FF2B5EF4-FFF2-40B4-BE49-F238E27FC236}">
                <a16:creationId xmlns:a16="http://schemas.microsoft.com/office/drawing/2014/main" id="{8047F1AC-9A64-47A4-9DD5-9C4A338508B3}"/>
              </a:ext>
            </a:extLst>
          </p:cNvPr>
          <p:cNvSpPr>
            <a:spLocks noGrp="1"/>
          </p:cNvSpPr>
          <p:nvPr/>
        </p:nvSpPr>
        <p:spPr>
          <a:xfrm>
            <a:off x="1600200" y="2679192"/>
            <a:ext cx="2194560" cy="365760"/>
          </a:xfrm>
          <a:prstGeom prst="rect">
            <a:avLst/>
          </a:prstGeom>
          <a:noFill/>
        </p:spPr>
        <p:txBody>
          <a:bodyPr wrap="square" anchor="ctr"/>
          <a:lstStyle/>
          <a:p>
            <a:pPr marL="0" indent="0">
              <a:buNone/>
            </a:pPr>
            <a:r>
              <a:rPr sz="1700" b="1">
                <a:solidFill>
                  <a:srgbClr val="1E2761"/>
                </a:solidFill>
                <a:latin typeface="Cambria"/>
                <a:ea typeface="Cambria"/>
                <a:cs typeface="Cambria"/>
              </a:rPr>
              <a:t>OpenAI API</a:t>
            </a:r>
            <a:endParaRPr sz="1700"/>
          </a:p>
        </p:txBody>
      </p:sp>
      <p:sp>
        <p:nvSpPr>
          <p:cNvPr id="10" name="Text 8">
            <a:extLst>
              <a:ext uri="{FF2B5EF4-FFF2-40B4-BE49-F238E27FC236}">
                <a16:creationId xmlns:a16="http://schemas.microsoft.com/office/drawing/2014/main" id="{28D484F3-F7F5-40C5-9540-4D349D751DEA}"/>
              </a:ext>
            </a:extLst>
          </p:cNvPr>
          <p:cNvSpPr>
            <a:spLocks noGrp="1"/>
          </p:cNvSpPr>
          <p:nvPr/>
        </p:nvSpPr>
        <p:spPr>
          <a:xfrm>
            <a:off x="914400" y="3383280"/>
            <a:ext cx="2834640" cy="1920240"/>
          </a:xfrm>
          <a:prstGeom prst="rect">
            <a:avLst/>
          </a:prstGeom>
          <a:noFill/>
        </p:spPr>
        <p:txBody>
          <a:bodyPr wrap="square" anchor="ctr"/>
          <a:lstStyle/>
          <a:p>
            <a:pPr marL="0" indent="0">
              <a:lnSpc>
                <a:spcPct val="125000"/>
              </a:lnSpc>
              <a:buNone/>
            </a:pPr>
            <a:r>
              <a:rPr sz="1200">
                <a:solidFill>
                  <a:srgbClr val="2B2E43"/>
                </a:solidFill>
                <a:latin typeface="Calibri"/>
                <a:ea typeface="Calibri"/>
                <a:cs typeface="Calibri"/>
              </a:rPr>
              <a:t>GPT-5.6 Terra for screenshot captioning, GPT-5.6 Luna for summaries and recommendations. Pay per token, no infrastructure to run.</a:t>
            </a:r>
            <a:endParaRPr sz="1200"/>
          </a:p>
        </p:txBody>
      </p:sp>
      <p:sp>
        <p:nvSpPr>
          <p:cNvPr id="11" name="Shape 9">
            <a:extLst>
              <a:ext uri="{FF2B5EF4-FFF2-40B4-BE49-F238E27FC236}">
                <a16:creationId xmlns:a16="http://schemas.microsoft.com/office/drawing/2014/main" id="{E0B4E6F0-1A4C-4B9D-826A-D063E9E4E9D7}"/>
              </a:ext>
            </a:extLst>
          </p:cNvPr>
          <p:cNvSpPr>
            <a:spLocks noGrp="1"/>
          </p:cNvSpPr>
          <p:nvPr/>
        </p:nvSpPr>
        <p:spPr>
          <a:xfrm>
            <a:off x="914400" y="5532120"/>
            <a:ext cx="2834640" cy="365760"/>
          </a:xfrm>
          <a:prstGeom prst="roundRect">
            <a:avLst>
              <a:gd name="adj" fmla="val 15000"/>
            </a:avLst>
          </a:prstGeom>
          <a:solidFill>
            <a:srgbClr val="FFFFFF"/>
          </a:solidFill>
          <a:ln w="12700">
            <a:solidFill>
              <a:srgbClr val="DCE3F0"/>
            </a:solidFill>
            <a:prstDash val="solid"/>
          </a:ln>
        </p:spPr>
        <p:txBody>
          <a:bodyPr/>
          <a:lstStyle/>
          <a:p>
            <a:endParaRPr/>
          </a:p>
        </p:txBody>
      </p:sp>
      <p:sp>
        <p:nvSpPr>
          <p:cNvPr id="12" name="Text 10">
            <a:extLst>
              <a:ext uri="{FF2B5EF4-FFF2-40B4-BE49-F238E27FC236}">
                <a16:creationId xmlns:a16="http://schemas.microsoft.com/office/drawing/2014/main" id="{CDDFB976-6373-49D4-9A47-0D7F70824351}"/>
              </a:ext>
            </a:extLst>
          </p:cNvPr>
          <p:cNvSpPr>
            <a:spLocks noGrp="1"/>
          </p:cNvSpPr>
          <p:nvPr/>
        </p:nvSpPr>
        <p:spPr>
          <a:xfrm>
            <a:off x="914400" y="5532120"/>
            <a:ext cx="2834640" cy="365760"/>
          </a:xfrm>
          <a:prstGeom prst="rect">
            <a:avLst/>
          </a:prstGeom>
          <a:noFill/>
        </p:spPr>
        <p:txBody>
          <a:bodyPr wrap="square" anchor="ctr"/>
          <a:lstStyle/>
          <a:p>
            <a:pPr marL="0" indent="0" algn="ctr">
              <a:buNone/>
            </a:pPr>
            <a:r>
              <a:rPr sz="1000" b="1" spc="100">
                <a:solidFill>
                  <a:srgbClr val="6B7280"/>
                </a:solidFill>
                <a:latin typeface="Calibri"/>
                <a:ea typeface="Calibri"/>
                <a:cs typeface="Calibri"/>
              </a:rPr>
              <a:t>LOWEST API COST</a:t>
            </a:r>
            <a:endParaRPr sz="1000"/>
          </a:p>
        </p:txBody>
      </p:sp>
      <p:sp>
        <p:nvSpPr>
          <p:cNvPr id="13" name="Shape 11">
            <a:extLst>
              <a:ext uri="{FF2B5EF4-FFF2-40B4-BE49-F238E27FC236}">
                <a16:creationId xmlns:a16="http://schemas.microsoft.com/office/drawing/2014/main" id="{8CBEB355-2C7D-4BF8-9A10-D24D09B5B2C6}"/>
              </a:ext>
            </a:extLst>
          </p:cNvPr>
          <p:cNvSpPr>
            <a:spLocks noGrp="1"/>
          </p:cNvSpPr>
          <p:nvPr/>
        </p:nvSpPr>
        <p:spPr>
          <a:xfrm>
            <a:off x="4343400" y="2148840"/>
            <a:ext cx="3383280" cy="3977640"/>
          </a:xfrm>
          <a:prstGeom prst="roundRect">
            <a:avLst>
              <a:gd name="adj" fmla="val 2432"/>
            </a:avLst>
          </a:prstGeom>
          <a:solidFill>
            <a:srgbClr val="F4F7FC"/>
          </a:solidFill>
          <a:ln w="12700">
            <a:solidFill>
              <a:srgbClr val="DCE3F0"/>
            </a:solidFill>
            <a:prstDash val="solid"/>
          </a:ln>
        </p:spPr>
        <p:txBody>
          <a:bodyPr/>
          <a:lstStyle/>
          <a:p>
            <a:endParaRPr/>
          </a:p>
        </p:txBody>
      </p:sp>
      <p:sp>
        <p:nvSpPr>
          <p:cNvPr id="14" name="Shape 12">
            <a:extLst>
              <a:ext uri="{FF2B5EF4-FFF2-40B4-BE49-F238E27FC236}">
                <a16:creationId xmlns:a16="http://schemas.microsoft.com/office/drawing/2014/main" id="{EF709BE7-CB5A-4890-ADFA-CDA89AC537CE}"/>
              </a:ext>
            </a:extLst>
          </p:cNvPr>
          <p:cNvSpPr>
            <a:spLocks noGrp="1"/>
          </p:cNvSpPr>
          <p:nvPr/>
        </p:nvSpPr>
        <p:spPr>
          <a:xfrm>
            <a:off x="4617720" y="2423160"/>
            <a:ext cx="502920" cy="502920"/>
          </a:xfrm>
          <a:prstGeom prst="ellipse">
            <a:avLst/>
          </a:prstGeom>
          <a:solidFill>
            <a:srgbClr val="1E2761"/>
          </a:solidFill>
        </p:spPr>
        <p:txBody>
          <a:bodyPr/>
          <a:lstStyle/>
          <a:p>
            <a:endParaRPr/>
          </a:p>
        </p:txBody>
      </p:sp>
      <p:sp>
        <p:nvSpPr>
          <p:cNvPr id="15" name="Text 13">
            <a:extLst>
              <a:ext uri="{FF2B5EF4-FFF2-40B4-BE49-F238E27FC236}">
                <a16:creationId xmlns:a16="http://schemas.microsoft.com/office/drawing/2014/main" id="{FCFC9F1F-5C91-4E35-90AF-29BF1BF3E47C}"/>
              </a:ext>
            </a:extLst>
          </p:cNvPr>
          <p:cNvSpPr>
            <a:spLocks noGrp="1"/>
          </p:cNvSpPr>
          <p:nvPr/>
        </p:nvSpPr>
        <p:spPr>
          <a:xfrm>
            <a:off x="4617720" y="2423160"/>
            <a:ext cx="502920" cy="502920"/>
          </a:xfrm>
          <a:prstGeom prst="rect">
            <a:avLst/>
          </a:prstGeom>
          <a:noFill/>
        </p:spPr>
        <p:txBody>
          <a:bodyPr wrap="square" anchor="ctr"/>
          <a:lstStyle/>
          <a:p>
            <a:pPr marL="0" indent="0" algn="ctr">
              <a:buNone/>
            </a:pPr>
            <a:r>
              <a:rPr sz="2000" b="1">
                <a:solidFill>
                  <a:srgbClr val="FFFFFF"/>
                </a:solidFill>
                <a:latin typeface="Cambria"/>
                <a:ea typeface="Cambria"/>
                <a:cs typeface="Cambria"/>
              </a:rPr>
              <a:t>2</a:t>
            </a:r>
            <a:endParaRPr sz="2000"/>
          </a:p>
        </p:txBody>
      </p:sp>
      <p:sp>
        <p:nvSpPr>
          <p:cNvPr id="16" name="Text 14">
            <a:extLst>
              <a:ext uri="{FF2B5EF4-FFF2-40B4-BE49-F238E27FC236}">
                <a16:creationId xmlns:a16="http://schemas.microsoft.com/office/drawing/2014/main" id="{5B238E01-0FE9-4E27-B6FD-3CA285B25E25}"/>
              </a:ext>
            </a:extLst>
          </p:cNvPr>
          <p:cNvSpPr>
            <a:spLocks noGrp="1"/>
          </p:cNvSpPr>
          <p:nvPr/>
        </p:nvSpPr>
        <p:spPr>
          <a:xfrm>
            <a:off x="5303520" y="2450592"/>
            <a:ext cx="2194560" cy="274320"/>
          </a:xfrm>
          <a:prstGeom prst="rect">
            <a:avLst/>
          </a:prstGeom>
          <a:noFill/>
        </p:spPr>
        <p:txBody>
          <a:bodyPr wrap="square" anchor="ctr"/>
          <a:lstStyle/>
          <a:p>
            <a:pPr marL="0" indent="0">
              <a:buNone/>
            </a:pPr>
            <a:r>
              <a:rPr sz="1050" b="1" spc="150">
                <a:solidFill>
                  <a:srgbClr val="6B7280"/>
                </a:solidFill>
                <a:latin typeface="Calibri"/>
                <a:ea typeface="Calibri"/>
                <a:cs typeface="Calibri"/>
              </a:rPr>
              <a:t>OPTION B</a:t>
            </a:r>
            <a:endParaRPr sz="1050"/>
          </a:p>
        </p:txBody>
      </p:sp>
      <p:sp>
        <p:nvSpPr>
          <p:cNvPr id="17" name="Text 15">
            <a:extLst>
              <a:ext uri="{FF2B5EF4-FFF2-40B4-BE49-F238E27FC236}">
                <a16:creationId xmlns:a16="http://schemas.microsoft.com/office/drawing/2014/main" id="{26375A96-A7E2-4868-B418-ABD03704C24A}"/>
              </a:ext>
            </a:extLst>
          </p:cNvPr>
          <p:cNvSpPr>
            <a:spLocks noGrp="1"/>
          </p:cNvSpPr>
          <p:nvPr/>
        </p:nvSpPr>
        <p:spPr>
          <a:xfrm>
            <a:off x="5303520" y="2679192"/>
            <a:ext cx="2194560" cy="365760"/>
          </a:xfrm>
          <a:prstGeom prst="rect">
            <a:avLst/>
          </a:prstGeom>
          <a:noFill/>
        </p:spPr>
        <p:txBody>
          <a:bodyPr wrap="square" anchor="ctr"/>
          <a:lstStyle/>
          <a:p>
            <a:pPr marL="0" indent="0">
              <a:buNone/>
            </a:pPr>
            <a:r>
              <a:rPr sz="1700" b="1">
                <a:solidFill>
                  <a:srgbClr val="1E2761"/>
                </a:solidFill>
                <a:latin typeface="Cambria"/>
                <a:ea typeface="Cambria"/>
                <a:cs typeface="Cambria"/>
              </a:rPr>
              <a:t>Claude API</a:t>
            </a:r>
            <a:endParaRPr sz="1700"/>
          </a:p>
        </p:txBody>
      </p:sp>
      <p:sp>
        <p:nvSpPr>
          <p:cNvPr id="18" name="Text 16">
            <a:extLst>
              <a:ext uri="{FF2B5EF4-FFF2-40B4-BE49-F238E27FC236}">
                <a16:creationId xmlns:a16="http://schemas.microsoft.com/office/drawing/2014/main" id="{89486AE3-1F01-4465-A7FA-5F3BFDF50147}"/>
              </a:ext>
            </a:extLst>
          </p:cNvPr>
          <p:cNvSpPr>
            <a:spLocks noGrp="1"/>
          </p:cNvSpPr>
          <p:nvPr/>
        </p:nvSpPr>
        <p:spPr>
          <a:xfrm>
            <a:off x="4617720" y="3383280"/>
            <a:ext cx="2834640" cy="1920240"/>
          </a:xfrm>
          <a:prstGeom prst="rect">
            <a:avLst/>
          </a:prstGeom>
          <a:noFill/>
        </p:spPr>
        <p:txBody>
          <a:bodyPr wrap="square" anchor="ctr"/>
          <a:lstStyle/>
          <a:p>
            <a:pPr marL="0" indent="0">
              <a:lnSpc>
                <a:spcPct val="125000"/>
              </a:lnSpc>
              <a:buNone/>
            </a:pPr>
            <a:r>
              <a:rPr sz="1200">
                <a:solidFill>
                  <a:srgbClr val="2B2E43"/>
                </a:solidFill>
                <a:latin typeface="Calibri"/>
                <a:ea typeface="Calibri"/>
                <a:cs typeface="Calibri"/>
              </a:rPr>
              <a:t>Claude Sonnet 5 used consistently across captioning and agent work. Simpler integration surface; higher token cost.</a:t>
            </a:r>
            <a:endParaRPr sz="1200"/>
          </a:p>
        </p:txBody>
      </p:sp>
      <p:sp>
        <p:nvSpPr>
          <p:cNvPr id="19" name="Shape 17">
            <a:extLst>
              <a:ext uri="{FF2B5EF4-FFF2-40B4-BE49-F238E27FC236}">
                <a16:creationId xmlns:a16="http://schemas.microsoft.com/office/drawing/2014/main" id="{0F6A2828-7C46-4D33-BBCC-44B9EA930410}"/>
              </a:ext>
            </a:extLst>
          </p:cNvPr>
          <p:cNvSpPr>
            <a:spLocks noGrp="1"/>
          </p:cNvSpPr>
          <p:nvPr/>
        </p:nvSpPr>
        <p:spPr>
          <a:xfrm>
            <a:off x="4617720" y="5532120"/>
            <a:ext cx="2834640" cy="365760"/>
          </a:xfrm>
          <a:prstGeom prst="roundRect">
            <a:avLst>
              <a:gd name="adj" fmla="val 15000"/>
            </a:avLst>
          </a:prstGeom>
          <a:solidFill>
            <a:srgbClr val="FFFFFF"/>
          </a:solidFill>
          <a:ln w="12700">
            <a:solidFill>
              <a:srgbClr val="DCE3F0"/>
            </a:solidFill>
            <a:prstDash val="solid"/>
          </a:ln>
        </p:spPr>
        <p:txBody>
          <a:bodyPr/>
          <a:lstStyle/>
          <a:p>
            <a:endParaRPr/>
          </a:p>
        </p:txBody>
      </p:sp>
      <p:sp>
        <p:nvSpPr>
          <p:cNvPr id="20" name="Text 18">
            <a:extLst>
              <a:ext uri="{FF2B5EF4-FFF2-40B4-BE49-F238E27FC236}">
                <a16:creationId xmlns:a16="http://schemas.microsoft.com/office/drawing/2014/main" id="{CB447E92-5E7A-4696-8D84-CAFABDE6A383}"/>
              </a:ext>
            </a:extLst>
          </p:cNvPr>
          <p:cNvSpPr>
            <a:spLocks noGrp="1"/>
          </p:cNvSpPr>
          <p:nvPr/>
        </p:nvSpPr>
        <p:spPr>
          <a:xfrm>
            <a:off x="4617720" y="5532120"/>
            <a:ext cx="2834640" cy="365760"/>
          </a:xfrm>
          <a:prstGeom prst="rect">
            <a:avLst/>
          </a:prstGeom>
          <a:noFill/>
        </p:spPr>
        <p:txBody>
          <a:bodyPr wrap="square" anchor="ctr"/>
          <a:lstStyle/>
          <a:p>
            <a:pPr marL="0" indent="0" algn="ctr">
              <a:buNone/>
            </a:pPr>
            <a:r>
              <a:rPr sz="1000" b="1" spc="100">
                <a:solidFill>
                  <a:srgbClr val="6B7280"/>
                </a:solidFill>
                <a:latin typeface="Calibri"/>
                <a:ea typeface="Calibri"/>
                <a:cs typeface="Calibri"/>
              </a:rPr>
              <a:t>ONE MODEL, FULL WORKFLOW</a:t>
            </a:r>
            <a:endParaRPr sz="1000"/>
          </a:p>
        </p:txBody>
      </p:sp>
      <p:sp>
        <p:nvSpPr>
          <p:cNvPr id="21" name="Shape 19">
            <a:extLst>
              <a:ext uri="{FF2B5EF4-FFF2-40B4-BE49-F238E27FC236}">
                <a16:creationId xmlns:a16="http://schemas.microsoft.com/office/drawing/2014/main" id="{EA2B5684-67E7-4FFA-9168-9117DD6370CE}"/>
              </a:ext>
            </a:extLst>
          </p:cNvPr>
          <p:cNvSpPr>
            <a:spLocks noGrp="1"/>
          </p:cNvSpPr>
          <p:nvPr/>
        </p:nvSpPr>
        <p:spPr>
          <a:xfrm>
            <a:off x="8046720" y="2148840"/>
            <a:ext cx="3383280" cy="3977640"/>
          </a:xfrm>
          <a:prstGeom prst="roundRect">
            <a:avLst>
              <a:gd name="adj" fmla="val 2432"/>
            </a:avLst>
          </a:prstGeom>
          <a:solidFill>
            <a:srgbClr val="1E2761"/>
          </a:solidFill>
          <a:ln w="12700">
            <a:solidFill>
              <a:srgbClr val="1E2761"/>
            </a:solidFill>
            <a:prstDash val="solid"/>
          </a:ln>
          <a:effectLst>
            <a:outerShdw blurRad="127000" dist="38100" dir="5400000" algn="bl" rotWithShape="0">
              <a:srgbClr val="1E2761">
                <a:alpha val="35000"/>
              </a:srgbClr>
            </a:outerShdw>
          </a:effectLst>
        </p:spPr>
        <p:txBody>
          <a:bodyPr/>
          <a:lstStyle/>
          <a:p>
            <a:endParaRPr/>
          </a:p>
        </p:txBody>
      </p:sp>
      <p:sp>
        <p:nvSpPr>
          <p:cNvPr id="22" name="Shape 20">
            <a:extLst>
              <a:ext uri="{FF2B5EF4-FFF2-40B4-BE49-F238E27FC236}">
                <a16:creationId xmlns:a16="http://schemas.microsoft.com/office/drawing/2014/main" id="{3DA06977-50CD-47A1-B2DA-DC86B92BB086}"/>
              </a:ext>
            </a:extLst>
          </p:cNvPr>
          <p:cNvSpPr>
            <a:spLocks noGrp="1"/>
          </p:cNvSpPr>
          <p:nvPr/>
        </p:nvSpPr>
        <p:spPr>
          <a:xfrm>
            <a:off x="8321040" y="2423160"/>
            <a:ext cx="502920" cy="502920"/>
          </a:xfrm>
          <a:prstGeom prst="ellipse">
            <a:avLst/>
          </a:prstGeom>
          <a:solidFill>
            <a:srgbClr val="E8A33D"/>
          </a:solidFill>
        </p:spPr>
        <p:txBody>
          <a:bodyPr/>
          <a:lstStyle/>
          <a:p>
            <a:endParaRPr/>
          </a:p>
        </p:txBody>
      </p:sp>
      <p:sp>
        <p:nvSpPr>
          <p:cNvPr id="23" name="Text 21">
            <a:extLst>
              <a:ext uri="{FF2B5EF4-FFF2-40B4-BE49-F238E27FC236}">
                <a16:creationId xmlns:a16="http://schemas.microsoft.com/office/drawing/2014/main" id="{DAB1DD4F-4EAB-4D8A-9F08-F271C34BF31D}"/>
              </a:ext>
            </a:extLst>
          </p:cNvPr>
          <p:cNvSpPr>
            <a:spLocks noGrp="1"/>
          </p:cNvSpPr>
          <p:nvPr/>
        </p:nvSpPr>
        <p:spPr>
          <a:xfrm>
            <a:off x="8321040" y="2423160"/>
            <a:ext cx="502920" cy="502920"/>
          </a:xfrm>
          <a:prstGeom prst="rect">
            <a:avLst/>
          </a:prstGeom>
          <a:noFill/>
        </p:spPr>
        <p:txBody>
          <a:bodyPr wrap="square" anchor="ctr"/>
          <a:lstStyle/>
          <a:p>
            <a:pPr marL="0" indent="0" algn="ctr">
              <a:buNone/>
            </a:pPr>
            <a:r>
              <a:rPr sz="2000" b="1">
                <a:solidFill>
                  <a:srgbClr val="1E2761"/>
                </a:solidFill>
                <a:latin typeface="Cambria"/>
                <a:ea typeface="Cambria"/>
                <a:cs typeface="Cambria"/>
              </a:rPr>
              <a:t>3</a:t>
            </a:r>
            <a:endParaRPr sz="2000"/>
          </a:p>
        </p:txBody>
      </p:sp>
      <p:sp>
        <p:nvSpPr>
          <p:cNvPr id="24" name="Text 22">
            <a:extLst>
              <a:ext uri="{FF2B5EF4-FFF2-40B4-BE49-F238E27FC236}">
                <a16:creationId xmlns:a16="http://schemas.microsoft.com/office/drawing/2014/main" id="{A28BBB1F-67C3-45FA-B926-8A1865BFE243}"/>
              </a:ext>
            </a:extLst>
          </p:cNvPr>
          <p:cNvSpPr>
            <a:spLocks noGrp="1"/>
          </p:cNvSpPr>
          <p:nvPr/>
        </p:nvSpPr>
        <p:spPr>
          <a:xfrm>
            <a:off x="9006840" y="2450592"/>
            <a:ext cx="2194560" cy="274320"/>
          </a:xfrm>
          <a:prstGeom prst="rect">
            <a:avLst/>
          </a:prstGeom>
          <a:noFill/>
        </p:spPr>
        <p:txBody>
          <a:bodyPr wrap="square" anchor="ctr"/>
          <a:lstStyle/>
          <a:p>
            <a:pPr marL="0" indent="0">
              <a:buNone/>
            </a:pPr>
            <a:r>
              <a:rPr sz="1050" b="1" spc="150">
                <a:solidFill>
                  <a:srgbClr val="E8A33D"/>
                </a:solidFill>
                <a:latin typeface="Calibri"/>
                <a:ea typeface="Calibri"/>
                <a:cs typeface="Calibri"/>
              </a:rPr>
              <a:t>OPTION C</a:t>
            </a:r>
            <a:endParaRPr sz="1050"/>
          </a:p>
        </p:txBody>
      </p:sp>
      <p:sp>
        <p:nvSpPr>
          <p:cNvPr id="25" name="Text 23">
            <a:extLst>
              <a:ext uri="{FF2B5EF4-FFF2-40B4-BE49-F238E27FC236}">
                <a16:creationId xmlns:a16="http://schemas.microsoft.com/office/drawing/2014/main" id="{69F4DD7B-7581-4852-B8AB-23DC05A68CA4}"/>
              </a:ext>
            </a:extLst>
          </p:cNvPr>
          <p:cNvSpPr>
            <a:spLocks noGrp="1"/>
          </p:cNvSpPr>
          <p:nvPr/>
        </p:nvSpPr>
        <p:spPr>
          <a:xfrm>
            <a:off x="9006840" y="2679192"/>
            <a:ext cx="2194560" cy="365760"/>
          </a:xfrm>
          <a:prstGeom prst="rect">
            <a:avLst/>
          </a:prstGeom>
          <a:noFill/>
        </p:spPr>
        <p:txBody>
          <a:bodyPr wrap="square" anchor="ctr"/>
          <a:lstStyle/>
          <a:p>
            <a:pPr marL="0" indent="0">
              <a:buNone/>
            </a:pPr>
            <a:r>
              <a:rPr sz="1700" b="1">
                <a:solidFill>
                  <a:srgbClr val="FFFFFF"/>
                </a:solidFill>
                <a:latin typeface="Cambria"/>
                <a:ea typeface="Cambria"/>
                <a:cs typeface="Cambria"/>
              </a:rPr>
              <a:t>Self-Hosted (Qwen)</a:t>
            </a:r>
            <a:endParaRPr sz="1700"/>
          </a:p>
        </p:txBody>
      </p:sp>
      <p:sp>
        <p:nvSpPr>
          <p:cNvPr id="26" name="Text 24">
            <a:extLst>
              <a:ext uri="{FF2B5EF4-FFF2-40B4-BE49-F238E27FC236}">
                <a16:creationId xmlns:a16="http://schemas.microsoft.com/office/drawing/2014/main" id="{5D8E03DA-042C-4C3D-ACBD-A82B9556F858}"/>
              </a:ext>
            </a:extLst>
          </p:cNvPr>
          <p:cNvSpPr>
            <a:spLocks noGrp="1"/>
          </p:cNvSpPr>
          <p:nvPr/>
        </p:nvSpPr>
        <p:spPr>
          <a:xfrm>
            <a:off x="8321040" y="3383280"/>
            <a:ext cx="2834640" cy="1920240"/>
          </a:xfrm>
          <a:prstGeom prst="rect">
            <a:avLst/>
          </a:prstGeom>
          <a:noFill/>
        </p:spPr>
        <p:txBody>
          <a:bodyPr wrap="square" anchor="ctr"/>
          <a:lstStyle/>
          <a:p>
            <a:pPr marL="0" indent="0">
              <a:lnSpc>
                <a:spcPct val="125000"/>
              </a:lnSpc>
              <a:buNone/>
            </a:pPr>
            <a:r>
              <a:rPr sz="1200">
                <a:solidFill>
                  <a:srgbClr val="CADCFC"/>
                </a:solidFill>
                <a:latin typeface="Calibri"/>
                <a:ea typeface="Calibri"/>
                <a:cs typeface="Calibri"/>
              </a:rPr>
              <a:t>GPU server we operate. No recurring token charges — but we own rental/purchase, monitoring, security, and backups.</a:t>
            </a:r>
            <a:endParaRPr sz="1200"/>
          </a:p>
        </p:txBody>
      </p:sp>
      <p:sp>
        <p:nvSpPr>
          <p:cNvPr id="27" name="Shape 25">
            <a:extLst>
              <a:ext uri="{FF2B5EF4-FFF2-40B4-BE49-F238E27FC236}">
                <a16:creationId xmlns:a16="http://schemas.microsoft.com/office/drawing/2014/main" id="{749DA12D-BCE8-461A-96E9-7BEDA598A32B}"/>
              </a:ext>
            </a:extLst>
          </p:cNvPr>
          <p:cNvSpPr>
            <a:spLocks noGrp="1"/>
          </p:cNvSpPr>
          <p:nvPr/>
        </p:nvSpPr>
        <p:spPr>
          <a:xfrm>
            <a:off x="8321040" y="5532120"/>
            <a:ext cx="2834640" cy="365760"/>
          </a:xfrm>
          <a:prstGeom prst="roundRect">
            <a:avLst>
              <a:gd name="adj" fmla="val 15000"/>
            </a:avLst>
          </a:prstGeom>
          <a:solidFill>
            <a:srgbClr val="E8A33D"/>
          </a:solidFill>
          <a:ln w="12700">
            <a:solidFill>
              <a:srgbClr val="E8A33D"/>
            </a:solidFill>
            <a:prstDash val="solid"/>
          </a:ln>
        </p:spPr>
        <p:txBody>
          <a:bodyPr/>
          <a:lstStyle/>
          <a:p>
            <a:endParaRPr/>
          </a:p>
        </p:txBody>
      </p:sp>
      <p:sp>
        <p:nvSpPr>
          <p:cNvPr id="28" name="Text 26">
            <a:extLst>
              <a:ext uri="{FF2B5EF4-FFF2-40B4-BE49-F238E27FC236}">
                <a16:creationId xmlns:a16="http://schemas.microsoft.com/office/drawing/2014/main" id="{E85478A8-DBEC-4294-AB57-86F6FCEE0B72}"/>
              </a:ext>
            </a:extLst>
          </p:cNvPr>
          <p:cNvSpPr>
            <a:spLocks noGrp="1"/>
          </p:cNvSpPr>
          <p:nvPr/>
        </p:nvSpPr>
        <p:spPr>
          <a:xfrm>
            <a:off x="8321040" y="5532120"/>
            <a:ext cx="2834640" cy="365760"/>
          </a:xfrm>
          <a:prstGeom prst="rect">
            <a:avLst/>
          </a:prstGeom>
          <a:noFill/>
        </p:spPr>
        <p:txBody>
          <a:bodyPr wrap="square" anchor="ctr"/>
          <a:lstStyle/>
          <a:p>
            <a:pPr marL="0" indent="0" algn="ctr">
              <a:buNone/>
            </a:pPr>
            <a:r>
              <a:rPr sz="1000" b="1" spc="100">
                <a:solidFill>
                  <a:srgbClr val="1E2761"/>
                </a:solidFill>
                <a:latin typeface="Calibri"/>
                <a:ea typeface="Calibri"/>
                <a:cs typeface="Calibri"/>
              </a:rPr>
              <a:t>RECOMMENDED PATH</a:t>
            </a:r>
            <a:endParaRPr sz="1000"/>
          </a:p>
        </p:txBody>
      </p:sp>
      <p:sp>
        <p:nvSpPr>
          <p:cNvPr id="29" name="Text 27">
            <a:extLst>
              <a:ext uri="{FF2B5EF4-FFF2-40B4-BE49-F238E27FC236}">
                <a16:creationId xmlns:a16="http://schemas.microsoft.com/office/drawing/2014/main" id="{07F408A1-915A-4F03-A64F-95FBDC90299D}"/>
              </a:ext>
            </a:extLst>
          </p:cNvPr>
          <p:cNvSpPr>
            <a:spLocks noGrp="1"/>
          </p:cNvSpPr>
          <p:nvPr/>
        </p:nvSpPr>
        <p:spPr>
          <a:xfrm>
            <a:off x="640080" y="6400800"/>
            <a:ext cx="4572000" cy="274320"/>
          </a:xfrm>
          <a:prstGeom prst="rect">
            <a:avLst/>
          </a:prstGeom>
          <a:noFill/>
        </p:spPr>
        <p:txBody>
          <a:bodyPr wrap="square" anchor="ctr"/>
          <a:lstStyle/>
          <a:p>
            <a:pPr marL="0" indent="0">
              <a:buNone/>
            </a:pPr>
            <a:r>
              <a:rPr sz="1000">
                <a:solidFill>
                  <a:srgbClr val="6B7280"/>
                </a:solidFill>
                <a:latin typeface="Calibri"/>
                <a:ea typeface="Calibri"/>
                <a:cs typeface="Calibri"/>
              </a:rPr>
              <a:t>Astravi — AI Cost Comparison</a:t>
            </a:r>
            <a:endParaRPr sz="1000"/>
          </a:p>
        </p:txBody>
      </p:sp>
      <p:sp>
        <p:nvSpPr>
          <p:cNvPr id="30" name="Text 28">
            <a:extLst>
              <a:ext uri="{FF2B5EF4-FFF2-40B4-BE49-F238E27FC236}">
                <a16:creationId xmlns:a16="http://schemas.microsoft.com/office/drawing/2014/main" id="{267FCDCA-D4E7-47BF-8C31-935BCF6452A7}"/>
              </a:ext>
            </a:extLst>
          </p:cNvPr>
          <p:cNvSpPr>
            <a:spLocks noGrp="1"/>
          </p:cNvSpPr>
          <p:nvPr/>
        </p:nvSpPr>
        <p:spPr>
          <a:xfrm>
            <a:off x="11365992" y="6400800"/>
            <a:ext cx="548640" cy="274320"/>
          </a:xfrm>
          <a:prstGeom prst="rect">
            <a:avLst/>
          </a:prstGeom>
          <a:noFill/>
        </p:spPr>
        <p:txBody>
          <a:bodyPr wrap="square" anchor="ctr"/>
          <a:lstStyle/>
          <a:p>
            <a:pPr marL="0" indent="0" algn="r">
              <a:buNone/>
            </a:pPr>
            <a:r>
              <a:rPr sz="1000">
                <a:solidFill>
                  <a:srgbClr val="6B7280"/>
                </a:solidFill>
                <a:latin typeface="Calibri"/>
                <a:ea typeface="Calibri"/>
                <a:cs typeface="Calibri"/>
              </a:rPr>
              <a:t>02</a:t>
            </a:r>
            <a:endParaRPr sz="1000"/>
          </a:p>
        </p:txBody>
      </p:sp>
    </p:spTree>
    <p:extLst>
      <p:ext uri="{BB962C8B-B14F-4D97-AF65-F5344CB8AC3E}">
        <p14:creationId xmlns:p14="http://schemas.microsoft.com/office/powerpoint/2010/main" val="1104498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9532A55-50A5-4B0D-A30B-F2C07167D556}"/>
              </a:ext>
            </a:extLst>
          </p:cNvPr>
          <p:cNvSpPr>
            <a:spLocks noGrp="1"/>
          </p:cNvSpPr>
          <p:nvPr/>
        </p:nvSpPr>
        <p:spPr>
          <a:xfrm>
            <a:off x="640080" y="411480"/>
            <a:ext cx="7315200" cy="320040"/>
          </a:xfrm>
          <a:prstGeom prst="rect">
            <a:avLst/>
          </a:prstGeom>
          <a:noFill/>
        </p:spPr>
        <p:txBody>
          <a:bodyPr wrap="square" anchor="ctr"/>
          <a:lstStyle/>
          <a:p>
            <a:pPr marL="0" indent="0">
              <a:buNone/>
            </a:pPr>
            <a:r>
              <a:rPr sz="1300" b="1" spc="200">
                <a:solidFill>
                  <a:srgbClr val="E8A33D"/>
                </a:solidFill>
                <a:latin typeface="Calibri"/>
                <a:ea typeface="Calibri"/>
                <a:cs typeface="Calibri"/>
              </a:rPr>
              <a:t>API COST COMPARISON</a:t>
            </a:r>
            <a:endParaRPr sz="1300"/>
          </a:p>
        </p:txBody>
      </p:sp>
      <p:sp>
        <p:nvSpPr>
          <p:cNvPr id="3" name="Text 1">
            <a:extLst>
              <a:ext uri="{FF2B5EF4-FFF2-40B4-BE49-F238E27FC236}">
                <a16:creationId xmlns:a16="http://schemas.microsoft.com/office/drawing/2014/main" id="{F1410C5C-F973-452F-89E3-F9C94E540AC9}"/>
              </a:ext>
            </a:extLst>
          </p:cNvPr>
          <p:cNvSpPr>
            <a:spLocks noGrp="1"/>
          </p:cNvSpPr>
          <p:nvPr/>
        </p:nvSpPr>
        <p:spPr>
          <a:xfrm>
            <a:off x="640080" y="713232"/>
            <a:ext cx="10515600" cy="822960"/>
          </a:xfrm>
          <a:prstGeom prst="rect">
            <a:avLst/>
          </a:prstGeom>
          <a:noFill/>
        </p:spPr>
        <p:txBody>
          <a:bodyPr wrap="square" anchor="ctr"/>
          <a:lstStyle/>
          <a:p>
            <a:pPr marL="0" indent="0">
              <a:lnSpc>
                <a:spcPts val="3400"/>
              </a:lnSpc>
              <a:buNone/>
            </a:pPr>
            <a:r>
              <a:rPr sz="3000" b="1">
                <a:solidFill>
                  <a:srgbClr val="1E2761"/>
                </a:solidFill>
                <a:latin typeface="Cambria"/>
                <a:ea typeface="Cambria"/>
                <a:cs typeface="Cambria"/>
              </a:rPr>
              <a:t>API costs scale steeply with employees and frequency</a:t>
            </a:r>
            <a:endParaRPr sz="3000"/>
          </a:p>
        </p:txBody>
      </p:sp>
      <p:sp>
        <p:nvSpPr>
          <p:cNvPr id="5" name="Shape 2">
            <a:extLst>
              <a:ext uri="{FF2B5EF4-FFF2-40B4-BE49-F238E27FC236}">
                <a16:creationId xmlns:a16="http://schemas.microsoft.com/office/drawing/2014/main" id="{5C3C9D3F-DB86-4F87-9794-45A714B41669}"/>
              </a:ext>
            </a:extLst>
          </p:cNvPr>
          <p:cNvSpPr>
            <a:spLocks noGrp="1"/>
          </p:cNvSpPr>
          <p:nvPr/>
        </p:nvSpPr>
        <p:spPr>
          <a:xfrm>
            <a:off x="8366760" y="1508760"/>
            <a:ext cx="3200400" cy="4709160"/>
          </a:xfrm>
          <a:prstGeom prst="roundRect">
            <a:avLst>
              <a:gd name="adj" fmla="val 2571"/>
            </a:avLst>
          </a:prstGeom>
          <a:solidFill>
            <a:srgbClr val="F4F7FC"/>
          </a:solidFill>
          <a:ln w="12700">
            <a:solidFill>
              <a:srgbClr val="DCE3F0"/>
            </a:solidFill>
            <a:prstDash val="solid"/>
          </a:ln>
        </p:spPr>
        <p:txBody>
          <a:bodyPr/>
          <a:lstStyle/>
          <a:p>
            <a:endParaRPr/>
          </a:p>
        </p:txBody>
      </p:sp>
      <p:sp>
        <p:nvSpPr>
          <p:cNvPr id="6" name="Text 3">
            <a:extLst>
              <a:ext uri="{FF2B5EF4-FFF2-40B4-BE49-F238E27FC236}">
                <a16:creationId xmlns:a16="http://schemas.microsoft.com/office/drawing/2014/main" id="{F7E3F329-C26A-4572-B002-BB99938286D4}"/>
              </a:ext>
            </a:extLst>
          </p:cNvPr>
          <p:cNvSpPr>
            <a:spLocks noGrp="1"/>
          </p:cNvSpPr>
          <p:nvPr/>
        </p:nvSpPr>
        <p:spPr>
          <a:xfrm>
            <a:off x="8641080" y="1783080"/>
            <a:ext cx="2651760" cy="274320"/>
          </a:xfrm>
          <a:prstGeom prst="rect">
            <a:avLst/>
          </a:prstGeom>
          <a:noFill/>
        </p:spPr>
        <p:txBody>
          <a:bodyPr wrap="square" anchor="ctr"/>
          <a:lstStyle/>
          <a:p>
            <a:pPr marL="0" indent="0">
              <a:buNone/>
            </a:pPr>
            <a:r>
              <a:rPr sz="1100" b="1" spc="100">
                <a:solidFill>
                  <a:srgbClr val="E8A33D"/>
                </a:solidFill>
                <a:latin typeface="Calibri"/>
                <a:ea typeface="Calibri"/>
                <a:cs typeface="Calibri"/>
              </a:rPr>
              <a:t>READ THE CHART</a:t>
            </a:r>
            <a:endParaRPr sz="1100"/>
          </a:p>
        </p:txBody>
      </p:sp>
      <p:sp>
        <p:nvSpPr>
          <p:cNvPr id="7" name="Text 4">
            <a:extLst>
              <a:ext uri="{FF2B5EF4-FFF2-40B4-BE49-F238E27FC236}">
                <a16:creationId xmlns:a16="http://schemas.microsoft.com/office/drawing/2014/main" id="{302BC4B8-6FB2-4D4F-9A1A-6812CA923860}"/>
              </a:ext>
            </a:extLst>
          </p:cNvPr>
          <p:cNvSpPr>
            <a:spLocks noGrp="1"/>
          </p:cNvSpPr>
          <p:nvPr/>
        </p:nvSpPr>
        <p:spPr>
          <a:xfrm>
            <a:off x="8641080" y="2148840"/>
            <a:ext cx="2651760" cy="3017520"/>
          </a:xfrm>
          <a:prstGeom prst="rect">
            <a:avLst/>
          </a:prstGeom>
          <a:noFill/>
        </p:spPr>
        <p:txBody>
          <a:bodyPr wrap="square" anchor="ctr"/>
          <a:lstStyle/>
          <a:p>
            <a:pPr marL="0" indent="0">
              <a:lnSpc>
                <a:spcPct val="130000"/>
              </a:lnSpc>
              <a:buNone/>
            </a:pPr>
            <a:r>
              <a:rPr sz="1250">
                <a:solidFill>
                  <a:srgbClr val="2B2E43"/>
                </a:solidFill>
                <a:latin typeface="Calibri"/>
                <a:ea typeface="Calibri"/>
                <a:cs typeface="Calibri"/>
              </a:rPr>
              <a:t>OpenAI stays the lower-cost API path at every scale tested.
Claude costs 60–70% more under these assumptions, in exchange for one model across the full workflow.
Both scale linearly — doubling headcount roughly doubles spend.</a:t>
            </a:r>
            <a:endParaRPr sz="1250"/>
          </a:p>
        </p:txBody>
      </p:sp>
      <p:sp>
        <p:nvSpPr>
          <p:cNvPr id="8" name="Text 5">
            <a:extLst>
              <a:ext uri="{FF2B5EF4-FFF2-40B4-BE49-F238E27FC236}">
                <a16:creationId xmlns:a16="http://schemas.microsoft.com/office/drawing/2014/main" id="{55848FE3-B4E9-4C62-A700-0AEEC27F351D}"/>
              </a:ext>
            </a:extLst>
          </p:cNvPr>
          <p:cNvSpPr>
            <a:spLocks noGrp="1"/>
          </p:cNvSpPr>
          <p:nvPr/>
        </p:nvSpPr>
        <p:spPr>
          <a:xfrm>
            <a:off x="8641080" y="5715000"/>
            <a:ext cx="2651760" cy="411480"/>
          </a:xfrm>
          <a:prstGeom prst="rect">
            <a:avLst/>
          </a:prstGeom>
          <a:noFill/>
        </p:spPr>
        <p:txBody>
          <a:bodyPr wrap="square" anchor="ctr"/>
          <a:lstStyle/>
          <a:p>
            <a:pPr marL="0" indent="0">
              <a:buNone/>
            </a:pPr>
            <a:r>
              <a:rPr sz="1000" i="1">
                <a:solidFill>
                  <a:srgbClr val="6B7280"/>
                </a:solidFill>
                <a:latin typeface="Calibri"/>
                <a:ea typeface="Calibri"/>
                <a:cs typeface="Calibri"/>
              </a:rPr>
              <a:t>Estimates exclude tax, retries, storage, network, and currency charges.</a:t>
            </a:r>
            <a:endParaRPr sz="1000"/>
          </a:p>
        </p:txBody>
      </p:sp>
      <p:sp>
        <p:nvSpPr>
          <p:cNvPr id="9" name="Text 6">
            <a:extLst>
              <a:ext uri="{FF2B5EF4-FFF2-40B4-BE49-F238E27FC236}">
                <a16:creationId xmlns:a16="http://schemas.microsoft.com/office/drawing/2014/main" id="{71D2FD73-84CC-4FE2-95D3-145FEFF5991C}"/>
              </a:ext>
            </a:extLst>
          </p:cNvPr>
          <p:cNvSpPr>
            <a:spLocks noGrp="1"/>
          </p:cNvSpPr>
          <p:nvPr/>
        </p:nvSpPr>
        <p:spPr>
          <a:xfrm>
            <a:off x="640080" y="6400800"/>
            <a:ext cx="4572000" cy="274320"/>
          </a:xfrm>
          <a:prstGeom prst="rect">
            <a:avLst/>
          </a:prstGeom>
          <a:noFill/>
        </p:spPr>
        <p:txBody>
          <a:bodyPr wrap="square" anchor="ctr"/>
          <a:lstStyle/>
          <a:p>
            <a:pPr marL="0" indent="0">
              <a:buNone/>
            </a:pPr>
            <a:r>
              <a:rPr sz="1000">
                <a:solidFill>
                  <a:srgbClr val="6B7280"/>
                </a:solidFill>
                <a:latin typeface="Calibri"/>
                <a:ea typeface="Calibri"/>
                <a:cs typeface="Calibri"/>
              </a:rPr>
              <a:t>Astravi — AI Cost Comparison</a:t>
            </a:r>
            <a:endParaRPr sz="1000"/>
          </a:p>
        </p:txBody>
      </p:sp>
      <p:sp>
        <p:nvSpPr>
          <p:cNvPr id="10" name="Text 7">
            <a:extLst>
              <a:ext uri="{FF2B5EF4-FFF2-40B4-BE49-F238E27FC236}">
                <a16:creationId xmlns:a16="http://schemas.microsoft.com/office/drawing/2014/main" id="{C2C22254-6D7C-4658-AEDE-BC09C47C2BA4}"/>
              </a:ext>
            </a:extLst>
          </p:cNvPr>
          <p:cNvSpPr>
            <a:spLocks noGrp="1"/>
          </p:cNvSpPr>
          <p:nvPr/>
        </p:nvSpPr>
        <p:spPr>
          <a:xfrm>
            <a:off x="11365992" y="6400800"/>
            <a:ext cx="548640" cy="274320"/>
          </a:xfrm>
          <a:prstGeom prst="rect">
            <a:avLst/>
          </a:prstGeom>
          <a:noFill/>
        </p:spPr>
        <p:txBody>
          <a:bodyPr wrap="square" anchor="ctr"/>
          <a:lstStyle/>
          <a:p>
            <a:pPr marL="0" indent="0" algn="r">
              <a:buNone/>
            </a:pPr>
            <a:r>
              <a:rPr sz="1000">
                <a:solidFill>
                  <a:srgbClr val="6B7280"/>
                </a:solidFill>
                <a:latin typeface="Calibri"/>
                <a:ea typeface="Calibri"/>
                <a:cs typeface="Calibri"/>
              </a:rPr>
              <a:t>03</a:t>
            </a:r>
            <a:endParaRPr sz="1000"/>
          </a:p>
        </p:txBody>
      </p:sp>
      <p:graphicFrame>
        <p:nvGraphicFramePr>
          <p:cNvPr id="20" name="Chart"/>
          <p:cNvGraphicFramePr/>
          <p:nvPr/>
        </p:nvGraphicFramePr>
        <p:xfrm>
          <a:off x="640080" y="1508760"/>
          <a:ext cx="7406640" cy="470916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94628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3DE9F61-6F48-418F-AAE0-2D7D5E30AEF4}"/>
              </a:ext>
            </a:extLst>
          </p:cNvPr>
          <p:cNvSpPr>
            <a:spLocks noGrp="1"/>
          </p:cNvSpPr>
          <p:nvPr/>
        </p:nvSpPr>
        <p:spPr>
          <a:xfrm>
            <a:off x="640080" y="411480"/>
            <a:ext cx="7315200" cy="320040"/>
          </a:xfrm>
          <a:prstGeom prst="rect">
            <a:avLst/>
          </a:prstGeom>
          <a:noFill/>
        </p:spPr>
        <p:txBody>
          <a:bodyPr wrap="square" anchor="ctr"/>
          <a:lstStyle/>
          <a:p>
            <a:pPr marL="0" indent="0">
              <a:buNone/>
            </a:pPr>
            <a:r>
              <a:rPr sz="1300" b="1" spc="200">
                <a:solidFill>
                  <a:srgbClr val="E8A33D"/>
                </a:solidFill>
                <a:latin typeface="Calibri"/>
                <a:ea typeface="Calibri"/>
                <a:cs typeface="Calibri"/>
              </a:rPr>
              <a:t>SELF-HOSTED OPTION</a:t>
            </a:r>
            <a:endParaRPr sz="1300"/>
          </a:p>
        </p:txBody>
      </p:sp>
      <p:sp>
        <p:nvSpPr>
          <p:cNvPr id="3" name="Text 1">
            <a:extLst>
              <a:ext uri="{FF2B5EF4-FFF2-40B4-BE49-F238E27FC236}">
                <a16:creationId xmlns:a16="http://schemas.microsoft.com/office/drawing/2014/main" id="{B4C71940-C324-42B1-8BB8-1DCF2988564B}"/>
              </a:ext>
            </a:extLst>
          </p:cNvPr>
          <p:cNvSpPr>
            <a:spLocks noGrp="1"/>
          </p:cNvSpPr>
          <p:nvPr/>
        </p:nvSpPr>
        <p:spPr>
          <a:xfrm>
            <a:off x="640080" y="713232"/>
            <a:ext cx="10515600" cy="822960"/>
          </a:xfrm>
          <a:prstGeom prst="rect">
            <a:avLst/>
          </a:prstGeom>
          <a:noFill/>
        </p:spPr>
        <p:txBody>
          <a:bodyPr wrap="square" anchor="ctr"/>
          <a:lstStyle/>
          <a:p>
            <a:pPr>
              <a:lnSpc>
                <a:spcPts val="3400"/>
              </a:lnSpc>
              <a:buNone/>
            </a:pPr>
            <a:r>
              <a:rPr sz="2400" b="1">
                <a:solidFill>
                  <a:srgbClr val="1E2761"/>
                </a:solidFill>
                <a:latin typeface="Cambria"/>
                <a:ea typeface="Cambria"/>
                <a:cs typeface="Cambria"/>
              </a:rPr>
              <a:t>Self-hosted removes token charges — at the cost of owning the server</a:t>
            </a:r>
            <a:br/>
            <a:r>
              <a:t>This is an approximate cost and may vary depending on market conditions.</a:t>
            </a:r>
            <a:endParaRPr sz="2400"/>
          </a:p>
        </p:txBody>
      </p:sp>
      <p:sp>
        <p:nvSpPr>
          <p:cNvPr id="4" name="Shape 2">
            <a:extLst>
              <a:ext uri="{FF2B5EF4-FFF2-40B4-BE49-F238E27FC236}">
                <a16:creationId xmlns:a16="http://schemas.microsoft.com/office/drawing/2014/main" id="{1EA44541-2FD3-4D8B-A010-DF16BB6F6D50}"/>
              </a:ext>
            </a:extLst>
          </p:cNvPr>
          <p:cNvSpPr>
            <a:spLocks noGrp="1"/>
          </p:cNvSpPr>
          <p:nvPr/>
        </p:nvSpPr>
        <p:spPr>
          <a:xfrm>
            <a:off x="640080" y="1600200"/>
            <a:ext cx="2615184" cy="4251960"/>
          </a:xfrm>
          <a:prstGeom prst="roundRect">
            <a:avLst>
              <a:gd name="adj" fmla="val 2797"/>
            </a:avLst>
          </a:prstGeom>
          <a:solidFill>
            <a:srgbClr val="F4F7FC"/>
          </a:solidFill>
          <a:ln w="12700">
            <a:solidFill>
              <a:srgbClr val="DCE3F0"/>
            </a:solidFill>
            <a:prstDash val="solid"/>
          </a:ln>
        </p:spPr>
        <p:txBody>
          <a:bodyPr/>
          <a:lstStyle/>
          <a:p>
            <a:endParaRPr/>
          </a:p>
        </p:txBody>
      </p:sp>
      <p:sp>
        <p:nvSpPr>
          <p:cNvPr id="5" name="Text 3">
            <a:extLst>
              <a:ext uri="{FF2B5EF4-FFF2-40B4-BE49-F238E27FC236}">
                <a16:creationId xmlns:a16="http://schemas.microsoft.com/office/drawing/2014/main" id="{96515406-76A6-4C33-B004-E3876F9D7BF3}"/>
              </a:ext>
            </a:extLst>
          </p:cNvPr>
          <p:cNvSpPr>
            <a:spLocks noGrp="1"/>
          </p:cNvSpPr>
          <p:nvPr/>
        </p:nvSpPr>
        <p:spPr>
          <a:xfrm>
            <a:off x="822960" y="1828800"/>
            <a:ext cx="2249424" cy="365760"/>
          </a:xfrm>
          <a:prstGeom prst="rect">
            <a:avLst/>
          </a:prstGeom>
          <a:noFill/>
        </p:spPr>
        <p:txBody>
          <a:bodyPr wrap="square" anchor="ctr"/>
          <a:lstStyle/>
          <a:p>
            <a:pPr marL="0" indent="0">
              <a:buNone/>
            </a:pPr>
            <a:r>
              <a:rPr sz="1600" b="1">
                <a:solidFill>
                  <a:srgbClr val="1E2761"/>
                </a:solidFill>
                <a:latin typeface="Cambria"/>
                <a:ea typeface="Cambria"/>
                <a:cs typeface="Cambria"/>
              </a:rPr>
              <a:t>Option 1</a:t>
            </a:r>
            <a:endParaRPr sz="1600"/>
          </a:p>
        </p:txBody>
      </p:sp>
      <p:sp>
        <p:nvSpPr>
          <p:cNvPr id="6" name="Text 4">
            <a:extLst>
              <a:ext uri="{FF2B5EF4-FFF2-40B4-BE49-F238E27FC236}">
                <a16:creationId xmlns:a16="http://schemas.microsoft.com/office/drawing/2014/main" id="{2AD4149C-6E47-4041-B8DE-D2B07CA00D49}"/>
              </a:ext>
            </a:extLst>
          </p:cNvPr>
          <p:cNvSpPr>
            <a:spLocks noGrp="1"/>
          </p:cNvSpPr>
          <p:nvPr/>
        </p:nvSpPr>
        <p:spPr>
          <a:xfrm>
            <a:off x="822960" y="2194560"/>
            <a:ext cx="2249424" cy="502920"/>
          </a:xfrm>
          <a:prstGeom prst="rect">
            <a:avLst/>
          </a:prstGeom>
          <a:noFill/>
        </p:spPr>
        <p:txBody>
          <a:bodyPr wrap="square" anchor="ctr"/>
          <a:lstStyle/>
          <a:p>
            <a:pPr marL="0" indent="0">
              <a:buNone/>
            </a:pPr>
            <a:r>
              <a:rPr sz="1100" b="1">
                <a:solidFill>
                  <a:srgbClr val="2B2E43"/>
                </a:solidFill>
                <a:latin typeface="Calibri"/>
                <a:ea typeface="Calibri"/>
                <a:cs typeface="Calibri"/>
              </a:rPr>
              <a:t>1 × NVIDIA L4 24GB</a:t>
            </a:r>
            <a:endParaRPr sz="1100"/>
          </a:p>
        </p:txBody>
      </p:sp>
      <p:sp>
        <p:nvSpPr>
          <p:cNvPr id="7" name="Text 5">
            <a:extLst>
              <a:ext uri="{FF2B5EF4-FFF2-40B4-BE49-F238E27FC236}">
                <a16:creationId xmlns:a16="http://schemas.microsoft.com/office/drawing/2014/main" id="{A70D0673-A9AE-499B-8BB6-90B368E17A02}"/>
              </a:ext>
            </a:extLst>
          </p:cNvPr>
          <p:cNvSpPr>
            <a:spLocks noGrp="1"/>
          </p:cNvSpPr>
          <p:nvPr/>
        </p:nvSpPr>
        <p:spPr>
          <a:xfrm>
            <a:off x="822960" y="2679192"/>
            <a:ext cx="2249424" cy="777240"/>
          </a:xfrm>
          <a:prstGeom prst="rect">
            <a:avLst/>
          </a:prstGeom>
          <a:noFill/>
        </p:spPr>
        <p:txBody>
          <a:bodyPr wrap="square" lIns="91440" tIns="45720" rIns="91440" bIns="45720" anchor="ctr"/>
          <a:lstStyle/>
          <a:p>
            <a:r>
              <a:rPr sz="1000" i="1">
                <a:solidFill>
                  <a:srgbClr val="6B7280"/>
                </a:solidFill>
              </a:rPr>
              <a:t>15–30 concurrent employees</a:t>
            </a:r>
          </a:p>
          <a:p>
            <a:r>
              <a:rPr sz="1000" i="1">
                <a:solidFill>
                  <a:srgbClr val="6B7280"/>
                </a:solidFill>
              </a:rPr>
              <a:t>1-minute interval, 4 screenshots per employee</a:t>
            </a:r>
          </a:p>
          <a:p>
            <a:pPr>
              <a:lnSpc>
                <a:spcPct val="120000"/>
              </a:lnSpc>
              <a:buNone/>
            </a:pPr>
            <a:r>
              <a:rPr sz="1000" i="1">
                <a:solidFill>
                  <a:srgbClr val="6B7280"/>
                </a:solidFill>
              </a:rPr>
              <a:t>Development, demo, and pilot</a:t>
            </a:r>
            <a:br/>
            <a:endParaRPr sz="1000" i="1">
              <a:solidFill>
                <a:srgbClr val="6B7280"/>
              </a:solidFill>
            </a:endParaRPr>
          </a:p>
        </p:txBody>
      </p:sp>
      <p:sp>
        <p:nvSpPr>
          <p:cNvPr id="8" name="Shape 6">
            <a:extLst>
              <a:ext uri="{FF2B5EF4-FFF2-40B4-BE49-F238E27FC236}">
                <a16:creationId xmlns:a16="http://schemas.microsoft.com/office/drawing/2014/main" id="{9082EDFA-752A-44AB-BF42-007E86E4E370}"/>
              </a:ext>
            </a:extLst>
          </p:cNvPr>
          <p:cNvSpPr>
            <a:spLocks noGrp="1"/>
          </p:cNvSpPr>
          <p:nvPr/>
        </p:nvSpPr>
        <p:spPr>
          <a:xfrm>
            <a:off x="822960" y="4434840"/>
            <a:ext cx="2249424" cy="0"/>
          </a:xfrm>
          <a:prstGeom prst="line">
            <a:avLst/>
          </a:prstGeom>
          <a:noFill/>
          <a:ln w="12700">
            <a:solidFill>
              <a:srgbClr val="DCE3F0"/>
            </a:solidFill>
            <a:prstDash val="solid"/>
          </a:ln>
        </p:spPr>
        <p:txBody>
          <a:bodyPr/>
          <a:lstStyle/>
          <a:p>
            <a:endParaRPr/>
          </a:p>
        </p:txBody>
      </p:sp>
      <p:sp>
        <p:nvSpPr>
          <p:cNvPr id="9" name="Text 7">
            <a:extLst>
              <a:ext uri="{FF2B5EF4-FFF2-40B4-BE49-F238E27FC236}">
                <a16:creationId xmlns:a16="http://schemas.microsoft.com/office/drawing/2014/main" id="{C5E853C8-37E5-438B-AC4B-DC06F6DC9BED}"/>
              </a:ext>
            </a:extLst>
          </p:cNvPr>
          <p:cNvSpPr>
            <a:spLocks noGrp="1"/>
          </p:cNvSpPr>
          <p:nvPr/>
        </p:nvSpPr>
        <p:spPr>
          <a:xfrm>
            <a:off x="822960" y="4572000"/>
            <a:ext cx="2249424" cy="228600"/>
          </a:xfrm>
          <a:prstGeom prst="rect">
            <a:avLst/>
          </a:prstGeom>
          <a:noFill/>
        </p:spPr>
        <p:txBody>
          <a:bodyPr wrap="square" anchor="ctr"/>
          <a:lstStyle/>
          <a:p>
            <a:pPr marL="0" indent="0">
              <a:buNone/>
            </a:pPr>
            <a:r>
              <a:rPr sz="900" b="1" spc="100">
                <a:solidFill>
                  <a:srgbClr val="6B7280"/>
                </a:solidFill>
                <a:latin typeface="Calibri"/>
                <a:ea typeface="Calibri"/>
                <a:cs typeface="Calibri"/>
              </a:rPr>
              <a:t>PURCHASE</a:t>
            </a:r>
            <a:endParaRPr sz="900"/>
          </a:p>
        </p:txBody>
      </p:sp>
      <p:sp>
        <p:nvSpPr>
          <p:cNvPr id="10" name="Text 8">
            <a:extLst>
              <a:ext uri="{FF2B5EF4-FFF2-40B4-BE49-F238E27FC236}">
                <a16:creationId xmlns:a16="http://schemas.microsoft.com/office/drawing/2014/main" id="{A138B241-16B7-47CE-9300-AAC609CFCF4F}"/>
              </a:ext>
            </a:extLst>
          </p:cNvPr>
          <p:cNvSpPr>
            <a:spLocks noGrp="1"/>
          </p:cNvSpPr>
          <p:nvPr/>
        </p:nvSpPr>
        <p:spPr>
          <a:xfrm>
            <a:off x="822960" y="4800600"/>
            <a:ext cx="2249424" cy="320040"/>
          </a:xfrm>
          <a:prstGeom prst="rect">
            <a:avLst/>
          </a:prstGeom>
          <a:noFill/>
        </p:spPr>
        <p:txBody>
          <a:bodyPr wrap="square" anchor="ctr"/>
          <a:lstStyle/>
          <a:p>
            <a:pPr marL="0" indent="0">
              <a:buNone/>
            </a:pPr>
            <a:r>
              <a:rPr sz="1300" b="1">
                <a:solidFill>
                  <a:srgbClr val="1E2761"/>
                </a:solidFill>
                <a:latin typeface="Cambria"/>
                <a:ea typeface="Cambria"/>
                <a:cs typeface="Cambria"/>
              </a:rPr>
              <a:t>$9,500 – $13,700</a:t>
            </a:r>
            <a:endParaRPr sz="1300"/>
          </a:p>
        </p:txBody>
      </p:sp>
      <p:sp>
        <p:nvSpPr>
          <p:cNvPr id="11" name="Text 9">
            <a:extLst>
              <a:ext uri="{FF2B5EF4-FFF2-40B4-BE49-F238E27FC236}">
                <a16:creationId xmlns:a16="http://schemas.microsoft.com/office/drawing/2014/main" id="{9EEFAAD1-4A83-4342-9A84-6293B7C0C8E8}"/>
              </a:ext>
            </a:extLst>
          </p:cNvPr>
          <p:cNvSpPr>
            <a:spLocks noGrp="1"/>
          </p:cNvSpPr>
          <p:nvPr/>
        </p:nvSpPr>
        <p:spPr>
          <a:xfrm>
            <a:off x="822960" y="5166360"/>
            <a:ext cx="2249424" cy="228600"/>
          </a:xfrm>
          <a:prstGeom prst="rect">
            <a:avLst/>
          </a:prstGeom>
          <a:noFill/>
        </p:spPr>
        <p:txBody>
          <a:bodyPr wrap="square" anchor="ctr"/>
          <a:lstStyle/>
          <a:p>
            <a:pPr marL="0" indent="0">
              <a:buNone/>
            </a:pPr>
            <a:r>
              <a:rPr sz="900" b="1" spc="100">
                <a:solidFill>
                  <a:srgbClr val="6B7280"/>
                </a:solidFill>
                <a:latin typeface="Calibri"/>
                <a:ea typeface="Calibri"/>
                <a:cs typeface="Calibri"/>
              </a:rPr>
              <a:t>MONTHLY RENTAL</a:t>
            </a:r>
            <a:endParaRPr sz="900"/>
          </a:p>
        </p:txBody>
      </p:sp>
      <p:sp>
        <p:nvSpPr>
          <p:cNvPr id="12" name="Text 10">
            <a:extLst>
              <a:ext uri="{FF2B5EF4-FFF2-40B4-BE49-F238E27FC236}">
                <a16:creationId xmlns:a16="http://schemas.microsoft.com/office/drawing/2014/main" id="{82957CAE-2273-4B36-92D1-106EED9A0F41}"/>
              </a:ext>
            </a:extLst>
          </p:cNvPr>
          <p:cNvSpPr>
            <a:spLocks noGrp="1"/>
          </p:cNvSpPr>
          <p:nvPr/>
        </p:nvSpPr>
        <p:spPr>
          <a:xfrm>
            <a:off x="822960" y="5394960"/>
            <a:ext cx="2249424" cy="320040"/>
          </a:xfrm>
          <a:prstGeom prst="rect">
            <a:avLst/>
          </a:prstGeom>
          <a:noFill/>
        </p:spPr>
        <p:txBody>
          <a:bodyPr wrap="square" anchor="ctr"/>
          <a:lstStyle/>
          <a:p>
            <a:pPr marL="0" indent="0">
              <a:buNone/>
            </a:pPr>
            <a:r>
              <a:rPr sz="1300" b="1">
                <a:solidFill>
                  <a:srgbClr val="1E2761"/>
                </a:solidFill>
                <a:latin typeface="Cambria"/>
                <a:ea typeface="Cambria"/>
                <a:cs typeface="Cambria"/>
              </a:rPr>
              <a:t>$370 – $790 / mo</a:t>
            </a:r>
            <a:endParaRPr sz="1300"/>
          </a:p>
        </p:txBody>
      </p:sp>
      <p:sp>
        <p:nvSpPr>
          <p:cNvPr id="13" name="Shape 11">
            <a:extLst>
              <a:ext uri="{FF2B5EF4-FFF2-40B4-BE49-F238E27FC236}">
                <a16:creationId xmlns:a16="http://schemas.microsoft.com/office/drawing/2014/main" id="{42EF8E11-A853-4928-8BBB-AD4910D509C9}"/>
              </a:ext>
            </a:extLst>
          </p:cNvPr>
          <p:cNvSpPr>
            <a:spLocks noGrp="1"/>
          </p:cNvSpPr>
          <p:nvPr/>
        </p:nvSpPr>
        <p:spPr>
          <a:xfrm>
            <a:off x="3456432" y="1600200"/>
            <a:ext cx="2615184" cy="4251960"/>
          </a:xfrm>
          <a:prstGeom prst="roundRect">
            <a:avLst>
              <a:gd name="adj" fmla="val 2797"/>
            </a:avLst>
          </a:prstGeom>
          <a:solidFill>
            <a:srgbClr val="1E2761"/>
          </a:solidFill>
          <a:ln w="12700">
            <a:solidFill>
              <a:srgbClr val="1E2761"/>
            </a:solidFill>
            <a:prstDash val="solid"/>
          </a:ln>
          <a:effectLst>
            <a:outerShdw blurRad="101600" dist="25400" dir="5400000" algn="bl" rotWithShape="0">
              <a:srgbClr val="1E2761">
                <a:alpha val="30000"/>
              </a:srgbClr>
            </a:outerShdw>
          </a:effectLst>
        </p:spPr>
        <p:txBody>
          <a:bodyPr/>
          <a:lstStyle/>
          <a:p>
            <a:endParaRPr/>
          </a:p>
        </p:txBody>
      </p:sp>
      <p:sp>
        <p:nvSpPr>
          <p:cNvPr id="14" name="Shape 12">
            <a:extLst>
              <a:ext uri="{FF2B5EF4-FFF2-40B4-BE49-F238E27FC236}">
                <a16:creationId xmlns:a16="http://schemas.microsoft.com/office/drawing/2014/main" id="{E26D07F7-A047-4459-8284-E53A049E4C10}"/>
              </a:ext>
            </a:extLst>
          </p:cNvPr>
          <p:cNvSpPr>
            <a:spLocks noGrp="1"/>
          </p:cNvSpPr>
          <p:nvPr/>
        </p:nvSpPr>
        <p:spPr>
          <a:xfrm>
            <a:off x="3639312" y="1783080"/>
            <a:ext cx="2249424" cy="292608"/>
          </a:xfrm>
          <a:prstGeom prst="roundRect">
            <a:avLst>
              <a:gd name="adj" fmla="val 15625"/>
            </a:avLst>
          </a:prstGeom>
          <a:solidFill>
            <a:srgbClr val="E8A33D"/>
          </a:solidFill>
        </p:spPr>
        <p:txBody>
          <a:bodyPr/>
          <a:lstStyle/>
          <a:p>
            <a:endParaRPr/>
          </a:p>
        </p:txBody>
      </p:sp>
      <p:sp>
        <p:nvSpPr>
          <p:cNvPr id="15" name="Text 13">
            <a:extLst>
              <a:ext uri="{FF2B5EF4-FFF2-40B4-BE49-F238E27FC236}">
                <a16:creationId xmlns:a16="http://schemas.microsoft.com/office/drawing/2014/main" id="{135DBEA4-49E7-43ED-9C75-973C588C89FE}"/>
              </a:ext>
            </a:extLst>
          </p:cNvPr>
          <p:cNvSpPr>
            <a:spLocks noGrp="1"/>
          </p:cNvSpPr>
          <p:nvPr/>
        </p:nvSpPr>
        <p:spPr>
          <a:xfrm>
            <a:off x="3639312" y="1783080"/>
            <a:ext cx="2249424" cy="292608"/>
          </a:xfrm>
          <a:prstGeom prst="rect">
            <a:avLst/>
          </a:prstGeom>
          <a:noFill/>
        </p:spPr>
        <p:txBody>
          <a:bodyPr wrap="square" anchor="ctr"/>
          <a:lstStyle/>
          <a:p>
            <a:pPr marL="0" indent="0" algn="ctr">
              <a:buNone/>
            </a:pPr>
            <a:r>
              <a:rPr sz="950" b="1" spc="100">
                <a:solidFill>
                  <a:srgbClr val="1E2761"/>
                </a:solidFill>
                <a:latin typeface="Calibri"/>
                <a:ea typeface="Calibri"/>
                <a:cs typeface="Calibri"/>
              </a:rPr>
              <a:t>RECOMMENDED</a:t>
            </a:r>
            <a:endParaRPr sz="950"/>
          </a:p>
        </p:txBody>
      </p:sp>
      <p:sp>
        <p:nvSpPr>
          <p:cNvPr id="16" name="Text 14">
            <a:extLst>
              <a:ext uri="{FF2B5EF4-FFF2-40B4-BE49-F238E27FC236}">
                <a16:creationId xmlns:a16="http://schemas.microsoft.com/office/drawing/2014/main" id="{F1C6C92B-0ACC-4CC3-943A-F65841A95A80}"/>
              </a:ext>
            </a:extLst>
          </p:cNvPr>
          <p:cNvSpPr>
            <a:spLocks noGrp="1"/>
          </p:cNvSpPr>
          <p:nvPr/>
        </p:nvSpPr>
        <p:spPr>
          <a:xfrm>
            <a:off x="3639312" y="2167128"/>
            <a:ext cx="2249424" cy="365760"/>
          </a:xfrm>
          <a:prstGeom prst="rect">
            <a:avLst/>
          </a:prstGeom>
          <a:noFill/>
        </p:spPr>
        <p:txBody>
          <a:bodyPr wrap="square" anchor="ctr"/>
          <a:lstStyle/>
          <a:p>
            <a:pPr marL="0" indent="0">
              <a:buNone/>
            </a:pPr>
            <a:r>
              <a:rPr sz="1600" b="1">
                <a:solidFill>
                  <a:srgbClr val="FFFFFF"/>
                </a:solidFill>
                <a:latin typeface="Cambria"/>
                <a:ea typeface="Cambria"/>
                <a:cs typeface="Cambria"/>
              </a:rPr>
              <a:t>Option 2</a:t>
            </a:r>
            <a:endParaRPr sz="1600"/>
          </a:p>
        </p:txBody>
      </p:sp>
      <p:sp>
        <p:nvSpPr>
          <p:cNvPr id="17" name="Text 15">
            <a:extLst>
              <a:ext uri="{FF2B5EF4-FFF2-40B4-BE49-F238E27FC236}">
                <a16:creationId xmlns:a16="http://schemas.microsoft.com/office/drawing/2014/main" id="{020D02FB-FB8D-4527-9CF8-E9A751071F1A}"/>
              </a:ext>
            </a:extLst>
          </p:cNvPr>
          <p:cNvSpPr>
            <a:spLocks noGrp="1"/>
          </p:cNvSpPr>
          <p:nvPr/>
        </p:nvSpPr>
        <p:spPr>
          <a:xfrm>
            <a:off x="3639312" y="2532888"/>
            <a:ext cx="2249424" cy="502920"/>
          </a:xfrm>
          <a:prstGeom prst="rect">
            <a:avLst/>
          </a:prstGeom>
          <a:noFill/>
        </p:spPr>
        <p:txBody>
          <a:bodyPr wrap="square" anchor="ctr"/>
          <a:lstStyle/>
          <a:p>
            <a:pPr marL="0" indent="0">
              <a:buNone/>
            </a:pPr>
            <a:r>
              <a:rPr sz="1100" b="1">
                <a:solidFill>
                  <a:srgbClr val="CADCFC"/>
                </a:solidFill>
                <a:latin typeface="Calibri"/>
                <a:ea typeface="Calibri"/>
                <a:cs typeface="Calibri"/>
              </a:rPr>
              <a:t>2 × NVIDIA L4 24GB</a:t>
            </a:r>
            <a:endParaRPr sz="1100"/>
          </a:p>
        </p:txBody>
      </p:sp>
      <p:sp>
        <p:nvSpPr>
          <p:cNvPr id="18" name="Text 16">
            <a:extLst>
              <a:ext uri="{FF2B5EF4-FFF2-40B4-BE49-F238E27FC236}">
                <a16:creationId xmlns:a16="http://schemas.microsoft.com/office/drawing/2014/main" id="{FBFB17B3-36FC-4E04-9696-DE5BBE8E60C7}"/>
              </a:ext>
            </a:extLst>
          </p:cNvPr>
          <p:cNvSpPr>
            <a:spLocks noGrp="1"/>
          </p:cNvSpPr>
          <p:nvPr/>
        </p:nvSpPr>
        <p:spPr>
          <a:xfrm>
            <a:off x="3639312" y="3017520"/>
            <a:ext cx="2249424" cy="777240"/>
          </a:xfrm>
          <a:prstGeom prst="rect">
            <a:avLst/>
          </a:prstGeom>
          <a:noFill/>
        </p:spPr>
        <p:txBody>
          <a:bodyPr wrap="square" lIns="91440" tIns="45720" rIns="91440" bIns="45720" anchor="ctr"/>
          <a:lstStyle/>
          <a:p>
            <a:r>
              <a:rPr sz="1000" i="1">
                <a:solidFill>
                  <a:srgbClr val="CADCFC"/>
                </a:solidFill>
                <a:latin typeface="Calibri"/>
                <a:ea typeface="Calibri"/>
                <a:cs typeface="Calibri"/>
              </a:rPr>
              <a:t>35–70 concurrent employees</a:t>
            </a:r>
          </a:p>
          <a:p>
            <a:r>
              <a:rPr sz="1000" i="1">
                <a:solidFill>
                  <a:srgbClr val="CADCFC"/>
                </a:solidFill>
                <a:latin typeface="Calibri"/>
                <a:ea typeface="Calibri"/>
                <a:cs typeface="Calibri"/>
              </a:rPr>
              <a:t>1-minute interval, 4 screenshots per employee</a:t>
            </a:r>
          </a:p>
          <a:p>
            <a:pPr>
              <a:lnSpc>
                <a:spcPct val="120000"/>
              </a:lnSpc>
              <a:buNone/>
            </a:pPr>
            <a:r>
              <a:rPr sz="1000" i="1">
                <a:solidFill>
                  <a:srgbClr val="CADCFC"/>
                </a:solidFill>
                <a:latin typeface="Calibri"/>
                <a:ea typeface="Calibri"/>
                <a:cs typeface="Calibri"/>
              </a:rPr>
              <a:t>Recommended initial production setup</a:t>
            </a:r>
            <a:endParaRPr sz="1000" i="1"/>
          </a:p>
        </p:txBody>
      </p:sp>
      <p:sp>
        <p:nvSpPr>
          <p:cNvPr id="19" name="Shape 17">
            <a:extLst>
              <a:ext uri="{FF2B5EF4-FFF2-40B4-BE49-F238E27FC236}">
                <a16:creationId xmlns:a16="http://schemas.microsoft.com/office/drawing/2014/main" id="{E82BFF2B-8807-4639-8686-EE5AFE5248C6}"/>
              </a:ext>
            </a:extLst>
          </p:cNvPr>
          <p:cNvSpPr>
            <a:spLocks noGrp="1"/>
          </p:cNvSpPr>
          <p:nvPr/>
        </p:nvSpPr>
        <p:spPr>
          <a:xfrm>
            <a:off x="3639312" y="4434840"/>
            <a:ext cx="2249424" cy="0"/>
          </a:xfrm>
          <a:prstGeom prst="line">
            <a:avLst/>
          </a:prstGeom>
          <a:noFill/>
          <a:ln w="12700">
            <a:solidFill>
              <a:srgbClr val="3A4380"/>
            </a:solidFill>
            <a:prstDash val="solid"/>
          </a:ln>
        </p:spPr>
        <p:txBody>
          <a:bodyPr/>
          <a:lstStyle/>
          <a:p>
            <a:endParaRPr/>
          </a:p>
        </p:txBody>
      </p:sp>
      <p:sp>
        <p:nvSpPr>
          <p:cNvPr id="20" name="Text 18">
            <a:extLst>
              <a:ext uri="{FF2B5EF4-FFF2-40B4-BE49-F238E27FC236}">
                <a16:creationId xmlns:a16="http://schemas.microsoft.com/office/drawing/2014/main" id="{70775ACC-C157-42BA-9977-3B4FB0161B3D}"/>
              </a:ext>
            </a:extLst>
          </p:cNvPr>
          <p:cNvSpPr>
            <a:spLocks noGrp="1"/>
          </p:cNvSpPr>
          <p:nvPr/>
        </p:nvSpPr>
        <p:spPr>
          <a:xfrm>
            <a:off x="3639312" y="4572000"/>
            <a:ext cx="2249424" cy="228600"/>
          </a:xfrm>
          <a:prstGeom prst="rect">
            <a:avLst/>
          </a:prstGeom>
          <a:noFill/>
        </p:spPr>
        <p:txBody>
          <a:bodyPr wrap="square" anchor="ctr"/>
          <a:lstStyle/>
          <a:p>
            <a:pPr marL="0" indent="0">
              <a:buNone/>
            </a:pPr>
            <a:r>
              <a:rPr sz="900" b="1" spc="100">
                <a:solidFill>
                  <a:srgbClr val="E8A33D"/>
                </a:solidFill>
                <a:latin typeface="Calibri"/>
                <a:ea typeface="Calibri"/>
                <a:cs typeface="Calibri"/>
              </a:rPr>
              <a:t>PURCHASE</a:t>
            </a:r>
            <a:endParaRPr sz="900"/>
          </a:p>
        </p:txBody>
      </p:sp>
      <p:sp>
        <p:nvSpPr>
          <p:cNvPr id="21" name="Text 19">
            <a:extLst>
              <a:ext uri="{FF2B5EF4-FFF2-40B4-BE49-F238E27FC236}">
                <a16:creationId xmlns:a16="http://schemas.microsoft.com/office/drawing/2014/main" id="{A544E5C6-95A4-4E6F-9E49-D753C18D1183}"/>
              </a:ext>
            </a:extLst>
          </p:cNvPr>
          <p:cNvSpPr>
            <a:spLocks noGrp="1"/>
          </p:cNvSpPr>
          <p:nvPr/>
        </p:nvSpPr>
        <p:spPr>
          <a:xfrm>
            <a:off x="3639312" y="4800600"/>
            <a:ext cx="2249424" cy="320040"/>
          </a:xfrm>
          <a:prstGeom prst="rect">
            <a:avLst/>
          </a:prstGeom>
          <a:noFill/>
        </p:spPr>
        <p:txBody>
          <a:bodyPr wrap="square" anchor="ctr"/>
          <a:lstStyle/>
          <a:p>
            <a:pPr marL="0" indent="0">
              <a:buNone/>
            </a:pPr>
            <a:r>
              <a:rPr sz="1300" b="1">
                <a:solidFill>
                  <a:srgbClr val="FFFFFF"/>
                </a:solidFill>
                <a:latin typeface="Cambria"/>
                <a:ea typeface="Cambria"/>
                <a:cs typeface="Cambria"/>
              </a:rPr>
              <a:t>$15,800 – $23,200</a:t>
            </a:r>
            <a:endParaRPr sz="1300"/>
          </a:p>
        </p:txBody>
      </p:sp>
      <p:sp>
        <p:nvSpPr>
          <p:cNvPr id="22" name="Text 20">
            <a:extLst>
              <a:ext uri="{FF2B5EF4-FFF2-40B4-BE49-F238E27FC236}">
                <a16:creationId xmlns:a16="http://schemas.microsoft.com/office/drawing/2014/main" id="{D362BAED-CBC9-473D-84D1-75A8F188CDD2}"/>
              </a:ext>
            </a:extLst>
          </p:cNvPr>
          <p:cNvSpPr>
            <a:spLocks noGrp="1"/>
          </p:cNvSpPr>
          <p:nvPr/>
        </p:nvSpPr>
        <p:spPr>
          <a:xfrm>
            <a:off x="3639312" y="5166360"/>
            <a:ext cx="2249424" cy="228600"/>
          </a:xfrm>
          <a:prstGeom prst="rect">
            <a:avLst/>
          </a:prstGeom>
          <a:noFill/>
        </p:spPr>
        <p:txBody>
          <a:bodyPr wrap="square" anchor="ctr"/>
          <a:lstStyle/>
          <a:p>
            <a:pPr marL="0" indent="0">
              <a:buNone/>
            </a:pPr>
            <a:r>
              <a:rPr sz="900" b="1" spc="100">
                <a:solidFill>
                  <a:srgbClr val="E8A33D"/>
                </a:solidFill>
                <a:latin typeface="Calibri"/>
                <a:ea typeface="Calibri"/>
                <a:cs typeface="Calibri"/>
              </a:rPr>
              <a:t>MONTHLY RENTAL</a:t>
            </a:r>
            <a:endParaRPr sz="900"/>
          </a:p>
        </p:txBody>
      </p:sp>
      <p:sp>
        <p:nvSpPr>
          <p:cNvPr id="23" name="Text 21">
            <a:extLst>
              <a:ext uri="{FF2B5EF4-FFF2-40B4-BE49-F238E27FC236}">
                <a16:creationId xmlns:a16="http://schemas.microsoft.com/office/drawing/2014/main" id="{5BCE6A08-FC8A-4A69-934E-35D74C0C2757}"/>
              </a:ext>
            </a:extLst>
          </p:cNvPr>
          <p:cNvSpPr>
            <a:spLocks noGrp="1"/>
          </p:cNvSpPr>
          <p:nvPr/>
        </p:nvSpPr>
        <p:spPr>
          <a:xfrm>
            <a:off x="3639312" y="5394960"/>
            <a:ext cx="2249424" cy="320040"/>
          </a:xfrm>
          <a:prstGeom prst="rect">
            <a:avLst/>
          </a:prstGeom>
          <a:noFill/>
        </p:spPr>
        <p:txBody>
          <a:bodyPr wrap="square" anchor="ctr"/>
          <a:lstStyle/>
          <a:p>
            <a:pPr marL="0" indent="0">
              <a:buNone/>
            </a:pPr>
            <a:r>
              <a:rPr sz="1300" b="1">
                <a:solidFill>
                  <a:srgbClr val="FFFFFF"/>
                </a:solidFill>
                <a:latin typeface="Cambria"/>
                <a:ea typeface="Cambria"/>
                <a:cs typeface="Cambria"/>
              </a:rPr>
              <a:t>$630 – $1,580 / mo</a:t>
            </a:r>
            <a:endParaRPr sz="1300"/>
          </a:p>
        </p:txBody>
      </p:sp>
      <p:sp>
        <p:nvSpPr>
          <p:cNvPr id="24" name="Shape 22">
            <a:extLst>
              <a:ext uri="{FF2B5EF4-FFF2-40B4-BE49-F238E27FC236}">
                <a16:creationId xmlns:a16="http://schemas.microsoft.com/office/drawing/2014/main" id="{3D014D07-15F8-4324-B85A-8E97CF1E974A}"/>
              </a:ext>
            </a:extLst>
          </p:cNvPr>
          <p:cNvSpPr>
            <a:spLocks noGrp="1"/>
          </p:cNvSpPr>
          <p:nvPr/>
        </p:nvSpPr>
        <p:spPr>
          <a:xfrm>
            <a:off x="6272784" y="1600200"/>
            <a:ext cx="2615184" cy="4251960"/>
          </a:xfrm>
          <a:prstGeom prst="roundRect">
            <a:avLst>
              <a:gd name="adj" fmla="val 2797"/>
            </a:avLst>
          </a:prstGeom>
          <a:solidFill>
            <a:srgbClr val="F4F7FC"/>
          </a:solidFill>
          <a:ln w="12700">
            <a:solidFill>
              <a:srgbClr val="DCE3F0"/>
            </a:solidFill>
            <a:prstDash val="solid"/>
          </a:ln>
        </p:spPr>
        <p:txBody>
          <a:bodyPr/>
          <a:lstStyle/>
          <a:p>
            <a:endParaRPr/>
          </a:p>
        </p:txBody>
      </p:sp>
      <p:sp>
        <p:nvSpPr>
          <p:cNvPr id="25" name="Text 23">
            <a:extLst>
              <a:ext uri="{FF2B5EF4-FFF2-40B4-BE49-F238E27FC236}">
                <a16:creationId xmlns:a16="http://schemas.microsoft.com/office/drawing/2014/main" id="{99FED09B-621C-4F62-ACDD-B0CC277EF9BA}"/>
              </a:ext>
            </a:extLst>
          </p:cNvPr>
          <p:cNvSpPr>
            <a:spLocks noGrp="1"/>
          </p:cNvSpPr>
          <p:nvPr/>
        </p:nvSpPr>
        <p:spPr>
          <a:xfrm>
            <a:off x="6455664" y="1828800"/>
            <a:ext cx="2249424" cy="365760"/>
          </a:xfrm>
          <a:prstGeom prst="rect">
            <a:avLst/>
          </a:prstGeom>
          <a:noFill/>
        </p:spPr>
        <p:txBody>
          <a:bodyPr wrap="square" anchor="ctr"/>
          <a:lstStyle/>
          <a:p>
            <a:pPr marL="0" indent="0">
              <a:buNone/>
            </a:pPr>
            <a:r>
              <a:rPr sz="1600" b="1">
                <a:solidFill>
                  <a:srgbClr val="1E2761"/>
                </a:solidFill>
                <a:latin typeface="Cambria"/>
                <a:ea typeface="Cambria"/>
                <a:cs typeface="Cambria"/>
              </a:rPr>
              <a:t>Option 3</a:t>
            </a:r>
            <a:endParaRPr sz="1600"/>
          </a:p>
        </p:txBody>
      </p:sp>
      <p:sp>
        <p:nvSpPr>
          <p:cNvPr id="26" name="Text 24">
            <a:extLst>
              <a:ext uri="{FF2B5EF4-FFF2-40B4-BE49-F238E27FC236}">
                <a16:creationId xmlns:a16="http://schemas.microsoft.com/office/drawing/2014/main" id="{F09ADF49-04E2-4804-8679-F8CE79E3497F}"/>
              </a:ext>
            </a:extLst>
          </p:cNvPr>
          <p:cNvSpPr>
            <a:spLocks noGrp="1"/>
          </p:cNvSpPr>
          <p:nvPr/>
        </p:nvSpPr>
        <p:spPr>
          <a:xfrm>
            <a:off x="6455664" y="2194560"/>
            <a:ext cx="2249424" cy="502920"/>
          </a:xfrm>
          <a:prstGeom prst="rect">
            <a:avLst/>
          </a:prstGeom>
          <a:noFill/>
        </p:spPr>
        <p:txBody>
          <a:bodyPr wrap="square" anchor="ctr"/>
          <a:lstStyle/>
          <a:p>
            <a:pPr marL="0" indent="0">
              <a:buNone/>
            </a:pPr>
            <a:r>
              <a:rPr sz="1100" b="1">
                <a:solidFill>
                  <a:srgbClr val="2B2E43"/>
                </a:solidFill>
                <a:latin typeface="Calibri"/>
                <a:ea typeface="Calibri"/>
                <a:cs typeface="Calibri"/>
              </a:rPr>
              <a:t>2 × NVIDIA L40S 48GB</a:t>
            </a:r>
            <a:endParaRPr sz="1100"/>
          </a:p>
        </p:txBody>
      </p:sp>
      <p:sp>
        <p:nvSpPr>
          <p:cNvPr id="27" name="Text 25">
            <a:extLst>
              <a:ext uri="{FF2B5EF4-FFF2-40B4-BE49-F238E27FC236}">
                <a16:creationId xmlns:a16="http://schemas.microsoft.com/office/drawing/2014/main" id="{EDEA6F45-212A-4BA2-AC71-16B9A024EB04}"/>
              </a:ext>
            </a:extLst>
          </p:cNvPr>
          <p:cNvSpPr>
            <a:spLocks noGrp="1"/>
          </p:cNvSpPr>
          <p:nvPr/>
        </p:nvSpPr>
        <p:spPr>
          <a:xfrm>
            <a:off x="6455664" y="2679192"/>
            <a:ext cx="2249424" cy="777240"/>
          </a:xfrm>
          <a:prstGeom prst="rect">
            <a:avLst/>
          </a:prstGeom>
          <a:noFill/>
        </p:spPr>
        <p:txBody>
          <a:bodyPr wrap="square" lIns="91440" tIns="45720" rIns="91440" bIns="45720" anchor="ctr"/>
          <a:lstStyle/>
          <a:p>
            <a:r>
              <a:rPr sz="1000" i="1">
                <a:solidFill>
                  <a:srgbClr val="6B7280"/>
                </a:solidFill>
                <a:latin typeface="Calibri"/>
                <a:ea typeface="Calibri"/>
                <a:cs typeface="Calibri"/>
              </a:rPr>
              <a:t>120–200 concurrent employees</a:t>
            </a:r>
          </a:p>
          <a:p>
            <a:r>
              <a:rPr sz="1000" i="1">
                <a:solidFill>
                  <a:srgbClr val="6B7280"/>
                </a:solidFill>
                <a:latin typeface="Calibri"/>
                <a:ea typeface="Calibri"/>
                <a:cs typeface="Calibri"/>
              </a:rPr>
              <a:t>1-minute interval, 4 screenshots per employee</a:t>
            </a:r>
          </a:p>
          <a:p>
            <a:pPr>
              <a:lnSpc>
                <a:spcPct val="120000"/>
              </a:lnSpc>
              <a:buNone/>
            </a:pPr>
            <a:r>
              <a:rPr sz="1000" i="1">
                <a:solidFill>
                  <a:srgbClr val="6B7280"/>
                </a:solidFill>
                <a:latin typeface="Calibri"/>
                <a:ea typeface="Calibri"/>
                <a:cs typeface="Calibri"/>
              </a:rPr>
              <a:t>Higher-capacity production and growth</a:t>
            </a:r>
            <a:br/>
            <a:endParaRPr sz="1000" i="1">
              <a:solidFill>
                <a:srgbClr val="6B7280"/>
              </a:solidFill>
            </a:endParaRPr>
          </a:p>
        </p:txBody>
      </p:sp>
      <p:sp>
        <p:nvSpPr>
          <p:cNvPr id="28" name="Shape 26">
            <a:extLst>
              <a:ext uri="{FF2B5EF4-FFF2-40B4-BE49-F238E27FC236}">
                <a16:creationId xmlns:a16="http://schemas.microsoft.com/office/drawing/2014/main" id="{13D1F091-7341-4937-B656-DF3EEC60EA06}"/>
              </a:ext>
            </a:extLst>
          </p:cNvPr>
          <p:cNvSpPr>
            <a:spLocks noGrp="1"/>
          </p:cNvSpPr>
          <p:nvPr/>
        </p:nvSpPr>
        <p:spPr>
          <a:xfrm>
            <a:off x="6455664" y="4434840"/>
            <a:ext cx="2249424" cy="0"/>
          </a:xfrm>
          <a:prstGeom prst="line">
            <a:avLst/>
          </a:prstGeom>
          <a:noFill/>
          <a:ln w="12700">
            <a:solidFill>
              <a:srgbClr val="DCE3F0"/>
            </a:solidFill>
            <a:prstDash val="solid"/>
          </a:ln>
        </p:spPr>
        <p:txBody>
          <a:bodyPr/>
          <a:lstStyle/>
          <a:p>
            <a:endParaRPr/>
          </a:p>
        </p:txBody>
      </p:sp>
      <p:sp>
        <p:nvSpPr>
          <p:cNvPr id="29" name="Text 27">
            <a:extLst>
              <a:ext uri="{FF2B5EF4-FFF2-40B4-BE49-F238E27FC236}">
                <a16:creationId xmlns:a16="http://schemas.microsoft.com/office/drawing/2014/main" id="{79765E54-1CC1-46B1-B4F5-3E1193EAC3A8}"/>
              </a:ext>
            </a:extLst>
          </p:cNvPr>
          <p:cNvSpPr>
            <a:spLocks noGrp="1"/>
          </p:cNvSpPr>
          <p:nvPr/>
        </p:nvSpPr>
        <p:spPr>
          <a:xfrm>
            <a:off x="6455664" y="4572000"/>
            <a:ext cx="2249424" cy="228600"/>
          </a:xfrm>
          <a:prstGeom prst="rect">
            <a:avLst/>
          </a:prstGeom>
          <a:noFill/>
        </p:spPr>
        <p:txBody>
          <a:bodyPr wrap="square" anchor="ctr"/>
          <a:lstStyle/>
          <a:p>
            <a:pPr marL="0" indent="0">
              <a:buNone/>
            </a:pPr>
            <a:r>
              <a:rPr sz="900" b="1" spc="100">
                <a:solidFill>
                  <a:srgbClr val="6B7280"/>
                </a:solidFill>
                <a:latin typeface="Calibri"/>
                <a:ea typeface="Calibri"/>
                <a:cs typeface="Calibri"/>
              </a:rPr>
              <a:t>PURCHASE</a:t>
            </a:r>
            <a:endParaRPr sz="900"/>
          </a:p>
        </p:txBody>
      </p:sp>
      <p:sp>
        <p:nvSpPr>
          <p:cNvPr id="30" name="Text 28">
            <a:extLst>
              <a:ext uri="{FF2B5EF4-FFF2-40B4-BE49-F238E27FC236}">
                <a16:creationId xmlns:a16="http://schemas.microsoft.com/office/drawing/2014/main" id="{762AD961-2B4B-4A57-BD94-F18A97C6B0B6}"/>
              </a:ext>
            </a:extLst>
          </p:cNvPr>
          <p:cNvSpPr>
            <a:spLocks noGrp="1"/>
          </p:cNvSpPr>
          <p:nvPr/>
        </p:nvSpPr>
        <p:spPr>
          <a:xfrm>
            <a:off x="6455664" y="4800600"/>
            <a:ext cx="2249424" cy="320040"/>
          </a:xfrm>
          <a:prstGeom prst="rect">
            <a:avLst/>
          </a:prstGeom>
          <a:noFill/>
        </p:spPr>
        <p:txBody>
          <a:bodyPr wrap="square" anchor="ctr"/>
          <a:lstStyle/>
          <a:p>
            <a:pPr marL="0" indent="0">
              <a:buNone/>
            </a:pPr>
            <a:r>
              <a:rPr sz="1300" b="1">
                <a:solidFill>
                  <a:srgbClr val="1E2761"/>
                </a:solidFill>
                <a:latin typeface="Cambria"/>
                <a:ea typeface="Cambria"/>
                <a:cs typeface="Cambria"/>
              </a:rPr>
              <a:t>$29,500 – $44,200</a:t>
            </a:r>
            <a:endParaRPr sz="1300"/>
          </a:p>
        </p:txBody>
      </p:sp>
      <p:sp>
        <p:nvSpPr>
          <p:cNvPr id="31" name="Text 29">
            <a:extLst>
              <a:ext uri="{FF2B5EF4-FFF2-40B4-BE49-F238E27FC236}">
                <a16:creationId xmlns:a16="http://schemas.microsoft.com/office/drawing/2014/main" id="{70F00B4B-09BA-46D9-8B41-C4342220D94A}"/>
              </a:ext>
            </a:extLst>
          </p:cNvPr>
          <p:cNvSpPr>
            <a:spLocks noGrp="1"/>
          </p:cNvSpPr>
          <p:nvPr/>
        </p:nvSpPr>
        <p:spPr>
          <a:xfrm>
            <a:off x="6455664" y="5166360"/>
            <a:ext cx="2249424" cy="228600"/>
          </a:xfrm>
          <a:prstGeom prst="rect">
            <a:avLst/>
          </a:prstGeom>
          <a:noFill/>
        </p:spPr>
        <p:txBody>
          <a:bodyPr wrap="square" anchor="ctr"/>
          <a:lstStyle/>
          <a:p>
            <a:pPr marL="0" indent="0">
              <a:buNone/>
            </a:pPr>
            <a:r>
              <a:rPr sz="900" b="1" spc="100">
                <a:solidFill>
                  <a:srgbClr val="6B7280"/>
                </a:solidFill>
                <a:latin typeface="Calibri"/>
                <a:ea typeface="Calibri"/>
                <a:cs typeface="Calibri"/>
              </a:rPr>
              <a:t>MONTHLY RENTAL</a:t>
            </a:r>
            <a:endParaRPr sz="900"/>
          </a:p>
        </p:txBody>
      </p:sp>
      <p:sp>
        <p:nvSpPr>
          <p:cNvPr id="32" name="Text 30">
            <a:extLst>
              <a:ext uri="{FF2B5EF4-FFF2-40B4-BE49-F238E27FC236}">
                <a16:creationId xmlns:a16="http://schemas.microsoft.com/office/drawing/2014/main" id="{4F533302-68D6-4B26-B60E-EB418AFC2286}"/>
              </a:ext>
            </a:extLst>
          </p:cNvPr>
          <p:cNvSpPr>
            <a:spLocks noGrp="1"/>
          </p:cNvSpPr>
          <p:nvPr/>
        </p:nvSpPr>
        <p:spPr>
          <a:xfrm>
            <a:off x="6455664" y="5394960"/>
            <a:ext cx="2249424" cy="320040"/>
          </a:xfrm>
          <a:prstGeom prst="rect">
            <a:avLst/>
          </a:prstGeom>
          <a:noFill/>
        </p:spPr>
        <p:txBody>
          <a:bodyPr wrap="square" anchor="ctr"/>
          <a:lstStyle/>
          <a:p>
            <a:pPr marL="0" indent="0">
              <a:buNone/>
            </a:pPr>
            <a:r>
              <a:rPr sz="1300" b="1">
                <a:solidFill>
                  <a:srgbClr val="1E2761"/>
                </a:solidFill>
                <a:latin typeface="Cambria"/>
                <a:ea typeface="Cambria"/>
                <a:cs typeface="Cambria"/>
              </a:rPr>
              <a:t>$1,580 – $3,160 / mo</a:t>
            </a:r>
            <a:endParaRPr sz="1300"/>
          </a:p>
        </p:txBody>
      </p:sp>
      <p:sp>
        <p:nvSpPr>
          <p:cNvPr id="33" name="Shape 31">
            <a:extLst>
              <a:ext uri="{FF2B5EF4-FFF2-40B4-BE49-F238E27FC236}">
                <a16:creationId xmlns:a16="http://schemas.microsoft.com/office/drawing/2014/main" id="{65BAE5DB-650B-437F-AB71-23C4570A1F33}"/>
              </a:ext>
            </a:extLst>
          </p:cNvPr>
          <p:cNvSpPr>
            <a:spLocks noGrp="1"/>
          </p:cNvSpPr>
          <p:nvPr/>
        </p:nvSpPr>
        <p:spPr>
          <a:xfrm>
            <a:off x="9089136" y="1600200"/>
            <a:ext cx="2615184" cy="4251960"/>
          </a:xfrm>
          <a:prstGeom prst="roundRect">
            <a:avLst>
              <a:gd name="adj" fmla="val 2797"/>
            </a:avLst>
          </a:prstGeom>
          <a:solidFill>
            <a:srgbClr val="F4F7FC"/>
          </a:solidFill>
          <a:ln w="12700">
            <a:solidFill>
              <a:srgbClr val="DCE3F0"/>
            </a:solidFill>
            <a:prstDash val="solid"/>
          </a:ln>
        </p:spPr>
        <p:txBody>
          <a:bodyPr/>
          <a:lstStyle/>
          <a:p>
            <a:endParaRPr/>
          </a:p>
        </p:txBody>
      </p:sp>
      <p:sp>
        <p:nvSpPr>
          <p:cNvPr id="34" name="Text 32">
            <a:extLst>
              <a:ext uri="{FF2B5EF4-FFF2-40B4-BE49-F238E27FC236}">
                <a16:creationId xmlns:a16="http://schemas.microsoft.com/office/drawing/2014/main" id="{725D788A-7AC6-4081-9370-356438213979}"/>
              </a:ext>
            </a:extLst>
          </p:cNvPr>
          <p:cNvSpPr>
            <a:spLocks noGrp="1"/>
          </p:cNvSpPr>
          <p:nvPr/>
        </p:nvSpPr>
        <p:spPr>
          <a:xfrm>
            <a:off x="9272016" y="1828800"/>
            <a:ext cx="2249424" cy="365760"/>
          </a:xfrm>
          <a:prstGeom prst="rect">
            <a:avLst/>
          </a:prstGeom>
          <a:noFill/>
        </p:spPr>
        <p:txBody>
          <a:bodyPr wrap="square" anchor="ctr"/>
          <a:lstStyle/>
          <a:p>
            <a:pPr marL="0" indent="0">
              <a:buNone/>
            </a:pPr>
            <a:r>
              <a:rPr sz="1600" b="1">
                <a:solidFill>
                  <a:srgbClr val="1E2761"/>
                </a:solidFill>
                <a:latin typeface="Cambria"/>
                <a:ea typeface="Cambria"/>
                <a:cs typeface="Cambria"/>
              </a:rPr>
              <a:t>Option 4</a:t>
            </a:r>
            <a:endParaRPr sz="1600"/>
          </a:p>
        </p:txBody>
      </p:sp>
      <p:sp>
        <p:nvSpPr>
          <p:cNvPr id="35" name="Text 33">
            <a:extLst>
              <a:ext uri="{FF2B5EF4-FFF2-40B4-BE49-F238E27FC236}">
                <a16:creationId xmlns:a16="http://schemas.microsoft.com/office/drawing/2014/main" id="{59F7C79A-3114-4211-BCA3-7D96C82355ED}"/>
              </a:ext>
            </a:extLst>
          </p:cNvPr>
          <p:cNvSpPr>
            <a:spLocks noGrp="1"/>
          </p:cNvSpPr>
          <p:nvPr/>
        </p:nvSpPr>
        <p:spPr>
          <a:xfrm>
            <a:off x="9272016" y="2194560"/>
            <a:ext cx="2249424" cy="502920"/>
          </a:xfrm>
          <a:prstGeom prst="rect">
            <a:avLst/>
          </a:prstGeom>
          <a:noFill/>
        </p:spPr>
        <p:txBody>
          <a:bodyPr wrap="square" anchor="ctr"/>
          <a:lstStyle/>
          <a:p>
            <a:pPr marL="0" indent="0">
              <a:buNone/>
            </a:pPr>
            <a:r>
              <a:rPr sz="1100" b="1">
                <a:solidFill>
                  <a:srgbClr val="2B2E43"/>
                </a:solidFill>
                <a:latin typeface="Calibri"/>
                <a:ea typeface="Calibri"/>
                <a:cs typeface="Calibri"/>
              </a:rPr>
              <a:t>2 × AMD Radeon PRO W7900 48GB</a:t>
            </a:r>
            <a:endParaRPr sz="1100"/>
          </a:p>
        </p:txBody>
      </p:sp>
      <p:sp>
        <p:nvSpPr>
          <p:cNvPr id="36" name="Text 34">
            <a:extLst>
              <a:ext uri="{FF2B5EF4-FFF2-40B4-BE49-F238E27FC236}">
                <a16:creationId xmlns:a16="http://schemas.microsoft.com/office/drawing/2014/main" id="{284282FC-C776-4249-92E4-C806FEE44AC3}"/>
              </a:ext>
            </a:extLst>
          </p:cNvPr>
          <p:cNvSpPr>
            <a:spLocks noGrp="1"/>
          </p:cNvSpPr>
          <p:nvPr/>
        </p:nvSpPr>
        <p:spPr>
          <a:xfrm>
            <a:off x="9272016" y="2679192"/>
            <a:ext cx="2249424" cy="777240"/>
          </a:xfrm>
          <a:prstGeom prst="rect">
            <a:avLst/>
          </a:prstGeom>
          <a:noFill/>
        </p:spPr>
        <p:txBody>
          <a:bodyPr wrap="square" lIns="91440" tIns="45720" rIns="91440" bIns="45720" anchor="ctr"/>
          <a:lstStyle/>
          <a:p>
            <a:r>
              <a:rPr sz="1000" i="1">
                <a:solidFill>
                  <a:srgbClr val="6B7280"/>
                </a:solidFill>
                <a:latin typeface="Calibri"/>
                <a:ea typeface="Calibri"/>
                <a:cs typeface="Calibri"/>
              </a:rPr>
              <a:t>80–150 concurrent employees</a:t>
            </a:r>
          </a:p>
          <a:p>
            <a:r>
              <a:rPr sz="1000" i="1">
                <a:solidFill>
                  <a:srgbClr val="6B7280"/>
                </a:solidFill>
                <a:latin typeface="Calibri"/>
                <a:ea typeface="Calibri"/>
                <a:cs typeface="Calibri"/>
              </a:rPr>
              <a:t>1-minute interval, 4 screenshots per employee</a:t>
            </a:r>
          </a:p>
          <a:p>
            <a:pPr>
              <a:lnSpc>
                <a:spcPct val="120000"/>
              </a:lnSpc>
              <a:buNone/>
            </a:pPr>
            <a:r>
              <a:rPr sz="1000" i="1">
                <a:solidFill>
                  <a:srgbClr val="6B7280"/>
                </a:solidFill>
                <a:latin typeface="Calibri"/>
                <a:ea typeface="Calibri"/>
                <a:cs typeface="Calibri"/>
              </a:rPr>
              <a:t>AMD alternative after ROCm validation</a:t>
            </a:r>
            <a:br/>
            <a:endParaRPr sz="1000">
              <a:solidFill>
                <a:srgbClr val="000000"/>
              </a:solidFill>
              <a:latin typeface="Calibri"/>
              <a:ea typeface="Calibri"/>
              <a:cs typeface="Calibri"/>
            </a:endParaRPr>
          </a:p>
        </p:txBody>
      </p:sp>
      <p:sp>
        <p:nvSpPr>
          <p:cNvPr id="37" name="Shape 35">
            <a:extLst>
              <a:ext uri="{FF2B5EF4-FFF2-40B4-BE49-F238E27FC236}">
                <a16:creationId xmlns:a16="http://schemas.microsoft.com/office/drawing/2014/main" id="{9C6345F7-131A-4E0D-850E-ECB5A2AE8A68}"/>
              </a:ext>
            </a:extLst>
          </p:cNvPr>
          <p:cNvSpPr>
            <a:spLocks noGrp="1"/>
          </p:cNvSpPr>
          <p:nvPr/>
        </p:nvSpPr>
        <p:spPr>
          <a:xfrm>
            <a:off x="9272016" y="4434840"/>
            <a:ext cx="2249424" cy="0"/>
          </a:xfrm>
          <a:prstGeom prst="line">
            <a:avLst/>
          </a:prstGeom>
          <a:noFill/>
          <a:ln w="12700">
            <a:solidFill>
              <a:srgbClr val="DCE3F0"/>
            </a:solidFill>
            <a:prstDash val="solid"/>
          </a:ln>
        </p:spPr>
        <p:txBody>
          <a:bodyPr/>
          <a:lstStyle/>
          <a:p>
            <a:endParaRPr/>
          </a:p>
        </p:txBody>
      </p:sp>
      <p:sp>
        <p:nvSpPr>
          <p:cNvPr id="38" name="Text 36">
            <a:extLst>
              <a:ext uri="{FF2B5EF4-FFF2-40B4-BE49-F238E27FC236}">
                <a16:creationId xmlns:a16="http://schemas.microsoft.com/office/drawing/2014/main" id="{5627FE48-DA13-4099-890E-537DAEB4315E}"/>
              </a:ext>
            </a:extLst>
          </p:cNvPr>
          <p:cNvSpPr>
            <a:spLocks noGrp="1"/>
          </p:cNvSpPr>
          <p:nvPr/>
        </p:nvSpPr>
        <p:spPr>
          <a:xfrm>
            <a:off x="9272016" y="4572000"/>
            <a:ext cx="2249424" cy="228600"/>
          </a:xfrm>
          <a:prstGeom prst="rect">
            <a:avLst/>
          </a:prstGeom>
          <a:noFill/>
        </p:spPr>
        <p:txBody>
          <a:bodyPr wrap="square" anchor="ctr"/>
          <a:lstStyle/>
          <a:p>
            <a:pPr marL="0" indent="0">
              <a:buNone/>
            </a:pPr>
            <a:r>
              <a:rPr sz="900" b="1" spc="100">
                <a:solidFill>
                  <a:srgbClr val="6B7280"/>
                </a:solidFill>
                <a:latin typeface="Calibri"/>
                <a:ea typeface="Calibri"/>
                <a:cs typeface="Calibri"/>
              </a:rPr>
              <a:t>PURCHASE</a:t>
            </a:r>
            <a:endParaRPr sz="900"/>
          </a:p>
        </p:txBody>
      </p:sp>
      <p:sp>
        <p:nvSpPr>
          <p:cNvPr id="39" name="Text 37">
            <a:extLst>
              <a:ext uri="{FF2B5EF4-FFF2-40B4-BE49-F238E27FC236}">
                <a16:creationId xmlns:a16="http://schemas.microsoft.com/office/drawing/2014/main" id="{D1430FEC-A690-4B2A-B9E7-840DC7710B38}"/>
              </a:ext>
            </a:extLst>
          </p:cNvPr>
          <p:cNvSpPr>
            <a:spLocks noGrp="1"/>
          </p:cNvSpPr>
          <p:nvPr/>
        </p:nvSpPr>
        <p:spPr>
          <a:xfrm>
            <a:off x="9272016" y="4800600"/>
            <a:ext cx="2249424" cy="320040"/>
          </a:xfrm>
          <a:prstGeom prst="rect">
            <a:avLst/>
          </a:prstGeom>
          <a:noFill/>
        </p:spPr>
        <p:txBody>
          <a:bodyPr wrap="square" anchor="ctr"/>
          <a:lstStyle/>
          <a:p>
            <a:pPr marL="0" indent="0">
              <a:buNone/>
            </a:pPr>
            <a:r>
              <a:rPr sz="1300" b="1">
                <a:solidFill>
                  <a:srgbClr val="1E2761"/>
                </a:solidFill>
                <a:latin typeface="Cambria"/>
                <a:ea typeface="Cambria"/>
                <a:cs typeface="Cambria"/>
              </a:rPr>
              <a:t>$13,700 – $18,900</a:t>
            </a:r>
            <a:endParaRPr sz="1300"/>
          </a:p>
        </p:txBody>
      </p:sp>
      <p:sp>
        <p:nvSpPr>
          <p:cNvPr id="40" name="Text 38">
            <a:extLst>
              <a:ext uri="{FF2B5EF4-FFF2-40B4-BE49-F238E27FC236}">
                <a16:creationId xmlns:a16="http://schemas.microsoft.com/office/drawing/2014/main" id="{FA1E2274-5BB8-4DC9-957B-45F3FE4D6BEE}"/>
              </a:ext>
            </a:extLst>
          </p:cNvPr>
          <p:cNvSpPr>
            <a:spLocks noGrp="1"/>
          </p:cNvSpPr>
          <p:nvPr/>
        </p:nvSpPr>
        <p:spPr>
          <a:xfrm>
            <a:off x="9272016" y="5166360"/>
            <a:ext cx="2249424" cy="228600"/>
          </a:xfrm>
          <a:prstGeom prst="rect">
            <a:avLst/>
          </a:prstGeom>
          <a:noFill/>
        </p:spPr>
        <p:txBody>
          <a:bodyPr wrap="square" anchor="ctr"/>
          <a:lstStyle/>
          <a:p>
            <a:pPr marL="0" indent="0">
              <a:buNone/>
            </a:pPr>
            <a:r>
              <a:rPr sz="900" b="1" spc="100">
                <a:solidFill>
                  <a:srgbClr val="6B7280"/>
                </a:solidFill>
                <a:latin typeface="Calibri"/>
                <a:ea typeface="Calibri"/>
                <a:cs typeface="Calibri"/>
              </a:rPr>
              <a:t>MONTHLY RENTAL</a:t>
            </a:r>
            <a:endParaRPr sz="900"/>
          </a:p>
        </p:txBody>
      </p:sp>
      <p:sp>
        <p:nvSpPr>
          <p:cNvPr id="41" name="Text 39">
            <a:extLst>
              <a:ext uri="{FF2B5EF4-FFF2-40B4-BE49-F238E27FC236}">
                <a16:creationId xmlns:a16="http://schemas.microsoft.com/office/drawing/2014/main" id="{6BB3EBF0-7C4E-4640-9FAF-30F33429C05A}"/>
              </a:ext>
            </a:extLst>
          </p:cNvPr>
          <p:cNvSpPr>
            <a:spLocks noGrp="1"/>
          </p:cNvSpPr>
          <p:nvPr/>
        </p:nvSpPr>
        <p:spPr>
          <a:xfrm>
            <a:off x="9272016" y="5394960"/>
            <a:ext cx="2249424" cy="320040"/>
          </a:xfrm>
          <a:prstGeom prst="rect">
            <a:avLst/>
          </a:prstGeom>
          <a:noFill/>
        </p:spPr>
        <p:txBody>
          <a:bodyPr wrap="square" anchor="ctr"/>
          <a:lstStyle/>
          <a:p>
            <a:pPr marL="0" indent="0">
              <a:buNone/>
            </a:pPr>
            <a:r>
              <a:rPr sz="1300" b="1">
                <a:solidFill>
                  <a:srgbClr val="1E2761"/>
                </a:solidFill>
                <a:latin typeface="Cambria"/>
                <a:ea typeface="Cambria"/>
                <a:cs typeface="Cambria"/>
              </a:rPr>
              <a:t>Quote-based</a:t>
            </a:r>
            <a:endParaRPr sz="1300"/>
          </a:p>
        </p:txBody>
      </p:sp>
      <p:sp>
        <p:nvSpPr>
          <p:cNvPr id="42" name="Text 40">
            <a:extLst>
              <a:ext uri="{FF2B5EF4-FFF2-40B4-BE49-F238E27FC236}">
                <a16:creationId xmlns:a16="http://schemas.microsoft.com/office/drawing/2014/main" id="{9FF21372-3174-4BF9-AAA3-E9E6FE9758F4}"/>
              </a:ext>
            </a:extLst>
          </p:cNvPr>
          <p:cNvSpPr>
            <a:spLocks noGrp="1"/>
          </p:cNvSpPr>
          <p:nvPr/>
        </p:nvSpPr>
        <p:spPr>
          <a:xfrm>
            <a:off x="640080" y="6035040"/>
            <a:ext cx="10881360" cy="406400"/>
          </a:xfrm>
          <a:prstGeom prst="rect">
            <a:avLst/>
          </a:prstGeom>
          <a:noFill/>
        </p:spPr>
        <p:txBody>
          <a:bodyPr wrap="square" lIns="91440" tIns="45720" rIns="91440" bIns="45720" anchor="ctr"/>
          <a:lstStyle/>
          <a:p>
            <a:r>
              <a:rPr sz="1050" i="1">
                <a:solidFill>
                  <a:srgbClr val="6B7280"/>
                </a:solidFill>
                <a:latin typeface="Calibri"/>
                <a:ea typeface="Calibri"/>
                <a:cs typeface="Calibri"/>
              </a:rPr>
              <a:t>User-capacity estimates assume one-minute processing with four screenshots per active employee, Final server capacity will be confirmed after load testing with Astravi’s actual screenshots, Qwen model settings, caption prompt, batch size, concurrency, and latency target.</a:t>
            </a:r>
            <a:br/>
            <a:r>
              <a:rPr sz="1050" i="1">
                <a:solidFill>
                  <a:srgbClr val="6B7280"/>
                </a:solidFill>
                <a:latin typeface="Calibri"/>
                <a:ea typeface="Calibri"/>
                <a:cs typeface="Calibri"/>
              </a:rPr>
              <a:t>Excludes tax. Ongoing infrastructure, maintenance, electricity, support, security, and backups remain payable under every option.</a:t>
            </a:r>
            <a:endParaRPr sz="1050"/>
          </a:p>
        </p:txBody>
      </p:sp>
      <p:sp>
        <p:nvSpPr>
          <p:cNvPr id="43" name="Text 41">
            <a:extLst>
              <a:ext uri="{FF2B5EF4-FFF2-40B4-BE49-F238E27FC236}">
                <a16:creationId xmlns:a16="http://schemas.microsoft.com/office/drawing/2014/main" id="{773A32C2-7695-49E9-A74C-9997FE3DC7A3}"/>
              </a:ext>
            </a:extLst>
          </p:cNvPr>
          <p:cNvSpPr>
            <a:spLocks noGrp="1"/>
          </p:cNvSpPr>
          <p:nvPr/>
        </p:nvSpPr>
        <p:spPr>
          <a:xfrm>
            <a:off x="640080" y="6400800"/>
            <a:ext cx="4572000" cy="274320"/>
          </a:xfrm>
          <a:prstGeom prst="rect">
            <a:avLst/>
          </a:prstGeom>
          <a:noFill/>
        </p:spPr>
        <p:txBody>
          <a:bodyPr wrap="square" anchor="ctr"/>
          <a:lstStyle/>
          <a:p>
            <a:pPr marL="0" indent="0">
              <a:buNone/>
            </a:pPr>
            <a:r>
              <a:rPr sz="1000">
                <a:solidFill>
                  <a:srgbClr val="6B7280"/>
                </a:solidFill>
                <a:latin typeface="Calibri"/>
                <a:ea typeface="Calibri"/>
                <a:cs typeface="Calibri"/>
              </a:rPr>
              <a:t>Astravi — AI Cost Comparison</a:t>
            </a:r>
            <a:endParaRPr sz="1000"/>
          </a:p>
        </p:txBody>
      </p:sp>
      <p:sp>
        <p:nvSpPr>
          <p:cNvPr id="44" name="Text 42">
            <a:extLst>
              <a:ext uri="{FF2B5EF4-FFF2-40B4-BE49-F238E27FC236}">
                <a16:creationId xmlns:a16="http://schemas.microsoft.com/office/drawing/2014/main" id="{B4BE8485-5ECE-44C7-933D-5EC5AF521E50}"/>
              </a:ext>
            </a:extLst>
          </p:cNvPr>
          <p:cNvSpPr>
            <a:spLocks noGrp="1"/>
          </p:cNvSpPr>
          <p:nvPr/>
        </p:nvSpPr>
        <p:spPr>
          <a:xfrm>
            <a:off x="11365992" y="6400800"/>
            <a:ext cx="548640" cy="274320"/>
          </a:xfrm>
          <a:prstGeom prst="rect">
            <a:avLst/>
          </a:prstGeom>
          <a:noFill/>
        </p:spPr>
        <p:txBody>
          <a:bodyPr wrap="square" anchor="ctr"/>
          <a:lstStyle/>
          <a:p>
            <a:pPr marL="0" indent="0" algn="r">
              <a:buNone/>
            </a:pPr>
            <a:r>
              <a:rPr sz="1000">
                <a:solidFill>
                  <a:srgbClr val="6B7280"/>
                </a:solidFill>
                <a:latin typeface="Calibri"/>
                <a:ea typeface="Calibri"/>
                <a:cs typeface="Calibri"/>
              </a:rPr>
              <a:t>04</a:t>
            </a:r>
            <a:endParaRPr sz="1000"/>
          </a:p>
        </p:txBody>
      </p:sp>
    </p:spTree>
    <p:extLst>
      <p:ext uri="{BB962C8B-B14F-4D97-AF65-F5344CB8AC3E}">
        <p14:creationId xmlns:p14="http://schemas.microsoft.com/office/powerpoint/2010/main" val="2012265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0A0896B-6DA1-4D1B-8DFA-E4691AA7EB63}"/>
              </a:ext>
            </a:extLst>
          </p:cNvPr>
          <p:cNvSpPr>
            <a:spLocks noGrp="1"/>
          </p:cNvSpPr>
          <p:nvPr/>
        </p:nvSpPr>
        <p:spPr>
          <a:xfrm>
            <a:off x="0" y="0"/>
            <a:ext cx="12188952" cy="6858000"/>
          </a:xfrm>
          <a:prstGeom prst="rect">
            <a:avLst/>
          </a:prstGeom>
          <a:solidFill>
            <a:srgbClr val="1E2761"/>
          </a:solidFill>
        </p:spPr>
        <p:txBody>
          <a:bodyPr/>
          <a:lstStyle/>
          <a:p>
            <a:endParaRPr/>
          </a:p>
        </p:txBody>
      </p:sp>
      <p:sp>
        <p:nvSpPr>
          <p:cNvPr id="3" name="Text 1">
            <a:extLst>
              <a:ext uri="{FF2B5EF4-FFF2-40B4-BE49-F238E27FC236}">
                <a16:creationId xmlns:a16="http://schemas.microsoft.com/office/drawing/2014/main" id="{A68BB817-6AD1-4C1E-9077-5B14BC806605}"/>
              </a:ext>
            </a:extLst>
          </p:cNvPr>
          <p:cNvSpPr>
            <a:spLocks noGrp="1"/>
          </p:cNvSpPr>
          <p:nvPr/>
        </p:nvSpPr>
        <p:spPr>
          <a:xfrm>
            <a:off x="640080" y="411480"/>
            <a:ext cx="7315200" cy="320040"/>
          </a:xfrm>
          <a:prstGeom prst="rect">
            <a:avLst/>
          </a:prstGeom>
          <a:noFill/>
        </p:spPr>
        <p:txBody>
          <a:bodyPr wrap="square" anchor="ctr"/>
          <a:lstStyle/>
          <a:p>
            <a:pPr marL="0" indent="0">
              <a:buNone/>
            </a:pPr>
            <a:r>
              <a:rPr sz="1300" b="1" spc="200">
                <a:solidFill>
                  <a:srgbClr val="E8A33D"/>
                </a:solidFill>
                <a:latin typeface="Calibri"/>
                <a:ea typeface="Calibri"/>
                <a:cs typeface="Calibri"/>
              </a:rPr>
              <a:t>THE COST DELTA</a:t>
            </a:r>
            <a:endParaRPr sz="1300"/>
          </a:p>
        </p:txBody>
      </p:sp>
      <p:sp>
        <p:nvSpPr>
          <p:cNvPr id="4" name="Text 2">
            <a:extLst>
              <a:ext uri="{FF2B5EF4-FFF2-40B4-BE49-F238E27FC236}">
                <a16:creationId xmlns:a16="http://schemas.microsoft.com/office/drawing/2014/main" id="{C14BCE93-83B2-4763-BDA6-E42250C6B5BD}"/>
              </a:ext>
            </a:extLst>
          </p:cNvPr>
          <p:cNvSpPr>
            <a:spLocks noGrp="1"/>
          </p:cNvSpPr>
          <p:nvPr/>
        </p:nvSpPr>
        <p:spPr>
          <a:xfrm>
            <a:off x="640080" y="713232"/>
            <a:ext cx="10515600" cy="822960"/>
          </a:xfrm>
          <a:prstGeom prst="rect">
            <a:avLst/>
          </a:prstGeom>
          <a:noFill/>
        </p:spPr>
        <p:txBody>
          <a:bodyPr wrap="square" anchor="ctr"/>
          <a:lstStyle/>
          <a:p>
            <a:pPr>
              <a:lnSpc>
                <a:spcPts val="3400"/>
              </a:lnSpc>
              <a:buNone/>
            </a:pPr>
            <a:r>
              <a:rPr sz="3000" b="1">
                <a:solidFill>
                  <a:srgbClr val="FFFFFF"/>
                </a:solidFill>
                <a:latin typeface="Cambria"/>
                <a:ea typeface="Cambria"/>
                <a:cs typeface="Cambria"/>
              </a:rPr>
              <a:t>At scale, recurring API spend dwarfs a self-hosted rental</a:t>
            </a:r>
            <a:br/>
            <a:r>
              <a:rPr>
                <a:solidFill>
                  <a:schemeClr val="bg1"/>
                </a:solidFill>
              </a:rPr>
              <a:t>This is an approximate cost and may vary depending on market conditions.</a:t>
            </a:r>
            <a:endParaRPr sz="3000">
              <a:solidFill>
                <a:schemeClr val="bg1"/>
              </a:solidFill>
            </a:endParaRPr>
          </a:p>
        </p:txBody>
      </p:sp>
      <p:sp>
        <p:nvSpPr>
          <p:cNvPr id="5" name="Shape 3">
            <a:extLst>
              <a:ext uri="{FF2B5EF4-FFF2-40B4-BE49-F238E27FC236}">
                <a16:creationId xmlns:a16="http://schemas.microsoft.com/office/drawing/2014/main" id="{FADB9002-A561-49CE-8067-3FA7F68AE507}"/>
              </a:ext>
            </a:extLst>
          </p:cNvPr>
          <p:cNvSpPr>
            <a:spLocks noGrp="1"/>
          </p:cNvSpPr>
          <p:nvPr/>
        </p:nvSpPr>
        <p:spPr>
          <a:xfrm>
            <a:off x="745236" y="2103120"/>
            <a:ext cx="4937760" cy="3200400"/>
          </a:xfrm>
          <a:prstGeom prst="roundRect">
            <a:avLst>
              <a:gd name="adj" fmla="val 2571"/>
            </a:avLst>
          </a:prstGeom>
          <a:solidFill>
            <a:srgbClr val="141B47"/>
          </a:solidFill>
          <a:ln w="12700">
            <a:solidFill>
              <a:srgbClr val="3A4380"/>
            </a:solidFill>
            <a:prstDash val="solid"/>
          </a:ln>
        </p:spPr>
        <p:txBody>
          <a:bodyPr/>
          <a:lstStyle/>
          <a:p>
            <a:endParaRPr/>
          </a:p>
        </p:txBody>
      </p:sp>
      <p:sp>
        <p:nvSpPr>
          <p:cNvPr id="6" name="Text 4">
            <a:extLst>
              <a:ext uri="{FF2B5EF4-FFF2-40B4-BE49-F238E27FC236}">
                <a16:creationId xmlns:a16="http://schemas.microsoft.com/office/drawing/2014/main" id="{3F7D1240-97F6-410F-AFA2-BD463AC78AD9}"/>
              </a:ext>
            </a:extLst>
          </p:cNvPr>
          <p:cNvSpPr>
            <a:spLocks noGrp="1"/>
          </p:cNvSpPr>
          <p:nvPr/>
        </p:nvSpPr>
        <p:spPr>
          <a:xfrm>
            <a:off x="745236" y="2606040"/>
            <a:ext cx="4937760" cy="1005840"/>
          </a:xfrm>
          <a:prstGeom prst="rect">
            <a:avLst/>
          </a:prstGeom>
          <a:noFill/>
        </p:spPr>
        <p:txBody>
          <a:bodyPr wrap="square" anchor="ctr"/>
          <a:lstStyle/>
          <a:p>
            <a:pPr marL="0" indent="0" algn="ctr">
              <a:buNone/>
            </a:pPr>
            <a:r>
              <a:rPr sz="4000" b="1">
                <a:solidFill>
                  <a:srgbClr val="FFFFFF"/>
                </a:solidFill>
                <a:latin typeface="Cambria"/>
                <a:ea typeface="Cambria"/>
                <a:cs typeface="Cambria"/>
              </a:rPr>
              <a:t>$33K–$168K</a:t>
            </a:r>
            <a:endParaRPr sz="4000"/>
          </a:p>
        </p:txBody>
      </p:sp>
      <p:sp>
        <p:nvSpPr>
          <p:cNvPr id="7" name="Text 5">
            <a:extLst>
              <a:ext uri="{FF2B5EF4-FFF2-40B4-BE49-F238E27FC236}">
                <a16:creationId xmlns:a16="http://schemas.microsoft.com/office/drawing/2014/main" id="{C8C720F1-A005-4313-AEAC-A6679DCB6FE3}"/>
              </a:ext>
            </a:extLst>
          </p:cNvPr>
          <p:cNvSpPr>
            <a:spLocks noGrp="1"/>
          </p:cNvSpPr>
          <p:nvPr/>
        </p:nvSpPr>
        <p:spPr>
          <a:xfrm>
            <a:off x="1110996" y="3794760"/>
            <a:ext cx="4206240" cy="1188720"/>
          </a:xfrm>
          <a:prstGeom prst="rect">
            <a:avLst/>
          </a:prstGeom>
          <a:noFill/>
        </p:spPr>
        <p:txBody>
          <a:bodyPr wrap="square" anchor="ctr"/>
          <a:lstStyle/>
          <a:p>
            <a:pPr marL="0" indent="0" algn="ctr">
              <a:lnSpc>
                <a:spcPct val="125000"/>
              </a:lnSpc>
              <a:buNone/>
            </a:pPr>
            <a:r>
              <a:rPr sz="1300">
                <a:solidFill>
                  <a:srgbClr val="CADCFC"/>
                </a:solidFill>
                <a:latin typeface="Calibri"/>
                <a:ea typeface="Calibri"/>
                <a:cs typeface="Calibri"/>
              </a:rPr>
              <a:t>OpenAI / Claude API</a:t>
            </a:r>
            <a:endParaRPr sz="1300"/>
          </a:p>
          <a:p>
            <a:pPr marL="0" indent="0" algn="ctr">
              <a:lnSpc>
                <a:spcPct val="125000"/>
              </a:lnSpc>
              <a:buNone/>
            </a:pPr>
            <a:r>
              <a:rPr sz="1300">
                <a:solidFill>
                  <a:srgbClr val="CADCFC"/>
                </a:solidFill>
                <a:latin typeface="Calibri"/>
                <a:ea typeface="Calibri"/>
                <a:cs typeface="Calibri"/>
              </a:rPr>
              <a:t>estimated monthly cost</a:t>
            </a:r>
            <a:endParaRPr sz="1300"/>
          </a:p>
          <a:p>
            <a:pPr marL="0" indent="0" algn="ctr">
              <a:lnSpc>
                <a:spcPct val="125000"/>
              </a:lnSpc>
              <a:buNone/>
            </a:pPr>
            <a:r>
              <a:rPr sz="1300">
                <a:solidFill>
                  <a:srgbClr val="CADCFC"/>
                </a:solidFill>
                <a:latin typeface="Calibri"/>
                <a:ea typeface="Calibri"/>
                <a:cs typeface="Calibri"/>
              </a:rPr>
              <a:t>(100–200 employees)</a:t>
            </a:r>
            <a:endParaRPr sz="1300"/>
          </a:p>
        </p:txBody>
      </p:sp>
      <p:sp>
        <p:nvSpPr>
          <p:cNvPr id="8" name="Shape 6">
            <a:extLst>
              <a:ext uri="{FF2B5EF4-FFF2-40B4-BE49-F238E27FC236}">
                <a16:creationId xmlns:a16="http://schemas.microsoft.com/office/drawing/2014/main" id="{A196A21B-6B72-40F7-8FC2-2B8F4017B842}"/>
              </a:ext>
            </a:extLst>
          </p:cNvPr>
          <p:cNvSpPr>
            <a:spLocks noGrp="1"/>
          </p:cNvSpPr>
          <p:nvPr/>
        </p:nvSpPr>
        <p:spPr>
          <a:xfrm>
            <a:off x="6505956" y="2103120"/>
            <a:ext cx="4937760" cy="3200400"/>
          </a:xfrm>
          <a:prstGeom prst="roundRect">
            <a:avLst>
              <a:gd name="adj" fmla="val 2571"/>
            </a:avLst>
          </a:prstGeom>
          <a:solidFill>
            <a:srgbClr val="E8A33D"/>
          </a:solidFill>
          <a:ln w="12700">
            <a:solidFill>
              <a:srgbClr val="E8A33D"/>
            </a:solidFill>
            <a:prstDash val="solid"/>
          </a:ln>
        </p:spPr>
        <p:txBody>
          <a:bodyPr/>
          <a:lstStyle/>
          <a:p>
            <a:endParaRPr/>
          </a:p>
        </p:txBody>
      </p:sp>
      <p:sp>
        <p:nvSpPr>
          <p:cNvPr id="9" name="Text 7">
            <a:extLst>
              <a:ext uri="{FF2B5EF4-FFF2-40B4-BE49-F238E27FC236}">
                <a16:creationId xmlns:a16="http://schemas.microsoft.com/office/drawing/2014/main" id="{488C54F2-C42F-45F9-990B-27B5CADD5D25}"/>
              </a:ext>
            </a:extLst>
          </p:cNvPr>
          <p:cNvSpPr>
            <a:spLocks noGrp="1"/>
          </p:cNvSpPr>
          <p:nvPr/>
        </p:nvSpPr>
        <p:spPr>
          <a:xfrm>
            <a:off x="6505956" y="2606040"/>
            <a:ext cx="4937760" cy="1005840"/>
          </a:xfrm>
          <a:prstGeom prst="rect">
            <a:avLst/>
          </a:prstGeom>
          <a:noFill/>
        </p:spPr>
        <p:txBody>
          <a:bodyPr wrap="square" anchor="ctr"/>
          <a:lstStyle/>
          <a:p>
            <a:pPr marL="0" indent="0" algn="ctr">
              <a:buNone/>
            </a:pPr>
            <a:r>
              <a:rPr sz="4000" b="1">
                <a:solidFill>
                  <a:srgbClr val="1E2761"/>
                </a:solidFill>
                <a:latin typeface="Cambria"/>
                <a:ea typeface="Cambria"/>
                <a:cs typeface="Cambria"/>
              </a:rPr>
              <a:t>$630–$1,580</a:t>
            </a:r>
            <a:endParaRPr sz="4000"/>
          </a:p>
        </p:txBody>
      </p:sp>
      <p:sp>
        <p:nvSpPr>
          <p:cNvPr id="10" name="Text 8">
            <a:extLst>
              <a:ext uri="{FF2B5EF4-FFF2-40B4-BE49-F238E27FC236}">
                <a16:creationId xmlns:a16="http://schemas.microsoft.com/office/drawing/2014/main" id="{B9453BB5-1978-41BB-919B-726DF58BAE51}"/>
              </a:ext>
            </a:extLst>
          </p:cNvPr>
          <p:cNvSpPr>
            <a:spLocks noGrp="1"/>
          </p:cNvSpPr>
          <p:nvPr/>
        </p:nvSpPr>
        <p:spPr>
          <a:xfrm>
            <a:off x="6871716" y="3794760"/>
            <a:ext cx="4206240" cy="1188720"/>
          </a:xfrm>
          <a:prstGeom prst="rect">
            <a:avLst/>
          </a:prstGeom>
          <a:noFill/>
        </p:spPr>
        <p:txBody>
          <a:bodyPr wrap="square" anchor="ctr"/>
          <a:lstStyle/>
          <a:p>
            <a:pPr marL="0" indent="0" algn="ctr">
              <a:lnSpc>
                <a:spcPct val="125000"/>
              </a:lnSpc>
              <a:buNone/>
            </a:pPr>
            <a:r>
              <a:rPr sz="1300">
                <a:solidFill>
                  <a:srgbClr val="1E2761"/>
                </a:solidFill>
                <a:latin typeface="Calibri"/>
                <a:ea typeface="Calibri"/>
                <a:cs typeface="Calibri"/>
              </a:rPr>
              <a:t>Option 2 self-hosted server</a:t>
            </a:r>
            <a:endParaRPr sz="1300"/>
          </a:p>
          <a:p>
            <a:pPr marL="0" indent="0" algn="ctr">
              <a:lnSpc>
                <a:spcPct val="125000"/>
              </a:lnSpc>
              <a:buNone/>
            </a:pPr>
            <a:r>
              <a:rPr sz="1300">
                <a:solidFill>
                  <a:srgbClr val="1E2761"/>
                </a:solidFill>
                <a:latin typeface="Calibri"/>
                <a:ea typeface="Calibri"/>
                <a:cs typeface="Calibri"/>
              </a:rPr>
              <a:t>estimated monthly rental</a:t>
            </a:r>
            <a:endParaRPr sz="1300"/>
          </a:p>
          <a:p>
            <a:pPr marL="0" indent="0" algn="ctr">
              <a:lnSpc>
                <a:spcPct val="125000"/>
              </a:lnSpc>
              <a:buNone/>
            </a:pPr>
            <a:r>
              <a:rPr sz="1300">
                <a:solidFill>
                  <a:srgbClr val="1E2761"/>
                </a:solidFill>
                <a:latin typeface="Calibri"/>
                <a:ea typeface="Calibri"/>
                <a:cs typeface="Calibri"/>
              </a:rPr>
              <a:t>(recommended pilot config)</a:t>
            </a:r>
            <a:endParaRPr sz="1300"/>
          </a:p>
        </p:txBody>
      </p:sp>
      <p:sp>
        <p:nvSpPr>
          <p:cNvPr id="11" name="Shape 9">
            <a:extLst>
              <a:ext uri="{FF2B5EF4-FFF2-40B4-BE49-F238E27FC236}">
                <a16:creationId xmlns:a16="http://schemas.microsoft.com/office/drawing/2014/main" id="{14AF8858-2C62-444E-BD9B-52A6F8E584CF}"/>
              </a:ext>
            </a:extLst>
          </p:cNvPr>
          <p:cNvSpPr>
            <a:spLocks noGrp="1"/>
          </p:cNvSpPr>
          <p:nvPr/>
        </p:nvSpPr>
        <p:spPr>
          <a:xfrm>
            <a:off x="5774436" y="3520440"/>
            <a:ext cx="640080" cy="640080"/>
          </a:xfrm>
          <a:prstGeom prst="ellipse">
            <a:avLst/>
          </a:prstGeom>
          <a:solidFill>
            <a:srgbClr val="1E2761"/>
          </a:solidFill>
          <a:ln w="25400">
            <a:solidFill>
              <a:srgbClr val="E8A33D"/>
            </a:solidFill>
            <a:prstDash val="solid"/>
          </a:ln>
        </p:spPr>
        <p:txBody>
          <a:bodyPr/>
          <a:lstStyle/>
          <a:p>
            <a:endParaRPr/>
          </a:p>
        </p:txBody>
      </p:sp>
      <p:sp>
        <p:nvSpPr>
          <p:cNvPr id="12" name="Text 10">
            <a:extLst>
              <a:ext uri="{FF2B5EF4-FFF2-40B4-BE49-F238E27FC236}">
                <a16:creationId xmlns:a16="http://schemas.microsoft.com/office/drawing/2014/main" id="{B31BDC5C-0437-4FDA-ADCF-C74BFA60FC30}"/>
              </a:ext>
            </a:extLst>
          </p:cNvPr>
          <p:cNvSpPr>
            <a:spLocks noGrp="1"/>
          </p:cNvSpPr>
          <p:nvPr/>
        </p:nvSpPr>
        <p:spPr>
          <a:xfrm>
            <a:off x="5774436" y="3520440"/>
            <a:ext cx="640080" cy="640080"/>
          </a:xfrm>
          <a:prstGeom prst="rect">
            <a:avLst/>
          </a:prstGeom>
          <a:noFill/>
        </p:spPr>
        <p:txBody>
          <a:bodyPr wrap="square" anchor="ctr"/>
          <a:lstStyle/>
          <a:p>
            <a:pPr marL="0" indent="0" algn="ctr">
              <a:buNone/>
            </a:pPr>
            <a:r>
              <a:rPr sz="1400" b="1">
                <a:solidFill>
                  <a:srgbClr val="E8A33D"/>
                </a:solidFill>
                <a:latin typeface="Cambria"/>
                <a:ea typeface="Cambria"/>
                <a:cs typeface="Cambria"/>
              </a:rPr>
              <a:t>vs</a:t>
            </a:r>
            <a:endParaRPr sz="1400"/>
          </a:p>
        </p:txBody>
      </p:sp>
      <p:sp>
        <p:nvSpPr>
          <p:cNvPr id="13" name="Text 11">
            <a:extLst>
              <a:ext uri="{FF2B5EF4-FFF2-40B4-BE49-F238E27FC236}">
                <a16:creationId xmlns:a16="http://schemas.microsoft.com/office/drawing/2014/main" id="{8ACDBD5C-B1B2-4E7A-BD5B-2FBD574FC3C5}"/>
              </a:ext>
            </a:extLst>
          </p:cNvPr>
          <p:cNvSpPr>
            <a:spLocks noGrp="1"/>
          </p:cNvSpPr>
          <p:nvPr/>
        </p:nvSpPr>
        <p:spPr>
          <a:xfrm>
            <a:off x="640080" y="5623560"/>
            <a:ext cx="10881360" cy="548640"/>
          </a:xfrm>
          <a:prstGeom prst="rect">
            <a:avLst/>
          </a:prstGeom>
          <a:noFill/>
        </p:spPr>
        <p:txBody>
          <a:bodyPr wrap="square" anchor="ctr"/>
          <a:lstStyle/>
          <a:p>
            <a:pPr marL="0" indent="0" algn="ctr">
              <a:buNone/>
            </a:pPr>
            <a:r>
              <a:rPr sz="1250">
                <a:solidFill>
                  <a:srgbClr val="CADCFC"/>
                </a:solidFill>
                <a:latin typeface="Calibri"/>
                <a:ea typeface="Calibri"/>
                <a:cs typeface="Calibri"/>
              </a:rPr>
              <a:t>Self-hosting trades recurring token charges for a one-time server purchase ($9,500–$23,200) plus ongoing operations, monitoring, security, and backup responsibility.</a:t>
            </a:r>
            <a:endParaRPr sz="1250"/>
          </a:p>
        </p:txBody>
      </p:sp>
      <p:sp>
        <p:nvSpPr>
          <p:cNvPr id="14" name="Text 12">
            <a:extLst>
              <a:ext uri="{FF2B5EF4-FFF2-40B4-BE49-F238E27FC236}">
                <a16:creationId xmlns:a16="http://schemas.microsoft.com/office/drawing/2014/main" id="{AD52C4D8-2586-4F8B-BF9B-C6D89C4B45FA}"/>
              </a:ext>
            </a:extLst>
          </p:cNvPr>
          <p:cNvSpPr>
            <a:spLocks noGrp="1"/>
          </p:cNvSpPr>
          <p:nvPr/>
        </p:nvSpPr>
        <p:spPr>
          <a:xfrm>
            <a:off x="640080" y="6400800"/>
            <a:ext cx="4572000" cy="274320"/>
          </a:xfrm>
          <a:prstGeom prst="rect">
            <a:avLst/>
          </a:prstGeom>
          <a:noFill/>
        </p:spPr>
        <p:txBody>
          <a:bodyPr wrap="square" anchor="ctr"/>
          <a:lstStyle/>
          <a:p>
            <a:pPr marL="0" indent="0">
              <a:buNone/>
            </a:pPr>
            <a:r>
              <a:rPr sz="1000">
                <a:solidFill>
                  <a:srgbClr val="CADCFC"/>
                </a:solidFill>
                <a:latin typeface="Calibri"/>
                <a:ea typeface="Calibri"/>
                <a:cs typeface="Calibri"/>
              </a:rPr>
              <a:t>Astravi — AI Cost Comparison</a:t>
            </a:r>
            <a:endParaRPr sz="1000"/>
          </a:p>
        </p:txBody>
      </p:sp>
      <p:sp>
        <p:nvSpPr>
          <p:cNvPr id="15" name="Text 13">
            <a:extLst>
              <a:ext uri="{FF2B5EF4-FFF2-40B4-BE49-F238E27FC236}">
                <a16:creationId xmlns:a16="http://schemas.microsoft.com/office/drawing/2014/main" id="{876B0A9E-C999-4BBF-9C4E-A2AF1962E8DE}"/>
              </a:ext>
            </a:extLst>
          </p:cNvPr>
          <p:cNvSpPr>
            <a:spLocks noGrp="1"/>
          </p:cNvSpPr>
          <p:nvPr/>
        </p:nvSpPr>
        <p:spPr>
          <a:xfrm>
            <a:off x="11365992" y="6400800"/>
            <a:ext cx="548640" cy="274320"/>
          </a:xfrm>
          <a:prstGeom prst="rect">
            <a:avLst/>
          </a:prstGeom>
          <a:noFill/>
        </p:spPr>
        <p:txBody>
          <a:bodyPr wrap="square" anchor="ctr"/>
          <a:lstStyle/>
          <a:p>
            <a:pPr marL="0" indent="0" algn="r">
              <a:buNone/>
            </a:pPr>
            <a:r>
              <a:rPr sz="1000">
                <a:solidFill>
                  <a:srgbClr val="6B7280"/>
                </a:solidFill>
                <a:latin typeface="Calibri"/>
                <a:ea typeface="Calibri"/>
                <a:cs typeface="Calibri"/>
              </a:rPr>
              <a:t>05</a:t>
            </a:r>
            <a:endParaRPr sz="1000"/>
          </a:p>
        </p:txBody>
      </p:sp>
    </p:spTree>
    <p:extLst>
      <p:ext uri="{BB962C8B-B14F-4D97-AF65-F5344CB8AC3E}">
        <p14:creationId xmlns:p14="http://schemas.microsoft.com/office/powerpoint/2010/main" val="136543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9D014EE-C043-4269-9A38-684FE69A1B2E}"/>
              </a:ext>
            </a:extLst>
          </p:cNvPr>
          <p:cNvSpPr>
            <a:spLocks noGrp="1"/>
          </p:cNvSpPr>
          <p:nvPr/>
        </p:nvSpPr>
        <p:spPr>
          <a:xfrm>
            <a:off x="640080" y="411480"/>
            <a:ext cx="7315200" cy="320040"/>
          </a:xfrm>
          <a:prstGeom prst="rect">
            <a:avLst/>
          </a:prstGeom>
          <a:noFill/>
        </p:spPr>
        <p:txBody>
          <a:bodyPr wrap="square" anchor="ctr"/>
          <a:lstStyle/>
          <a:p>
            <a:pPr marL="0" indent="0">
              <a:buNone/>
            </a:pPr>
            <a:r>
              <a:rPr sz="1300" b="1" spc="200">
                <a:solidFill>
                  <a:srgbClr val="E8A33D"/>
                </a:solidFill>
                <a:latin typeface="Calibri"/>
                <a:ea typeface="Calibri"/>
                <a:cs typeface="Calibri"/>
              </a:rPr>
              <a:t>A REQUIREMENT ACROSS ALL OPTIONS</a:t>
            </a:r>
            <a:endParaRPr sz="1300"/>
          </a:p>
        </p:txBody>
      </p:sp>
      <p:sp>
        <p:nvSpPr>
          <p:cNvPr id="3" name="Text 1">
            <a:extLst>
              <a:ext uri="{FF2B5EF4-FFF2-40B4-BE49-F238E27FC236}">
                <a16:creationId xmlns:a16="http://schemas.microsoft.com/office/drawing/2014/main" id="{61EFDA83-AC21-455E-B07C-E67986CCDD65}"/>
              </a:ext>
            </a:extLst>
          </p:cNvPr>
          <p:cNvSpPr>
            <a:spLocks noGrp="1"/>
          </p:cNvSpPr>
          <p:nvPr/>
        </p:nvSpPr>
        <p:spPr>
          <a:xfrm>
            <a:off x="640080" y="713232"/>
            <a:ext cx="10515600" cy="822960"/>
          </a:xfrm>
          <a:prstGeom prst="rect">
            <a:avLst/>
          </a:prstGeom>
          <a:noFill/>
        </p:spPr>
        <p:txBody>
          <a:bodyPr wrap="square" anchor="ctr"/>
          <a:lstStyle/>
          <a:p>
            <a:pPr marL="0" indent="0">
              <a:lnSpc>
                <a:spcPts val="3400"/>
              </a:lnSpc>
              <a:buNone/>
            </a:pPr>
            <a:r>
              <a:rPr sz="3000" b="1">
                <a:solidFill>
                  <a:srgbClr val="1E2761"/>
                </a:solidFill>
                <a:latin typeface="Cambria"/>
                <a:ea typeface="Cambria"/>
                <a:cs typeface="Cambria"/>
              </a:rPr>
              <a:t>A search API is required in every scenario</a:t>
            </a:r>
            <a:endParaRPr sz="3000"/>
          </a:p>
        </p:txBody>
      </p:sp>
      <p:sp>
        <p:nvSpPr>
          <p:cNvPr id="4" name="Text 2">
            <a:extLst>
              <a:ext uri="{FF2B5EF4-FFF2-40B4-BE49-F238E27FC236}">
                <a16:creationId xmlns:a16="http://schemas.microsoft.com/office/drawing/2014/main" id="{EF1BF472-5C4B-4196-84B1-8C947E8E2BB2}"/>
              </a:ext>
            </a:extLst>
          </p:cNvPr>
          <p:cNvSpPr>
            <a:spLocks noGrp="1"/>
          </p:cNvSpPr>
          <p:nvPr/>
        </p:nvSpPr>
        <p:spPr>
          <a:xfrm>
            <a:off x="640080" y="1417320"/>
            <a:ext cx="10332720" cy="685800"/>
          </a:xfrm>
          <a:prstGeom prst="rect">
            <a:avLst/>
          </a:prstGeom>
          <a:noFill/>
        </p:spPr>
        <p:txBody>
          <a:bodyPr wrap="square" anchor="ctr"/>
          <a:lstStyle/>
          <a:p>
            <a:pPr marL="0" indent="0">
              <a:lnSpc>
                <a:spcPct val="125000"/>
              </a:lnSpc>
              <a:buNone/>
            </a:pPr>
            <a:r>
              <a:rPr sz="1300">
                <a:solidFill>
                  <a:srgbClr val="6B7280"/>
                </a:solidFill>
                <a:latin typeface="Calibri"/>
                <a:ea typeface="Calibri"/>
                <a:cs typeface="Calibri"/>
              </a:rPr>
              <a:t>Whenever Astravi gives recommendations based on current external information, a local model or API model alone can't supply fresh web data — a search API is needed in the API-based options and the self-hosted option alike.</a:t>
            </a:r>
            <a:endParaRPr sz="1300"/>
          </a:p>
        </p:txBody>
      </p:sp>
      <p:graphicFrame>
        <p:nvGraphicFramePr>
          <p:cNvPr id="24" name="Table 0"/>
          <p:cNvGraphicFramePr/>
          <p:nvPr/>
        </p:nvGraphicFramePr>
        <p:xfrm>
          <a:off x="640080" y="2331720"/>
          <a:ext cx="10908792" cy="1536192"/>
        </p:xfrm>
        <a:graphic>
          <a:graphicData uri="http://schemas.openxmlformats.org/drawingml/2006/table">
            <a:tbl>
              <a:tblPr/>
              <a:tblGrid>
                <a:gridCol w="31089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384048">
                <a:tc>
                  <a:txBody>
                    <a:bodyPr/>
                    <a:lstStyle/>
                    <a:p>
                      <a:pPr marL="0" indent="0">
                        <a:buNone/>
                      </a:pPr>
                      <a:r>
                        <a:rPr sz="1200" b="1">
                          <a:solidFill>
                            <a:srgbClr val="FFFFFF"/>
                          </a:solidFill>
                          <a:latin typeface="Calibri"/>
                          <a:ea typeface="Calibri"/>
                          <a:cs typeface="Calibri"/>
                        </a:rPr>
                        <a:t>Search Provider</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1E2761"/>
                    </a:solidFill>
                  </a:tcPr>
                </a:tc>
                <a:tc>
                  <a:txBody>
                    <a:bodyPr/>
                    <a:lstStyle/>
                    <a:p>
                      <a:pPr marL="0" indent="0">
                        <a:buNone/>
                      </a:pPr>
                      <a:r>
                        <a:rPr sz="1200" b="1">
                          <a:solidFill>
                            <a:srgbClr val="FFFFFF"/>
                          </a:solidFill>
                          <a:latin typeface="Calibri"/>
                          <a:ea typeface="Calibri"/>
                          <a:cs typeface="Calibri"/>
                        </a:rPr>
                        <a:t>Cost / Search</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1E2761"/>
                    </a:solidFill>
                  </a:tcPr>
                </a:tc>
                <a:tc>
                  <a:txBody>
                    <a:bodyPr/>
                    <a:lstStyle/>
                    <a:p>
                      <a:pPr marL="0" indent="0">
                        <a:buNone/>
                      </a:pPr>
                      <a:r>
                        <a:rPr sz="1200" b="1">
                          <a:solidFill>
                            <a:srgbClr val="FFFFFF"/>
                          </a:solidFill>
                          <a:latin typeface="Calibri"/>
                          <a:ea typeface="Calibri"/>
                          <a:cs typeface="Calibri"/>
                        </a:rPr>
                        <a:t>OpenAI Total / Recommendation</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1E2761"/>
                    </a:solidFill>
                  </a:tcPr>
                </a:tc>
                <a:tc>
                  <a:txBody>
                    <a:bodyPr/>
                    <a:lstStyle/>
                    <a:p>
                      <a:pPr marL="0" indent="0">
                        <a:buNone/>
                      </a:pPr>
                      <a:r>
                        <a:rPr sz="1200" b="1">
                          <a:solidFill>
                            <a:srgbClr val="FFFFFF"/>
                          </a:solidFill>
                          <a:latin typeface="Calibri"/>
                          <a:ea typeface="Calibri"/>
                          <a:cs typeface="Calibri"/>
                        </a:rPr>
                        <a:t>Claude Total / Recommendation</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1E2761"/>
                    </a:solidFill>
                  </a:tcPr>
                </a:tc>
                <a:extLst>
                  <a:ext uri="{0D108BD9-81ED-4DB2-BD59-A6C34878D82A}">
                    <a16:rowId xmlns:a16="http://schemas.microsoft.com/office/drawing/2014/main" val="10000"/>
                  </a:ext>
                </a:extLst>
              </a:tr>
              <a:tr h="384048">
                <a:tc>
                  <a:txBody>
                    <a:bodyPr/>
                    <a:lstStyle/>
                    <a:p>
                      <a:pPr marL="0" indent="0">
                        <a:buNone/>
                      </a:pPr>
                      <a:r>
                        <a:rPr sz="1200">
                          <a:solidFill>
                            <a:srgbClr val="2B2E43"/>
                          </a:solidFill>
                          <a:latin typeface="Calibri"/>
                          <a:ea typeface="Calibri"/>
                          <a:cs typeface="Calibri"/>
                        </a:rPr>
                        <a:t>Brave Search API</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tc>
                  <a:txBody>
                    <a:bodyPr/>
                    <a:lstStyle/>
                    <a:p>
                      <a:pPr marL="0" indent="0">
                        <a:buNone/>
                      </a:pPr>
                      <a:r>
                        <a:rPr sz="1200">
                          <a:solidFill>
                            <a:srgbClr val="2B2E43"/>
                          </a:solidFill>
                          <a:latin typeface="Calibri"/>
                          <a:ea typeface="Calibri"/>
                          <a:cs typeface="Calibri"/>
                        </a:rPr>
                        <a:t>~$0.0050</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tc>
                  <a:txBody>
                    <a:bodyPr/>
                    <a:lstStyle/>
                    <a:p>
                      <a:pPr marL="0" indent="0">
                        <a:buNone/>
                      </a:pPr>
                      <a:r>
                        <a:rPr sz="1200">
                          <a:solidFill>
                            <a:srgbClr val="2B2E43"/>
                          </a:solidFill>
                          <a:latin typeface="Calibri"/>
                          <a:ea typeface="Calibri"/>
                          <a:cs typeface="Calibri"/>
                        </a:rPr>
                        <a:t>~$0.0053</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tc>
                  <a:txBody>
                    <a:bodyPr/>
                    <a:lstStyle/>
                    <a:p>
                      <a:pPr marL="0" indent="0">
                        <a:buNone/>
                      </a:pPr>
                      <a:r>
                        <a:rPr sz="1200">
                          <a:solidFill>
                            <a:srgbClr val="2B2E43"/>
                          </a:solidFill>
                          <a:latin typeface="Calibri"/>
                          <a:ea typeface="Calibri"/>
                          <a:cs typeface="Calibri"/>
                        </a:rPr>
                        <a:t>~$0.009848</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sz="1200">
                          <a:solidFill>
                            <a:srgbClr val="2B2E43"/>
                          </a:solidFill>
                          <a:latin typeface="Calibri"/>
                          <a:ea typeface="Calibri"/>
                          <a:cs typeface="Calibri"/>
                        </a:rPr>
                        <a:t>Tavily Basic</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4F7FC"/>
                    </a:solidFill>
                  </a:tcPr>
                </a:tc>
                <a:tc>
                  <a:txBody>
                    <a:bodyPr/>
                    <a:lstStyle/>
                    <a:p>
                      <a:pPr marL="0" indent="0">
                        <a:buNone/>
                      </a:pPr>
                      <a:r>
                        <a:rPr sz="1200">
                          <a:solidFill>
                            <a:srgbClr val="2B2E43"/>
                          </a:solidFill>
                          <a:latin typeface="Calibri"/>
                          <a:ea typeface="Calibri"/>
                          <a:cs typeface="Calibri"/>
                        </a:rPr>
                        <a:t>~$0.0080</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4F7FC"/>
                    </a:solidFill>
                  </a:tcPr>
                </a:tc>
                <a:tc>
                  <a:txBody>
                    <a:bodyPr/>
                    <a:lstStyle/>
                    <a:p>
                      <a:pPr marL="0" indent="0">
                        <a:buNone/>
                      </a:pPr>
                      <a:r>
                        <a:rPr sz="1200">
                          <a:solidFill>
                            <a:srgbClr val="2B2E43"/>
                          </a:solidFill>
                          <a:latin typeface="Calibri"/>
                          <a:ea typeface="Calibri"/>
                          <a:cs typeface="Calibri"/>
                        </a:rPr>
                        <a:t>~$0.0083</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4F7FC"/>
                    </a:solidFill>
                  </a:tcPr>
                </a:tc>
                <a:tc>
                  <a:txBody>
                    <a:bodyPr/>
                    <a:lstStyle/>
                    <a:p>
                      <a:pPr marL="0" indent="0">
                        <a:buNone/>
                      </a:pPr>
                      <a:r>
                        <a:rPr sz="1200">
                          <a:solidFill>
                            <a:srgbClr val="2B2E43"/>
                          </a:solidFill>
                          <a:latin typeface="Calibri"/>
                          <a:ea typeface="Calibri"/>
                          <a:cs typeface="Calibri"/>
                        </a:rPr>
                        <a:t>~$0.012848</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4F7FC"/>
                    </a:solidFill>
                  </a:tcPr>
                </a:tc>
                <a:extLst>
                  <a:ext uri="{0D108BD9-81ED-4DB2-BD59-A6C34878D82A}">
                    <a16:rowId xmlns:a16="http://schemas.microsoft.com/office/drawing/2014/main" val="10002"/>
                  </a:ext>
                </a:extLst>
              </a:tr>
              <a:tr h="384048">
                <a:tc>
                  <a:txBody>
                    <a:bodyPr/>
                    <a:lstStyle/>
                    <a:p>
                      <a:pPr marL="0" indent="0">
                        <a:buNone/>
                      </a:pPr>
                      <a:r>
                        <a:rPr sz="1200">
                          <a:solidFill>
                            <a:srgbClr val="2B2E43"/>
                          </a:solidFill>
                          <a:latin typeface="Calibri"/>
                          <a:ea typeface="Calibri"/>
                          <a:cs typeface="Calibri"/>
                        </a:rPr>
                        <a:t>Tavily Advanced</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tc>
                  <a:txBody>
                    <a:bodyPr/>
                    <a:lstStyle/>
                    <a:p>
                      <a:pPr marL="0" indent="0">
                        <a:buNone/>
                      </a:pPr>
                      <a:r>
                        <a:rPr sz="1200">
                          <a:solidFill>
                            <a:srgbClr val="2B2E43"/>
                          </a:solidFill>
                          <a:latin typeface="Calibri"/>
                          <a:ea typeface="Calibri"/>
                          <a:cs typeface="Calibri"/>
                        </a:rPr>
                        <a:t>~$0.0160</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tc>
                  <a:txBody>
                    <a:bodyPr/>
                    <a:lstStyle/>
                    <a:p>
                      <a:pPr marL="0" indent="0">
                        <a:buNone/>
                      </a:pPr>
                      <a:r>
                        <a:rPr sz="1200">
                          <a:solidFill>
                            <a:srgbClr val="2B2E43"/>
                          </a:solidFill>
                          <a:latin typeface="Calibri"/>
                          <a:ea typeface="Calibri"/>
                          <a:cs typeface="Calibri"/>
                        </a:rPr>
                        <a:t>~$0.0163</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tc>
                  <a:txBody>
                    <a:bodyPr/>
                    <a:lstStyle/>
                    <a:p>
                      <a:pPr marL="0" indent="0">
                        <a:buNone/>
                      </a:pPr>
                      <a:r>
                        <a:rPr sz="1200">
                          <a:solidFill>
                            <a:srgbClr val="2B2E43"/>
                          </a:solidFill>
                          <a:latin typeface="Calibri"/>
                          <a:ea typeface="Calibri"/>
                          <a:cs typeface="Calibri"/>
                        </a:rPr>
                        <a:t>~$0.020848</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6" name="Text 3">
            <a:extLst>
              <a:ext uri="{FF2B5EF4-FFF2-40B4-BE49-F238E27FC236}">
                <a16:creationId xmlns:a16="http://schemas.microsoft.com/office/drawing/2014/main" id="{5BB79418-4891-4128-B3FF-53D794D31143}"/>
              </a:ext>
            </a:extLst>
          </p:cNvPr>
          <p:cNvSpPr>
            <a:spLocks noGrp="1"/>
          </p:cNvSpPr>
          <p:nvPr/>
        </p:nvSpPr>
        <p:spPr>
          <a:xfrm>
            <a:off x="640080" y="4251960"/>
            <a:ext cx="7315200" cy="320040"/>
          </a:xfrm>
          <a:prstGeom prst="rect">
            <a:avLst/>
          </a:prstGeom>
          <a:noFill/>
        </p:spPr>
        <p:txBody>
          <a:bodyPr wrap="square" anchor="ctr"/>
          <a:lstStyle/>
          <a:p>
            <a:pPr marL="0" indent="0">
              <a:buNone/>
            </a:pPr>
            <a:r>
              <a:rPr sz="1300" b="1" spc="200">
                <a:solidFill>
                  <a:srgbClr val="1E2761"/>
                </a:solidFill>
                <a:latin typeface="Calibri"/>
                <a:ea typeface="Calibri"/>
                <a:cs typeface="Calibri"/>
              </a:rPr>
              <a:t>RECOMMENDED POLICY</a:t>
            </a:r>
            <a:endParaRPr sz="1300"/>
          </a:p>
        </p:txBody>
      </p:sp>
      <p:sp>
        <p:nvSpPr>
          <p:cNvPr id="7" name="Shape 4">
            <a:extLst>
              <a:ext uri="{FF2B5EF4-FFF2-40B4-BE49-F238E27FC236}">
                <a16:creationId xmlns:a16="http://schemas.microsoft.com/office/drawing/2014/main" id="{3D663FD4-1343-4687-9B4E-D5FB053CBAD0}"/>
              </a:ext>
            </a:extLst>
          </p:cNvPr>
          <p:cNvSpPr>
            <a:spLocks noGrp="1"/>
          </p:cNvSpPr>
          <p:nvPr/>
        </p:nvSpPr>
        <p:spPr>
          <a:xfrm>
            <a:off x="640080" y="4672584"/>
            <a:ext cx="109728" cy="109728"/>
          </a:xfrm>
          <a:prstGeom prst="ellipse">
            <a:avLst/>
          </a:prstGeom>
          <a:solidFill>
            <a:srgbClr val="E8A33D"/>
          </a:solidFill>
        </p:spPr>
        <p:txBody>
          <a:bodyPr/>
          <a:lstStyle/>
          <a:p>
            <a:endParaRPr/>
          </a:p>
        </p:txBody>
      </p:sp>
      <p:sp>
        <p:nvSpPr>
          <p:cNvPr id="8" name="Text 5">
            <a:extLst>
              <a:ext uri="{FF2B5EF4-FFF2-40B4-BE49-F238E27FC236}">
                <a16:creationId xmlns:a16="http://schemas.microsoft.com/office/drawing/2014/main" id="{E8206CF9-4727-4C6A-AF23-32EBB59DF865}"/>
              </a:ext>
            </a:extLst>
          </p:cNvPr>
          <p:cNvSpPr>
            <a:spLocks noGrp="1"/>
          </p:cNvSpPr>
          <p:nvPr/>
        </p:nvSpPr>
        <p:spPr>
          <a:xfrm>
            <a:off x="914400" y="4572000"/>
            <a:ext cx="7680960" cy="320040"/>
          </a:xfrm>
          <a:prstGeom prst="rect">
            <a:avLst/>
          </a:prstGeom>
          <a:noFill/>
        </p:spPr>
        <p:txBody>
          <a:bodyPr wrap="square" anchor="ctr"/>
          <a:lstStyle/>
          <a:p>
            <a:pPr marL="0" indent="0">
              <a:buNone/>
            </a:pPr>
            <a:r>
              <a:rPr sz="1250">
                <a:solidFill>
                  <a:srgbClr val="2B2E43"/>
                </a:solidFill>
                <a:latin typeface="Calibri"/>
                <a:ea typeface="Calibri"/>
                <a:cs typeface="Calibri"/>
              </a:rPr>
              <a:t>Maximum one search per recommendation</a:t>
            </a:r>
            <a:endParaRPr sz="1250"/>
          </a:p>
        </p:txBody>
      </p:sp>
      <p:sp>
        <p:nvSpPr>
          <p:cNvPr id="9" name="Shape 6">
            <a:extLst>
              <a:ext uri="{FF2B5EF4-FFF2-40B4-BE49-F238E27FC236}">
                <a16:creationId xmlns:a16="http://schemas.microsoft.com/office/drawing/2014/main" id="{649658FD-4E6A-49BD-81BE-ECB0DE42F0D5}"/>
              </a:ext>
            </a:extLst>
          </p:cNvPr>
          <p:cNvSpPr>
            <a:spLocks noGrp="1"/>
          </p:cNvSpPr>
          <p:nvPr/>
        </p:nvSpPr>
        <p:spPr>
          <a:xfrm>
            <a:off x="640080" y="5038344"/>
            <a:ext cx="109728" cy="109728"/>
          </a:xfrm>
          <a:prstGeom prst="ellipse">
            <a:avLst/>
          </a:prstGeom>
          <a:solidFill>
            <a:srgbClr val="E8A33D"/>
          </a:solidFill>
        </p:spPr>
        <p:txBody>
          <a:bodyPr/>
          <a:lstStyle/>
          <a:p>
            <a:endParaRPr/>
          </a:p>
        </p:txBody>
      </p:sp>
      <p:sp>
        <p:nvSpPr>
          <p:cNvPr id="10" name="Text 7">
            <a:extLst>
              <a:ext uri="{FF2B5EF4-FFF2-40B4-BE49-F238E27FC236}">
                <a16:creationId xmlns:a16="http://schemas.microsoft.com/office/drawing/2014/main" id="{B3CA11BD-8F40-48E2-91C6-DC5A0051887E}"/>
              </a:ext>
            </a:extLst>
          </p:cNvPr>
          <p:cNvSpPr>
            <a:spLocks noGrp="1"/>
          </p:cNvSpPr>
          <p:nvPr/>
        </p:nvSpPr>
        <p:spPr>
          <a:xfrm>
            <a:off x="914400" y="4937760"/>
            <a:ext cx="7680960" cy="320040"/>
          </a:xfrm>
          <a:prstGeom prst="rect">
            <a:avLst/>
          </a:prstGeom>
          <a:noFill/>
        </p:spPr>
        <p:txBody>
          <a:bodyPr wrap="square" anchor="ctr"/>
          <a:lstStyle/>
          <a:p>
            <a:pPr marL="0" indent="0">
              <a:buNone/>
            </a:pPr>
            <a:r>
              <a:rPr sz="1250">
                <a:solidFill>
                  <a:srgbClr val="2B2E43"/>
                </a:solidFill>
                <a:latin typeface="Calibri"/>
                <a:ea typeface="Calibri"/>
                <a:cs typeface="Calibri"/>
              </a:rPr>
              <a:t>Maximum one search per employee per hour</a:t>
            </a:r>
            <a:endParaRPr sz="1250"/>
          </a:p>
        </p:txBody>
      </p:sp>
      <p:sp>
        <p:nvSpPr>
          <p:cNvPr id="11" name="Shape 8">
            <a:extLst>
              <a:ext uri="{FF2B5EF4-FFF2-40B4-BE49-F238E27FC236}">
                <a16:creationId xmlns:a16="http://schemas.microsoft.com/office/drawing/2014/main" id="{6792C397-E839-44BD-B378-E4E9661EDF77}"/>
              </a:ext>
            </a:extLst>
          </p:cNvPr>
          <p:cNvSpPr>
            <a:spLocks noGrp="1"/>
          </p:cNvSpPr>
          <p:nvPr/>
        </p:nvSpPr>
        <p:spPr>
          <a:xfrm>
            <a:off x="640080" y="5404104"/>
            <a:ext cx="109728" cy="109728"/>
          </a:xfrm>
          <a:prstGeom prst="ellipse">
            <a:avLst/>
          </a:prstGeom>
          <a:solidFill>
            <a:srgbClr val="E8A33D"/>
          </a:solidFill>
        </p:spPr>
        <p:txBody>
          <a:bodyPr/>
          <a:lstStyle/>
          <a:p>
            <a:endParaRPr/>
          </a:p>
        </p:txBody>
      </p:sp>
      <p:sp>
        <p:nvSpPr>
          <p:cNvPr id="12" name="Text 9">
            <a:extLst>
              <a:ext uri="{FF2B5EF4-FFF2-40B4-BE49-F238E27FC236}">
                <a16:creationId xmlns:a16="http://schemas.microsoft.com/office/drawing/2014/main" id="{ABF42F62-8D0A-4D21-8941-5243A02AACB8}"/>
              </a:ext>
            </a:extLst>
          </p:cNvPr>
          <p:cNvSpPr>
            <a:spLocks noGrp="1"/>
          </p:cNvSpPr>
          <p:nvPr/>
        </p:nvSpPr>
        <p:spPr>
          <a:xfrm>
            <a:off x="914400" y="5303520"/>
            <a:ext cx="7680960" cy="320040"/>
          </a:xfrm>
          <a:prstGeom prst="rect">
            <a:avLst/>
          </a:prstGeom>
          <a:noFill/>
        </p:spPr>
        <p:txBody>
          <a:bodyPr wrap="square" anchor="ctr"/>
          <a:lstStyle/>
          <a:p>
            <a:pPr marL="0" indent="0">
              <a:buNone/>
            </a:pPr>
            <a:r>
              <a:rPr sz="1250">
                <a:solidFill>
                  <a:srgbClr val="2B2E43"/>
                </a:solidFill>
                <a:latin typeface="Calibri"/>
                <a:ea typeface="Calibri"/>
                <a:cs typeface="Calibri"/>
              </a:rPr>
              <a:t>Maximum nine searches per employee per nine-hour workday</a:t>
            </a:r>
            <a:endParaRPr sz="1250"/>
          </a:p>
        </p:txBody>
      </p:sp>
      <p:sp>
        <p:nvSpPr>
          <p:cNvPr id="13" name="Shape 10">
            <a:extLst>
              <a:ext uri="{FF2B5EF4-FFF2-40B4-BE49-F238E27FC236}">
                <a16:creationId xmlns:a16="http://schemas.microsoft.com/office/drawing/2014/main" id="{B2519690-F2B9-4349-802B-85ABB3079F4C}"/>
              </a:ext>
            </a:extLst>
          </p:cNvPr>
          <p:cNvSpPr>
            <a:spLocks noGrp="1"/>
          </p:cNvSpPr>
          <p:nvPr/>
        </p:nvSpPr>
        <p:spPr>
          <a:xfrm>
            <a:off x="640080" y="5769864"/>
            <a:ext cx="109728" cy="109728"/>
          </a:xfrm>
          <a:prstGeom prst="ellipse">
            <a:avLst/>
          </a:prstGeom>
          <a:solidFill>
            <a:srgbClr val="E8A33D"/>
          </a:solidFill>
        </p:spPr>
        <p:txBody>
          <a:bodyPr/>
          <a:lstStyle/>
          <a:p>
            <a:endParaRPr/>
          </a:p>
        </p:txBody>
      </p:sp>
      <p:sp>
        <p:nvSpPr>
          <p:cNvPr id="14" name="Text 11">
            <a:extLst>
              <a:ext uri="{FF2B5EF4-FFF2-40B4-BE49-F238E27FC236}">
                <a16:creationId xmlns:a16="http://schemas.microsoft.com/office/drawing/2014/main" id="{17A6629D-8039-4827-B9EE-E57C152F4C63}"/>
              </a:ext>
            </a:extLst>
          </p:cNvPr>
          <p:cNvSpPr>
            <a:spLocks noGrp="1"/>
          </p:cNvSpPr>
          <p:nvPr/>
        </p:nvSpPr>
        <p:spPr>
          <a:xfrm>
            <a:off x="914400" y="5669280"/>
            <a:ext cx="7680960" cy="320040"/>
          </a:xfrm>
          <a:prstGeom prst="rect">
            <a:avLst/>
          </a:prstGeom>
          <a:noFill/>
        </p:spPr>
        <p:txBody>
          <a:bodyPr wrap="square" anchor="ctr"/>
          <a:lstStyle/>
          <a:p>
            <a:pPr marL="0" indent="0">
              <a:buNone/>
            </a:pPr>
            <a:r>
              <a:rPr sz="1250">
                <a:solidFill>
                  <a:srgbClr val="2B2E43"/>
                </a:solidFill>
                <a:latin typeface="Calibri"/>
                <a:ea typeface="Calibri"/>
                <a:cs typeface="Calibri"/>
              </a:rPr>
              <a:t>Cache duplicate generic searches for 24–48 hours</a:t>
            </a:r>
            <a:endParaRPr sz="1250"/>
          </a:p>
        </p:txBody>
      </p:sp>
      <p:sp>
        <p:nvSpPr>
          <p:cNvPr id="15" name="Shape 12">
            <a:extLst>
              <a:ext uri="{FF2B5EF4-FFF2-40B4-BE49-F238E27FC236}">
                <a16:creationId xmlns:a16="http://schemas.microsoft.com/office/drawing/2014/main" id="{ABE8A5B6-954D-4ED6-A699-7875D8A2364C}"/>
              </a:ext>
            </a:extLst>
          </p:cNvPr>
          <p:cNvSpPr>
            <a:spLocks noGrp="1"/>
          </p:cNvSpPr>
          <p:nvPr/>
        </p:nvSpPr>
        <p:spPr>
          <a:xfrm>
            <a:off x="8686800" y="4251960"/>
            <a:ext cx="2862072" cy="1920240"/>
          </a:xfrm>
          <a:prstGeom prst="roundRect">
            <a:avLst>
              <a:gd name="adj" fmla="val 3810"/>
            </a:avLst>
          </a:prstGeom>
          <a:solidFill>
            <a:srgbClr val="1E2761"/>
          </a:solidFill>
          <a:ln w="12700">
            <a:solidFill>
              <a:srgbClr val="1E2761"/>
            </a:solidFill>
            <a:prstDash val="solid"/>
          </a:ln>
        </p:spPr>
        <p:txBody>
          <a:bodyPr/>
          <a:lstStyle/>
          <a:p>
            <a:endParaRPr/>
          </a:p>
        </p:txBody>
      </p:sp>
      <p:sp>
        <p:nvSpPr>
          <p:cNvPr id="16" name="Text 13">
            <a:extLst>
              <a:ext uri="{FF2B5EF4-FFF2-40B4-BE49-F238E27FC236}">
                <a16:creationId xmlns:a16="http://schemas.microsoft.com/office/drawing/2014/main" id="{268706B5-C931-4254-A489-DFE55357097E}"/>
              </a:ext>
            </a:extLst>
          </p:cNvPr>
          <p:cNvSpPr>
            <a:spLocks noGrp="1"/>
          </p:cNvSpPr>
          <p:nvPr/>
        </p:nvSpPr>
        <p:spPr>
          <a:xfrm>
            <a:off x="8915400" y="4434840"/>
            <a:ext cx="2468880" cy="274320"/>
          </a:xfrm>
          <a:prstGeom prst="rect">
            <a:avLst/>
          </a:prstGeom>
          <a:noFill/>
        </p:spPr>
        <p:txBody>
          <a:bodyPr wrap="square" anchor="ctr"/>
          <a:lstStyle/>
          <a:p>
            <a:pPr marL="0" indent="0">
              <a:buNone/>
            </a:pPr>
            <a:r>
              <a:rPr sz="1000" b="1" spc="100">
                <a:solidFill>
                  <a:srgbClr val="E8A33D"/>
                </a:solidFill>
                <a:latin typeface="Calibri"/>
                <a:ea typeface="Calibri"/>
                <a:cs typeface="Calibri"/>
              </a:rPr>
              <a:t>DATA HANDLING</a:t>
            </a:r>
            <a:endParaRPr sz="1000"/>
          </a:p>
        </p:txBody>
      </p:sp>
      <p:sp>
        <p:nvSpPr>
          <p:cNvPr id="17" name="Text 14">
            <a:extLst>
              <a:ext uri="{FF2B5EF4-FFF2-40B4-BE49-F238E27FC236}">
                <a16:creationId xmlns:a16="http://schemas.microsoft.com/office/drawing/2014/main" id="{F3A6C992-C2E3-4610-9785-6241C904DA39}"/>
              </a:ext>
            </a:extLst>
          </p:cNvPr>
          <p:cNvSpPr>
            <a:spLocks noGrp="1"/>
          </p:cNvSpPr>
          <p:nvPr/>
        </p:nvSpPr>
        <p:spPr>
          <a:xfrm>
            <a:off x="8915400" y="4754880"/>
            <a:ext cx="2468880" cy="1280160"/>
          </a:xfrm>
          <a:prstGeom prst="rect">
            <a:avLst/>
          </a:prstGeom>
          <a:noFill/>
        </p:spPr>
        <p:txBody>
          <a:bodyPr wrap="square" anchor="ctr"/>
          <a:lstStyle/>
          <a:p>
            <a:pPr marL="0" indent="0">
              <a:lnSpc>
                <a:spcPct val="125000"/>
              </a:lnSpc>
              <a:buNone/>
            </a:pPr>
            <a:r>
              <a:rPr sz="1100">
                <a:solidFill>
                  <a:srgbClr val="CADCFC"/>
                </a:solidFill>
                <a:latin typeface="Calibri"/>
                <a:ea typeface="Calibri"/>
                <a:cs typeface="Calibri"/>
              </a:rPr>
              <a:t>Never send screenshots, keystrokes, employee/customer data, project names, private URLs, or visible sensitive values to the search provider.</a:t>
            </a:r>
            <a:endParaRPr sz="1100"/>
          </a:p>
        </p:txBody>
      </p:sp>
      <p:sp>
        <p:nvSpPr>
          <p:cNvPr id="18" name="Text 15">
            <a:extLst>
              <a:ext uri="{FF2B5EF4-FFF2-40B4-BE49-F238E27FC236}">
                <a16:creationId xmlns:a16="http://schemas.microsoft.com/office/drawing/2014/main" id="{647514A6-69ED-4ABC-AD29-47614982A8E9}"/>
              </a:ext>
            </a:extLst>
          </p:cNvPr>
          <p:cNvSpPr>
            <a:spLocks noGrp="1"/>
          </p:cNvSpPr>
          <p:nvPr/>
        </p:nvSpPr>
        <p:spPr>
          <a:xfrm>
            <a:off x="640080" y="6400800"/>
            <a:ext cx="4572000" cy="274320"/>
          </a:xfrm>
          <a:prstGeom prst="rect">
            <a:avLst/>
          </a:prstGeom>
          <a:noFill/>
        </p:spPr>
        <p:txBody>
          <a:bodyPr wrap="square" anchor="ctr"/>
          <a:lstStyle/>
          <a:p>
            <a:pPr marL="0" indent="0">
              <a:buNone/>
            </a:pPr>
            <a:r>
              <a:rPr sz="1000">
                <a:solidFill>
                  <a:srgbClr val="6B7280"/>
                </a:solidFill>
                <a:latin typeface="Calibri"/>
                <a:ea typeface="Calibri"/>
                <a:cs typeface="Calibri"/>
              </a:rPr>
              <a:t>Astravi — AI Cost Comparison</a:t>
            </a:r>
            <a:endParaRPr sz="1000"/>
          </a:p>
        </p:txBody>
      </p:sp>
      <p:sp>
        <p:nvSpPr>
          <p:cNvPr id="19" name="Text 16">
            <a:extLst>
              <a:ext uri="{FF2B5EF4-FFF2-40B4-BE49-F238E27FC236}">
                <a16:creationId xmlns:a16="http://schemas.microsoft.com/office/drawing/2014/main" id="{767638F9-A50D-448E-8827-D32CD456F9D2}"/>
              </a:ext>
            </a:extLst>
          </p:cNvPr>
          <p:cNvSpPr>
            <a:spLocks noGrp="1"/>
          </p:cNvSpPr>
          <p:nvPr/>
        </p:nvSpPr>
        <p:spPr>
          <a:xfrm>
            <a:off x="11365992" y="6400800"/>
            <a:ext cx="548640" cy="274320"/>
          </a:xfrm>
          <a:prstGeom prst="rect">
            <a:avLst/>
          </a:prstGeom>
          <a:noFill/>
        </p:spPr>
        <p:txBody>
          <a:bodyPr wrap="square" anchor="ctr"/>
          <a:lstStyle/>
          <a:p>
            <a:pPr marL="0" indent="0" algn="r">
              <a:buNone/>
            </a:pPr>
            <a:r>
              <a:rPr sz="1000">
                <a:solidFill>
                  <a:srgbClr val="6B7280"/>
                </a:solidFill>
                <a:latin typeface="Calibri"/>
                <a:ea typeface="Calibri"/>
                <a:cs typeface="Calibri"/>
              </a:rPr>
              <a:t>06</a:t>
            </a:r>
            <a:endParaRPr sz="1000"/>
          </a:p>
        </p:txBody>
      </p:sp>
    </p:spTree>
    <p:extLst>
      <p:ext uri="{BB962C8B-B14F-4D97-AF65-F5344CB8AC3E}">
        <p14:creationId xmlns:p14="http://schemas.microsoft.com/office/powerpoint/2010/main" val="1775441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9D014EE-C043-4269-9A38-684FE69A1B2E}"/>
              </a:ext>
            </a:extLst>
          </p:cNvPr>
          <p:cNvSpPr>
            <a:spLocks noGrp="1"/>
          </p:cNvSpPr>
          <p:nvPr/>
        </p:nvSpPr>
        <p:spPr>
          <a:xfrm>
            <a:off x="640080" y="411480"/>
            <a:ext cx="7315200" cy="320040"/>
          </a:xfrm>
          <a:prstGeom prst="rect">
            <a:avLst/>
          </a:prstGeom>
          <a:noFill/>
        </p:spPr>
        <p:txBody>
          <a:bodyPr wrap="square" anchor="ctr"/>
          <a:lstStyle/>
          <a:p>
            <a:pPr marL="0" indent="0">
              <a:buNone/>
            </a:pPr>
            <a:r>
              <a:rPr sz="1300" b="1" spc="200">
                <a:solidFill>
                  <a:srgbClr val="E8A33D"/>
                </a:solidFill>
                <a:latin typeface="Calibri"/>
                <a:ea typeface="Calibri"/>
                <a:cs typeface="Calibri"/>
              </a:rPr>
              <a:t>SEARCH API COST AT SCALE</a:t>
            </a:r>
            <a:endParaRPr sz="1300"/>
          </a:p>
        </p:txBody>
      </p:sp>
      <p:sp>
        <p:nvSpPr>
          <p:cNvPr id="3" name="Text 1">
            <a:extLst>
              <a:ext uri="{FF2B5EF4-FFF2-40B4-BE49-F238E27FC236}">
                <a16:creationId xmlns:a16="http://schemas.microsoft.com/office/drawing/2014/main" id="{61EFDA83-AC21-455E-B07C-E67986CCDD65}"/>
              </a:ext>
            </a:extLst>
          </p:cNvPr>
          <p:cNvSpPr>
            <a:spLocks noGrp="1"/>
          </p:cNvSpPr>
          <p:nvPr/>
        </p:nvSpPr>
        <p:spPr>
          <a:xfrm>
            <a:off x="640080" y="713232"/>
            <a:ext cx="10515600" cy="822960"/>
          </a:xfrm>
          <a:prstGeom prst="rect">
            <a:avLst/>
          </a:prstGeom>
          <a:noFill/>
        </p:spPr>
        <p:txBody>
          <a:bodyPr wrap="square" anchor="ctr"/>
          <a:lstStyle/>
          <a:p>
            <a:pPr marL="0" indent="0">
              <a:lnSpc>
                <a:spcPts val="3400"/>
              </a:lnSpc>
              <a:buNone/>
            </a:pPr>
            <a:r>
              <a:rPr sz="3000" b="1">
                <a:solidFill>
                  <a:srgbClr val="1E2761"/>
                </a:solidFill>
                <a:latin typeface="Cambria"/>
                <a:ea typeface="Cambria"/>
                <a:cs typeface="Cambria"/>
              </a:rPr>
              <a:t>External-search cost for 100 employees</a:t>
            </a:r>
            <a:endParaRPr sz="3000"/>
          </a:p>
        </p:txBody>
      </p:sp>
      <p:sp>
        <p:nvSpPr>
          <p:cNvPr id="4" name="Text 2">
            <a:extLst>
              <a:ext uri="{FF2B5EF4-FFF2-40B4-BE49-F238E27FC236}">
                <a16:creationId xmlns:a16="http://schemas.microsoft.com/office/drawing/2014/main" id="{EF1BF472-5C4B-4196-84B1-8C947E8E2BB2}"/>
              </a:ext>
            </a:extLst>
          </p:cNvPr>
          <p:cNvSpPr>
            <a:spLocks noGrp="1"/>
          </p:cNvSpPr>
          <p:nvPr/>
        </p:nvSpPr>
        <p:spPr>
          <a:xfrm>
            <a:off x="640080" y="1417320"/>
            <a:ext cx="10332720" cy="685800"/>
          </a:xfrm>
          <a:prstGeom prst="rect">
            <a:avLst/>
          </a:prstGeom>
          <a:noFill/>
        </p:spPr>
        <p:txBody>
          <a:bodyPr wrap="square" anchor="ctr"/>
          <a:lstStyle/>
          <a:p>
            <a:pPr marL="0" indent="0">
              <a:lnSpc>
                <a:spcPct val="125000"/>
              </a:lnSpc>
              <a:buNone/>
            </a:pPr>
            <a:r>
              <a:rPr sz="1300">
                <a:solidFill>
                  <a:srgbClr val="6B7280"/>
                </a:solidFill>
                <a:latin typeface="Calibri"/>
                <a:ea typeface="Calibri"/>
                <a:cs typeface="Calibri"/>
              </a:rPr>
              <a:t>At a maximum of nine searches per employee each day, 100 employees generate up to 900 searches per day and 19,800 searches per 22-day month.</a:t>
            </a:r>
            <a:endParaRPr sz="1300"/>
          </a:p>
        </p:txBody>
      </p:sp>
      <p:graphicFrame>
        <p:nvGraphicFramePr>
          <p:cNvPr id="24" name="Table 0"/>
          <p:cNvGraphicFramePr/>
          <p:nvPr/>
        </p:nvGraphicFramePr>
        <p:xfrm>
          <a:off x="640080" y="2331720"/>
          <a:ext cx="10908792" cy="1536192"/>
        </p:xfrm>
        <a:graphic>
          <a:graphicData uri="http://schemas.openxmlformats.org/drawingml/2006/table">
            <a:tbl>
              <a:tblPr/>
              <a:tblGrid>
                <a:gridCol w="31089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384048">
                <a:tc>
                  <a:txBody>
                    <a:bodyPr/>
                    <a:lstStyle/>
                    <a:p>
                      <a:pPr marL="0" indent="0">
                        <a:buNone/>
                      </a:pPr>
                      <a:r>
                        <a:rPr sz="1200" b="1">
                          <a:solidFill>
                            <a:srgbClr val="FFFFFF"/>
                          </a:solidFill>
                          <a:latin typeface="Calibri"/>
                          <a:ea typeface="Calibri"/>
                          <a:cs typeface="Calibri"/>
                        </a:rPr>
                        <a:t>Search provider</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1E2761"/>
                    </a:solidFill>
                  </a:tcPr>
                </a:tc>
                <a:tc>
                  <a:txBody>
                    <a:bodyPr/>
                    <a:lstStyle/>
                    <a:p>
                      <a:pPr marL="0" indent="0">
                        <a:buNone/>
                      </a:pPr>
                      <a:r>
                        <a:rPr sz="1200" b="1">
                          <a:solidFill>
                            <a:srgbClr val="FFFFFF"/>
                          </a:solidFill>
                          <a:latin typeface="Calibri"/>
                          <a:ea typeface="Calibri"/>
                          <a:cs typeface="Calibri"/>
                        </a:rPr>
                        <a:t>Cost / search</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1E2761"/>
                    </a:solidFill>
                  </a:tcPr>
                </a:tc>
                <a:tc>
                  <a:txBody>
                    <a:bodyPr/>
                    <a:lstStyle/>
                    <a:p>
                      <a:pPr marL="0" indent="0">
                        <a:buNone/>
                      </a:pPr>
                      <a:r>
                        <a:rPr sz="1200" b="1">
                          <a:solidFill>
                            <a:srgbClr val="FFFFFF"/>
                          </a:solidFill>
                          <a:latin typeface="Calibri"/>
                          <a:ea typeface="Calibri"/>
                          <a:cs typeface="Calibri"/>
                        </a:rPr>
                        <a:t>Daily cost / 100 employees</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1E2761"/>
                    </a:solidFill>
                  </a:tcPr>
                </a:tc>
                <a:tc>
                  <a:txBody>
                    <a:bodyPr/>
                    <a:lstStyle/>
                    <a:p>
                      <a:pPr marL="0" indent="0">
                        <a:buNone/>
                      </a:pPr>
                      <a:r>
                        <a:rPr sz="1200" b="1">
                          <a:solidFill>
                            <a:srgbClr val="FFFFFF"/>
                          </a:solidFill>
                          <a:latin typeface="Calibri"/>
                          <a:ea typeface="Calibri"/>
                          <a:cs typeface="Calibri"/>
                        </a:rPr>
                        <a:t>Monthly cost / 100 employees</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1E2761"/>
                    </a:solidFill>
                  </a:tcPr>
                </a:tc>
                <a:extLst>
                  <a:ext uri="{0D108BD9-81ED-4DB2-BD59-A6C34878D82A}">
                    <a16:rowId xmlns:a16="http://schemas.microsoft.com/office/drawing/2014/main" val="10000"/>
                  </a:ext>
                </a:extLst>
              </a:tr>
              <a:tr h="384048">
                <a:tc>
                  <a:txBody>
                    <a:bodyPr/>
                    <a:lstStyle/>
                    <a:p>
                      <a:pPr marL="0" indent="0">
                        <a:buNone/>
                      </a:pPr>
                      <a:r>
                        <a:rPr sz="1200">
                          <a:solidFill>
                            <a:srgbClr val="2B2E43"/>
                          </a:solidFill>
                          <a:latin typeface="Calibri"/>
                          <a:ea typeface="Calibri"/>
                          <a:cs typeface="Calibri"/>
                        </a:rPr>
                        <a:t>Brave Search API</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tc>
                  <a:txBody>
                    <a:bodyPr/>
                    <a:lstStyle/>
                    <a:p>
                      <a:pPr marL="0" indent="0">
                        <a:buNone/>
                      </a:pPr>
                      <a:r>
                        <a:rPr sz="1200">
                          <a:solidFill>
                            <a:srgbClr val="2B2E43"/>
                          </a:solidFill>
                          <a:latin typeface="Calibri"/>
                          <a:ea typeface="Calibri"/>
                          <a:cs typeface="Calibri"/>
                        </a:rPr>
                        <a:t>~$0.0050</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tc>
                  <a:txBody>
                    <a:bodyPr/>
                    <a:lstStyle/>
                    <a:p>
                      <a:pPr marL="0" indent="0">
                        <a:buNone/>
                      </a:pPr>
                      <a:r>
                        <a:rPr sz="1200">
                          <a:solidFill>
                            <a:srgbClr val="2B2E43"/>
                          </a:solidFill>
                          <a:latin typeface="Calibri"/>
                          <a:ea typeface="Calibri"/>
                          <a:cs typeface="Calibri"/>
                        </a:rPr>
                        <a:t>~$4.50</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tc>
                  <a:txBody>
                    <a:bodyPr/>
                    <a:lstStyle/>
                    <a:p>
                      <a:pPr marL="0" indent="0">
                        <a:buNone/>
                      </a:pPr>
                      <a:r>
                        <a:rPr sz="1200">
                          <a:solidFill>
                            <a:srgbClr val="2B2E43"/>
                          </a:solidFill>
                          <a:latin typeface="Calibri"/>
                          <a:ea typeface="Calibri"/>
                          <a:cs typeface="Calibri"/>
                        </a:rPr>
                        <a:t>~$99.00</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sz="1200">
                          <a:solidFill>
                            <a:srgbClr val="2B2E43"/>
                          </a:solidFill>
                          <a:latin typeface="Calibri"/>
                          <a:ea typeface="Calibri"/>
                          <a:cs typeface="Calibri"/>
                        </a:rPr>
                        <a:t>Tavily Basic</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4F7FC"/>
                    </a:solidFill>
                  </a:tcPr>
                </a:tc>
                <a:tc>
                  <a:txBody>
                    <a:bodyPr/>
                    <a:lstStyle/>
                    <a:p>
                      <a:pPr marL="0" indent="0">
                        <a:buNone/>
                      </a:pPr>
                      <a:r>
                        <a:rPr sz="1200">
                          <a:solidFill>
                            <a:srgbClr val="2B2E43"/>
                          </a:solidFill>
                          <a:latin typeface="Calibri"/>
                          <a:ea typeface="Calibri"/>
                          <a:cs typeface="Calibri"/>
                        </a:rPr>
                        <a:t>~$0.0080</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4F7FC"/>
                    </a:solidFill>
                  </a:tcPr>
                </a:tc>
                <a:tc>
                  <a:txBody>
                    <a:bodyPr/>
                    <a:lstStyle/>
                    <a:p>
                      <a:pPr marL="0" indent="0">
                        <a:buNone/>
                      </a:pPr>
                      <a:r>
                        <a:rPr sz="1200">
                          <a:solidFill>
                            <a:srgbClr val="2B2E43"/>
                          </a:solidFill>
                          <a:latin typeface="Calibri"/>
                          <a:ea typeface="Calibri"/>
                          <a:cs typeface="Calibri"/>
                        </a:rPr>
                        <a:t>~$7.20</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4F7FC"/>
                    </a:solidFill>
                  </a:tcPr>
                </a:tc>
                <a:tc>
                  <a:txBody>
                    <a:bodyPr/>
                    <a:lstStyle/>
                    <a:p>
                      <a:pPr marL="0" indent="0">
                        <a:buNone/>
                      </a:pPr>
                      <a:r>
                        <a:rPr sz="1200">
                          <a:solidFill>
                            <a:srgbClr val="2B2E43"/>
                          </a:solidFill>
                          <a:latin typeface="Calibri"/>
                          <a:ea typeface="Calibri"/>
                          <a:cs typeface="Calibri"/>
                        </a:rPr>
                        <a:t>~$158.40</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4F7FC"/>
                    </a:solidFill>
                  </a:tcPr>
                </a:tc>
                <a:extLst>
                  <a:ext uri="{0D108BD9-81ED-4DB2-BD59-A6C34878D82A}">
                    <a16:rowId xmlns:a16="http://schemas.microsoft.com/office/drawing/2014/main" val="10002"/>
                  </a:ext>
                </a:extLst>
              </a:tr>
              <a:tr h="384048">
                <a:tc>
                  <a:txBody>
                    <a:bodyPr/>
                    <a:lstStyle/>
                    <a:p>
                      <a:pPr marL="0" indent="0">
                        <a:buNone/>
                      </a:pPr>
                      <a:r>
                        <a:rPr sz="1200">
                          <a:solidFill>
                            <a:srgbClr val="2B2E43"/>
                          </a:solidFill>
                          <a:latin typeface="Calibri"/>
                          <a:ea typeface="Calibri"/>
                          <a:cs typeface="Calibri"/>
                        </a:rPr>
                        <a:t>Tavily Advanced</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tc>
                  <a:txBody>
                    <a:bodyPr/>
                    <a:lstStyle/>
                    <a:p>
                      <a:pPr marL="0" indent="0">
                        <a:buNone/>
                      </a:pPr>
                      <a:r>
                        <a:rPr sz="1200">
                          <a:solidFill>
                            <a:srgbClr val="2B2E43"/>
                          </a:solidFill>
                          <a:latin typeface="Calibri"/>
                          <a:ea typeface="Calibri"/>
                          <a:cs typeface="Calibri"/>
                        </a:rPr>
                        <a:t>~$0.0160</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tc>
                  <a:txBody>
                    <a:bodyPr/>
                    <a:lstStyle/>
                    <a:p>
                      <a:pPr marL="0" indent="0">
                        <a:buNone/>
                      </a:pPr>
                      <a:r>
                        <a:rPr sz="1200">
                          <a:solidFill>
                            <a:srgbClr val="2B2E43"/>
                          </a:solidFill>
                          <a:latin typeface="Calibri"/>
                          <a:ea typeface="Calibri"/>
                          <a:cs typeface="Calibri"/>
                        </a:rPr>
                        <a:t>~$14.40</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tc>
                  <a:txBody>
                    <a:bodyPr/>
                    <a:lstStyle/>
                    <a:p>
                      <a:pPr marL="0" indent="0">
                        <a:buNone/>
                      </a:pPr>
                      <a:r>
                        <a:rPr sz="1200">
                          <a:solidFill>
                            <a:srgbClr val="2B2E43"/>
                          </a:solidFill>
                          <a:latin typeface="Calibri"/>
                          <a:ea typeface="Calibri"/>
                          <a:cs typeface="Calibri"/>
                        </a:rPr>
                        <a:t>~$316.80</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6" name="Text 3">
            <a:extLst>
              <a:ext uri="{FF2B5EF4-FFF2-40B4-BE49-F238E27FC236}">
                <a16:creationId xmlns:a16="http://schemas.microsoft.com/office/drawing/2014/main" id="{5BB79418-4891-4128-B3FF-53D794D31143}"/>
              </a:ext>
            </a:extLst>
          </p:cNvPr>
          <p:cNvSpPr>
            <a:spLocks noGrp="1"/>
          </p:cNvSpPr>
          <p:nvPr/>
        </p:nvSpPr>
        <p:spPr>
          <a:xfrm>
            <a:off x="640080" y="4251960"/>
            <a:ext cx="7315200" cy="320040"/>
          </a:xfrm>
          <a:prstGeom prst="rect">
            <a:avLst/>
          </a:prstGeom>
          <a:noFill/>
        </p:spPr>
        <p:txBody>
          <a:bodyPr wrap="square" anchor="ctr"/>
          <a:lstStyle/>
          <a:p>
            <a:pPr marL="0" indent="0">
              <a:buNone/>
            </a:pPr>
            <a:r>
              <a:rPr sz="1300" b="1" spc="200">
                <a:solidFill>
                  <a:srgbClr val="1E2761"/>
                </a:solidFill>
                <a:latin typeface="Calibri"/>
                <a:ea typeface="Calibri"/>
                <a:cs typeface="Calibri"/>
              </a:rPr>
              <a:t>RESEARCHED-RECOMMENDATION COST</a:t>
            </a:r>
            <a:endParaRPr sz="1300"/>
          </a:p>
        </p:txBody>
      </p:sp>
      <p:sp>
        <p:nvSpPr>
          <p:cNvPr id="7" name="Shape 4">
            <a:extLst>
              <a:ext uri="{FF2B5EF4-FFF2-40B4-BE49-F238E27FC236}">
                <a16:creationId xmlns:a16="http://schemas.microsoft.com/office/drawing/2014/main" id="{3D663FD4-1343-4687-9B4E-D5FB053CBAD0}"/>
              </a:ext>
            </a:extLst>
          </p:cNvPr>
          <p:cNvSpPr>
            <a:spLocks noGrp="1"/>
          </p:cNvSpPr>
          <p:nvPr/>
        </p:nvSpPr>
        <p:spPr>
          <a:xfrm>
            <a:off x="640080" y="4672584"/>
            <a:ext cx="109728" cy="109728"/>
          </a:xfrm>
          <a:prstGeom prst="ellipse">
            <a:avLst/>
          </a:prstGeom>
          <a:solidFill>
            <a:srgbClr val="E8A33D"/>
          </a:solidFill>
        </p:spPr>
        <p:txBody>
          <a:bodyPr/>
          <a:lstStyle/>
          <a:p>
            <a:endParaRPr/>
          </a:p>
        </p:txBody>
      </p:sp>
      <p:sp>
        <p:nvSpPr>
          <p:cNvPr id="8" name="Text 5">
            <a:extLst>
              <a:ext uri="{FF2B5EF4-FFF2-40B4-BE49-F238E27FC236}">
                <a16:creationId xmlns:a16="http://schemas.microsoft.com/office/drawing/2014/main" id="{E8206CF9-4727-4C6A-AF23-32EBB59DF865}"/>
              </a:ext>
            </a:extLst>
          </p:cNvPr>
          <p:cNvSpPr>
            <a:spLocks noGrp="1"/>
          </p:cNvSpPr>
          <p:nvPr/>
        </p:nvSpPr>
        <p:spPr>
          <a:xfrm>
            <a:off x="914400" y="4572000"/>
            <a:ext cx="7680960" cy="320040"/>
          </a:xfrm>
          <a:prstGeom prst="rect">
            <a:avLst/>
          </a:prstGeom>
          <a:noFill/>
        </p:spPr>
        <p:txBody>
          <a:bodyPr wrap="square" anchor="ctr"/>
          <a:lstStyle/>
          <a:p>
            <a:pPr marL="0" indent="0">
              <a:buNone/>
            </a:pPr>
            <a:r>
              <a:rPr sz="1250">
                <a:solidFill>
                  <a:srgbClr val="2B2E43"/>
                </a:solidFill>
                <a:latin typeface="Calibri"/>
                <a:ea typeface="Calibri"/>
                <a:cs typeface="Calibri"/>
              </a:rPr>
              <a:t>Brave: OpenAI ~$4.77 / ~$104.94; Claude ~$8.86 / ~$194.99; Qwen ~$4.50 / ~$99.00.</a:t>
            </a:r>
            <a:endParaRPr sz="1250"/>
          </a:p>
        </p:txBody>
      </p:sp>
      <p:sp>
        <p:nvSpPr>
          <p:cNvPr id="9" name="Shape 6">
            <a:extLst>
              <a:ext uri="{FF2B5EF4-FFF2-40B4-BE49-F238E27FC236}">
                <a16:creationId xmlns:a16="http://schemas.microsoft.com/office/drawing/2014/main" id="{649658FD-4E6A-49BD-81BE-ECB0DE42F0D5}"/>
              </a:ext>
            </a:extLst>
          </p:cNvPr>
          <p:cNvSpPr>
            <a:spLocks noGrp="1"/>
          </p:cNvSpPr>
          <p:nvPr/>
        </p:nvSpPr>
        <p:spPr>
          <a:xfrm>
            <a:off x="640080" y="5038344"/>
            <a:ext cx="109728" cy="109728"/>
          </a:xfrm>
          <a:prstGeom prst="ellipse">
            <a:avLst/>
          </a:prstGeom>
          <a:solidFill>
            <a:srgbClr val="E8A33D"/>
          </a:solidFill>
        </p:spPr>
        <p:txBody>
          <a:bodyPr/>
          <a:lstStyle/>
          <a:p>
            <a:endParaRPr/>
          </a:p>
        </p:txBody>
      </p:sp>
      <p:sp>
        <p:nvSpPr>
          <p:cNvPr id="10" name="Text 7">
            <a:extLst>
              <a:ext uri="{FF2B5EF4-FFF2-40B4-BE49-F238E27FC236}">
                <a16:creationId xmlns:a16="http://schemas.microsoft.com/office/drawing/2014/main" id="{B3CA11BD-8F40-48E2-91C6-DC5A0051887E}"/>
              </a:ext>
            </a:extLst>
          </p:cNvPr>
          <p:cNvSpPr>
            <a:spLocks noGrp="1"/>
          </p:cNvSpPr>
          <p:nvPr/>
        </p:nvSpPr>
        <p:spPr>
          <a:xfrm>
            <a:off x="914400" y="4937760"/>
            <a:ext cx="7680960" cy="320040"/>
          </a:xfrm>
          <a:prstGeom prst="rect">
            <a:avLst/>
          </a:prstGeom>
          <a:noFill/>
        </p:spPr>
        <p:txBody>
          <a:bodyPr wrap="square" anchor="ctr"/>
          <a:lstStyle/>
          <a:p>
            <a:pPr marL="0" indent="0">
              <a:buNone/>
            </a:pPr>
            <a:r>
              <a:rPr sz="1250">
                <a:solidFill>
                  <a:srgbClr val="2B2E43"/>
                </a:solidFill>
                <a:latin typeface="Calibri"/>
                <a:ea typeface="Calibri"/>
                <a:cs typeface="Calibri"/>
              </a:rPr>
              <a:t>Tavily Basic: OpenAI ~$7.47 / ~$164.34; Claude ~$11.56 / ~$254.39; Qwen ~$7.20 / ~$158.40.</a:t>
            </a:r>
            <a:endParaRPr sz="1250"/>
          </a:p>
        </p:txBody>
      </p:sp>
      <p:sp>
        <p:nvSpPr>
          <p:cNvPr id="11" name="Shape 8">
            <a:extLst>
              <a:ext uri="{FF2B5EF4-FFF2-40B4-BE49-F238E27FC236}">
                <a16:creationId xmlns:a16="http://schemas.microsoft.com/office/drawing/2014/main" id="{6792C397-E839-44BD-B378-E4E9661EDF77}"/>
              </a:ext>
            </a:extLst>
          </p:cNvPr>
          <p:cNvSpPr>
            <a:spLocks noGrp="1"/>
          </p:cNvSpPr>
          <p:nvPr/>
        </p:nvSpPr>
        <p:spPr>
          <a:xfrm>
            <a:off x="640080" y="5404104"/>
            <a:ext cx="109728" cy="109728"/>
          </a:xfrm>
          <a:prstGeom prst="ellipse">
            <a:avLst/>
          </a:prstGeom>
          <a:solidFill>
            <a:srgbClr val="E8A33D"/>
          </a:solidFill>
        </p:spPr>
        <p:txBody>
          <a:bodyPr/>
          <a:lstStyle/>
          <a:p>
            <a:endParaRPr/>
          </a:p>
        </p:txBody>
      </p:sp>
      <p:sp>
        <p:nvSpPr>
          <p:cNvPr id="12" name="Text 9">
            <a:extLst>
              <a:ext uri="{FF2B5EF4-FFF2-40B4-BE49-F238E27FC236}">
                <a16:creationId xmlns:a16="http://schemas.microsoft.com/office/drawing/2014/main" id="{ABF42F62-8D0A-4D21-8941-5243A02AACB8}"/>
              </a:ext>
            </a:extLst>
          </p:cNvPr>
          <p:cNvSpPr>
            <a:spLocks noGrp="1"/>
          </p:cNvSpPr>
          <p:nvPr/>
        </p:nvSpPr>
        <p:spPr>
          <a:xfrm>
            <a:off x="914400" y="5303520"/>
            <a:ext cx="7680960" cy="320040"/>
          </a:xfrm>
          <a:prstGeom prst="rect">
            <a:avLst/>
          </a:prstGeom>
          <a:noFill/>
        </p:spPr>
        <p:txBody>
          <a:bodyPr wrap="square" anchor="ctr"/>
          <a:lstStyle/>
          <a:p>
            <a:pPr marL="0" indent="0">
              <a:buNone/>
            </a:pPr>
            <a:r>
              <a:rPr sz="1250">
                <a:solidFill>
                  <a:srgbClr val="2B2E43"/>
                </a:solidFill>
                <a:latin typeface="Calibri"/>
                <a:ea typeface="Calibri"/>
                <a:cs typeface="Calibri"/>
              </a:rPr>
              <a:t>Tavily Advanced: OpenAI ~$14.67 / ~$322.74; Claude ~$18.76 / ~$412.79; Qwen ~$14.40 / ~$316.80.</a:t>
            </a:r>
            <a:endParaRPr sz="1250"/>
          </a:p>
        </p:txBody>
      </p:sp>
      <p:sp>
        <p:nvSpPr>
          <p:cNvPr id="13" name="Shape 10">
            <a:extLst>
              <a:ext uri="{FF2B5EF4-FFF2-40B4-BE49-F238E27FC236}">
                <a16:creationId xmlns:a16="http://schemas.microsoft.com/office/drawing/2014/main" id="{B2519690-F2B9-4349-802B-85ABB3079F4C}"/>
              </a:ext>
            </a:extLst>
          </p:cNvPr>
          <p:cNvSpPr>
            <a:spLocks noGrp="1"/>
          </p:cNvSpPr>
          <p:nvPr/>
        </p:nvSpPr>
        <p:spPr>
          <a:xfrm>
            <a:off x="640080" y="5769864"/>
            <a:ext cx="109728" cy="109728"/>
          </a:xfrm>
          <a:prstGeom prst="ellipse">
            <a:avLst/>
          </a:prstGeom>
          <a:solidFill>
            <a:srgbClr val="E8A33D"/>
          </a:solidFill>
        </p:spPr>
        <p:txBody>
          <a:bodyPr/>
          <a:lstStyle/>
          <a:p>
            <a:endParaRPr/>
          </a:p>
        </p:txBody>
      </p:sp>
      <p:sp>
        <p:nvSpPr>
          <p:cNvPr id="14" name="Text 11">
            <a:extLst>
              <a:ext uri="{FF2B5EF4-FFF2-40B4-BE49-F238E27FC236}">
                <a16:creationId xmlns:a16="http://schemas.microsoft.com/office/drawing/2014/main" id="{17A6629D-8039-4827-B9EE-E57C152F4C63}"/>
              </a:ext>
            </a:extLst>
          </p:cNvPr>
          <p:cNvSpPr>
            <a:spLocks noGrp="1"/>
          </p:cNvSpPr>
          <p:nvPr/>
        </p:nvSpPr>
        <p:spPr>
          <a:xfrm>
            <a:off x="914400" y="5669280"/>
            <a:ext cx="7680960" cy="320040"/>
          </a:xfrm>
          <a:prstGeom prst="rect">
            <a:avLst/>
          </a:prstGeom>
          <a:noFill/>
        </p:spPr>
        <p:txBody>
          <a:bodyPr wrap="square" anchor="ctr"/>
          <a:lstStyle/>
          <a:p>
            <a:pPr marL="0" indent="0">
              <a:buNone/>
            </a:pPr>
            <a:r>
              <a:rPr sz="1250">
                <a:solidFill>
                  <a:srgbClr val="2B2E43"/>
                </a:solidFill>
                <a:latin typeface="Calibri"/>
                <a:ea typeface="Calibri"/>
                <a:cs typeface="Calibri"/>
              </a:rPr>
              <a:t>Values are daily / monthly for 100 employees. Qwen values cover the search provider only.</a:t>
            </a:r>
            <a:endParaRPr sz="1250"/>
          </a:p>
        </p:txBody>
      </p:sp>
      <p:sp>
        <p:nvSpPr>
          <p:cNvPr id="15" name="Shape 12">
            <a:extLst>
              <a:ext uri="{FF2B5EF4-FFF2-40B4-BE49-F238E27FC236}">
                <a16:creationId xmlns:a16="http://schemas.microsoft.com/office/drawing/2014/main" id="{ABE8A5B6-954D-4ED6-A699-7875D8A2364C}"/>
              </a:ext>
            </a:extLst>
          </p:cNvPr>
          <p:cNvSpPr>
            <a:spLocks noGrp="1"/>
          </p:cNvSpPr>
          <p:nvPr/>
        </p:nvSpPr>
        <p:spPr>
          <a:xfrm>
            <a:off x="8686800" y="4251960"/>
            <a:ext cx="2862072" cy="1920240"/>
          </a:xfrm>
          <a:prstGeom prst="roundRect">
            <a:avLst>
              <a:gd name="adj" fmla="val 3810"/>
            </a:avLst>
          </a:prstGeom>
          <a:solidFill>
            <a:srgbClr val="1E2761"/>
          </a:solidFill>
          <a:ln w="12700">
            <a:solidFill>
              <a:srgbClr val="1E2761"/>
            </a:solidFill>
            <a:prstDash val="solid"/>
          </a:ln>
        </p:spPr>
        <p:txBody>
          <a:bodyPr/>
          <a:lstStyle/>
          <a:p>
            <a:endParaRPr/>
          </a:p>
        </p:txBody>
      </p:sp>
      <p:sp>
        <p:nvSpPr>
          <p:cNvPr id="16" name="Text 13">
            <a:extLst>
              <a:ext uri="{FF2B5EF4-FFF2-40B4-BE49-F238E27FC236}">
                <a16:creationId xmlns:a16="http://schemas.microsoft.com/office/drawing/2014/main" id="{268706B5-C931-4254-A489-DFE55357097E}"/>
              </a:ext>
            </a:extLst>
          </p:cNvPr>
          <p:cNvSpPr>
            <a:spLocks noGrp="1"/>
          </p:cNvSpPr>
          <p:nvPr/>
        </p:nvSpPr>
        <p:spPr>
          <a:xfrm>
            <a:off x="8915400" y="4434840"/>
            <a:ext cx="2468880" cy="274320"/>
          </a:xfrm>
          <a:prstGeom prst="rect">
            <a:avLst/>
          </a:prstGeom>
          <a:noFill/>
        </p:spPr>
        <p:txBody>
          <a:bodyPr wrap="square" anchor="ctr"/>
          <a:lstStyle/>
          <a:p>
            <a:pPr marL="0" indent="0">
              <a:buNone/>
            </a:pPr>
            <a:r>
              <a:rPr sz="1000" b="1" spc="100">
                <a:solidFill>
                  <a:srgbClr val="E8A33D"/>
                </a:solidFill>
                <a:latin typeface="Calibri"/>
                <a:ea typeface="Calibri"/>
                <a:cs typeface="Calibri"/>
              </a:rPr>
              <a:t>SELF-HOSTED NOTE</a:t>
            </a:r>
            <a:endParaRPr sz="1000"/>
          </a:p>
        </p:txBody>
      </p:sp>
      <p:sp>
        <p:nvSpPr>
          <p:cNvPr id="17" name="Text 14">
            <a:extLst>
              <a:ext uri="{FF2B5EF4-FFF2-40B4-BE49-F238E27FC236}">
                <a16:creationId xmlns:a16="http://schemas.microsoft.com/office/drawing/2014/main" id="{F3A6C992-C2E3-4610-9785-6241C904DA39}"/>
              </a:ext>
            </a:extLst>
          </p:cNvPr>
          <p:cNvSpPr>
            <a:spLocks noGrp="1"/>
          </p:cNvSpPr>
          <p:nvPr/>
        </p:nvSpPr>
        <p:spPr>
          <a:xfrm>
            <a:off x="8915400" y="4754880"/>
            <a:ext cx="2468880" cy="1280160"/>
          </a:xfrm>
          <a:prstGeom prst="rect">
            <a:avLst/>
          </a:prstGeom>
          <a:noFill/>
        </p:spPr>
        <p:txBody>
          <a:bodyPr wrap="square" anchor="ctr"/>
          <a:lstStyle/>
          <a:p>
            <a:pPr marL="0" indent="0">
              <a:lnSpc>
                <a:spcPct val="125000"/>
              </a:lnSpc>
              <a:buNone/>
            </a:pPr>
            <a:r>
              <a:rPr sz="1100">
                <a:solidFill>
                  <a:srgbClr val="CADCFC"/>
                </a:solidFill>
                <a:latin typeface="Calibri"/>
                <a:ea typeface="Calibri"/>
                <a:cs typeface="Calibri"/>
              </a:rPr>
              <a:t>Qwen processes the compact search results on Astravi's server, so its researched-recommendation cost excludes model-token charges.</a:t>
            </a:r>
            <a:endParaRPr sz="1100"/>
          </a:p>
        </p:txBody>
      </p:sp>
      <p:sp>
        <p:nvSpPr>
          <p:cNvPr id="18" name="Text 15">
            <a:extLst>
              <a:ext uri="{FF2B5EF4-FFF2-40B4-BE49-F238E27FC236}">
                <a16:creationId xmlns:a16="http://schemas.microsoft.com/office/drawing/2014/main" id="{647514A6-69ED-4ABC-AD29-47614982A8E9}"/>
              </a:ext>
            </a:extLst>
          </p:cNvPr>
          <p:cNvSpPr>
            <a:spLocks noGrp="1"/>
          </p:cNvSpPr>
          <p:nvPr/>
        </p:nvSpPr>
        <p:spPr>
          <a:xfrm>
            <a:off x="640080" y="6400800"/>
            <a:ext cx="4572000" cy="274320"/>
          </a:xfrm>
          <a:prstGeom prst="rect">
            <a:avLst/>
          </a:prstGeom>
          <a:noFill/>
        </p:spPr>
        <p:txBody>
          <a:bodyPr wrap="square" anchor="ctr"/>
          <a:lstStyle/>
          <a:p>
            <a:pPr marL="0" indent="0">
              <a:buNone/>
            </a:pPr>
            <a:r>
              <a:rPr sz="1000">
                <a:solidFill>
                  <a:srgbClr val="6B7280"/>
                </a:solidFill>
                <a:latin typeface="Calibri"/>
                <a:ea typeface="Calibri"/>
                <a:cs typeface="Calibri"/>
              </a:rPr>
              <a:t>Astravi — AI Cost Comparison</a:t>
            </a:r>
            <a:endParaRPr sz="1000"/>
          </a:p>
        </p:txBody>
      </p:sp>
      <p:sp>
        <p:nvSpPr>
          <p:cNvPr id="19" name="Text 16">
            <a:extLst>
              <a:ext uri="{FF2B5EF4-FFF2-40B4-BE49-F238E27FC236}">
                <a16:creationId xmlns:a16="http://schemas.microsoft.com/office/drawing/2014/main" id="{767638F9-A50D-448E-8827-D32CD456F9D2}"/>
              </a:ext>
            </a:extLst>
          </p:cNvPr>
          <p:cNvSpPr>
            <a:spLocks noGrp="1"/>
          </p:cNvSpPr>
          <p:nvPr/>
        </p:nvSpPr>
        <p:spPr>
          <a:xfrm>
            <a:off x="11365992" y="6400800"/>
            <a:ext cx="548640" cy="274320"/>
          </a:xfrm>
          <a:prstGeom prst="rect">
            <a:avLst/>
          </a:prstGeom>
          <a:noFill/>
        </p:spPr>
        <p:txBody>
          <a:bodyPr wrap="square" anchor="ctr"/>
          <a:lstStyle/>
          <a:p>
            <a:pPr marL="0" indent="0" algn="r">
              <a:buNone/>
            </a:pPr>
            <a:r>
              <a:rPr sz="1000">
                <a:solidFill>
                  <a:srgbClr val="6B7280"/>
                </a:solidFill>
                <a:latin typeface="Calibri"/>
                <a:ea typeface="Calibri"/>
                <a:cs typeface="Calibri"/>
              </a:rPr>
              <a:t>07</a:t>
            </a:r>
            <a:endParaRPr sz="1000"/>
          </a:p>
        </p:txBody>
      </p:sp>
    </p:spTree>
    <p:extLst>
      <p:ext uri="{BB962C8B-B14F-4D97-AF65-F5344CB8AC3E}">
        <p14:creationId xmlns:p14="http://schemas.microsoft.com/office/powerpoint/2010/main" val="1775441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9D014EE-C043-4269-9A38-684FE69A1B2E}"/>
              </a:ext>
            </a:extLst>
          </p:cNvPr>
          <p:cNvSpPr>
            <a:spLocks noGrp="1"/>
          </p:cNvSpPr>
          <p:nvPr/>
        </p:nvSpPr>
        <p:spPr>
          <a:xfrm>
            <a:off x="640080" y="411480"/>
            <a:ext cx="7315200" cy="320040"/>
          </a:xfrm>
          <a:prstGeom prst="rect">
            <a:avLst/>
          </a:prstGeom>
          <a:noFill/>
        </p:spPr>
        <p:txBody>
          <a:bodyPr wrap="square" anchor="ctr"/>
          <a:lstStyle/>
          <a:p>
            <a:pPr marL="0" indent="0">
              <a:buNone/>
            </a:pPr>
            <a:r>
              <a:rPr sz="1300" b="1" spc="200">
                <a:solidFill>
                  <a:srgbClr val="E8A33D"/>
                </a:solidFill>
                <a:latin typeface="Calibri"/>
                <a:ea typeface="Calibri"/>
                <a:cs typeface="Calibri"/>
              </a:rPr>
              <a:t>OPENAI DAILY LOAD &amp; MODEL PRICING</a:t>
            </a:r>
            <a:endParaRPr sz="1300"/>
          </a:p>
        </p:txBody>
      </p:sp>
      <p:sp>
        <p:nvSpPr>
          <p:cNvPr id="3" name="Text 1">
            <a:extLst>
              <a:ext uri="{FF2B5EF4-FFF2-40B4-BE49-F238E27FC236}">
                <a16:creationId xmlns:a16="http://schemas.microsoft.com/office/drawing/2014/main" id="{61EFDA83-AC21-455E-B07C-E67986CCDD65}"/>
              </a:ext>
            </a:extLst>
          </p:cNvPr>
          <p:cNvSpPr>
            <a:spLocks noGrp="1"/>
          </p:cNvSpPr>
          <p:nvPr/>
        </p:nvSpPr>
        <p:spPr>
          <a:xfrm>
            <a:off x="640080" y="713232"/>
            <a:ext cx="10515600" cy="822960"/>
          </a:xfrm>
          <a:prstGeom prst="rect">
            <a:avLst/>
          </a:prstGeom>
          <a:noFill/>
        </p:spPr>
        <p:txBody>
          <a:bodyPr wrap="square" anchor="ctr"/>
          <a:lstStyle/>
          <a:p>
            <a:pPr marL="0" indent="0">
              <a:lnSpc>
                <a:spcPts val="3400"/>
              </a:lnSpc>
              <a:buNone/>
            </a:pPr>
            <a:r>
              <a:rPr sz="3000" b="1">
                <a:solidFill>
                  <a:srgbClr val="1E2761"/>
                </a:solidFill>
                <a:latin typeface="Cambria"/>
                <a:ea typeface="Cambria"/>
                <a:cs typeface="Cambria"/>
              </a:rPr>
              <a:t>Screenshot captions drive OpenAI API cost</a:t>
            </a:r>
            <a:endParaRPr sz="3000"/>
          </a:p>
        </p:txBody>
      </p:sp>
      <p:sp>
        <p:nvSpPr>
          <p:cNvPr id="4" name="Text 2">
            <a:extLst>
              <a:ext uri="{FF2B5EF4-FFF2-40B4-BE49-F238E27FC236}">
                <a16:creationId xmlns:a16="http://schemas.microsoft.com/office/drawing/2014/main" id="{EF1BF472-5C4B-4196-84B1-8C947E8E2BB2}"/>
              </a:ext>
            </a:extLst>
          </p:cNvPr>
          <p:cNvSpPr>
            <a:spLocks noGrp="1"/>
          </p:cNvSpPr>
          <p:nvPr/>
        </p:nvSpPr>
        <p:spPr>
          <a:xfrm>
            <a:off x="640080" y="1417320"/>
            <a:ext cx="10332720" cy="685800"/>
          </a:xfrm>
          <a:prstGeom prst="rect">
            <a:avLst/>
          </a:prstGeom>
          <a:noFill/>
        </p:spPr>
        <p:txBody>
          <a:bodyPr wrap="square" anchor="ctr"/>
          <a:lstStyle/>
          <a:p>
            <a:pPr marL="0" indent="0">
              <a:lnSpc>
                <a:spcPct val="125000"/>
              </a:lnSpc>
              <a:buNone/>
            </a:pPr>
            <a:r>
              <a:rPr sz="1300">
                <a:solidFill>
                  <a:srgbClr val="6B7280"/>
                </a:solidFill>
                <a:latin typeface="Calibri"/>
                <a:ea typeface="Calibri"/>
                <a:cs typeface="Calibri"/>
              </a:rPr>
              <a:t>At four screenshots per minute, estimated OpenAI cost is ~$15.06 per employee per day. Captioning accounts for almost all of that total.</a:t>
            </a:r>
            <a:endParaRPr sz="1300"/>
          </a:p>
        </p:txBody>
      </p:sp>
      <p:graphicFrame>
        <p:nvGraphicFramePr>
          <p:cNvPr id="24" name="Table 0"/>
          <p:cNvGraphicFramePr/>
          <p:nvPr/>
        </p:nvGraphicFramePr>
        <p:xfrm>
          <a:off x="640080" y="2331720"/>
          <a:ext cx="10908792" cy="1682496"/>
        </p:xfrm>
        <a:graphic>
          <a:graphicData uri="http://schemas.openxmlformats.org/drawingml/2006/table">
            <a:tbl>
              <a:tblPr/>
              <a:tblGrid>
                <a:gridCol w="31089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384048">
                <a:tc>
                  <a:txBody>
                    <a:bodyPr/>
                    <a:lstStyle/>
                    <a:p>
                      <a:pPr marL="0" indent="0">
                        <a:buNone/>
                      </a:pPr>
                      <a:r>
                        <a:rPr sz="1200" b="1">
                          <a:solidFill>
                            <a:srgbClr val="FFFFFF"/>
                          </a:solidFill>
                          <a:latin typeface="Calibri"/>
                          <a:ea typeface="Calibri"/>
                          <a:cs typeface="Calibri"/>
                        </a:rPr>
                        <a:t>Provider / model</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1E2761"/>
                    </a:solidFill>
                  </a:tcPr>
                </a:tc>
                <a:tc>
                  <a:txBody>
                    <a:bodyPr/>
                    <a:lstStyle/>
                    <a:p>
                      <a:pPr marL="0" indent="0">
                        <a:buNone/>
                      </a:pPr>
                      <a:r>
                        <a:rPr sz="1200" b="1">
                          <a:solidFill>
                            <a:srgbClr val="FFFFFF"/>
                          </a:solidFill>
                          <a:latin typeface="Calibri"/>
                          <a:ea typeface="Calibri"/>
                          <a:cs typeface="Calibri"/>
                        </a:rPr>
                        <a:t>Input / 1M tokens</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1E2761"/>
                    </a:solidFill>
                  </a:tcPr>
                </a:tc>
                <a:tc>
                  <a:txBody>
                    <a:bodyPr/>
                    <a:lstStyle/>
                    <a:p>
                      <a:pPr marL="0" indent="0">
                        <a:buNone/>
                      </a:pPr>
                      <a:r>
                        <a:rPr sz="1200" b="1">
                          <a:solidFill>
                            <a:srgbClr val="FFFFFF"/>
                          </a:solidFill>
                          <a:latin typeface="Calibri"/>
                          <a:ea typeface="Calibri"/>
                          <a:cs typeface="Calibri"/>
                        </a:rPr>
                        <a:t>Output / 1M tokens</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1E2761"/>
                    </a:solidFill>
                  </a:tcPr>
                </a:tc>
                <a:tc>
                  <a:txBody>
                    <a:bodyPr/>
                    <a:lstStyle/>
                    <a:p>
                      <a:pPr marL="0" indent="0">
                        <a:buNone/>
                      </a:pPr>
                      <a:r>
                        <a:rPr sz="1200" b="1">
                          <a:solidFill>
                            <a:srgbClr val="FFFFFF"/>
                          </a:solidFill>
                          <a:latin typeface="Calibri"/>
                          <a:ea typeface="Calibri"/>
                          <a:cs typeface="Calibri"/>
                        </a:rPr>
                        <a:t>Astravi use</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1E2761"/>
                    </a:solidFill>
                  </a:tcPr>
                </a:tc>
                <a:extLst>
                  <a:ext uri="{0D108BD9-81ED-4DB2-BD59-A6C34878D82A}">
                    <a16:rowId xmlns:a16="http://schemas.microsoft.com/office/drawing/2014/main" val="10000"/>
                  </a:ext>
                </a:extLst>
              </a:tr>
              <a:tr h="384048">
                <a:tc>
                  <a:txBody>
                    <a:bodyPr/>
                    <a:lstStyle/>
                    <a:p>
                      <a:pPr marL="0" indent="0">
                        <a:buNone/>
                      </a:pPr>
                      <a:r>
                        <a:rPr sz="1200">
                          <a:solidFill>
                            <a:srgbClr val="2B2E43"/>
                          </a:solidFill>
                          <a:latin typeface="Calibri"/>
                          <a:ea typeface="Calibri"/>
                          <a:cs typeface="Calibri"/>
                        </a:rPr>
                        <a:t>OpenAI GPT-5.6 Terra</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tc>
                  <a:txBody>
                    <a:bodyPr/>
                    <a:lstStyle/>
                    <a:p>
                      <a:pPr marL="0" indent="0">
                        <a:buNone/>
                      </a:pPr>
                      <a:r>
                        <a:rPr sz="1200">
                          <a:solidFill>
                            <a:srgbClr val="2B2E43"/>
                          </a:solidFill>
                          <a:latin typeface="Calibri"/>
                          <a:ea typeface="Calibri"/>
                          <a:cs typeface="Calibri"/>
                        </a:rPr>
                        <a:t>~$2.00</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tc>
                  <a:txBody>
                    <a:bodyPr/>
                    <a:lstStyle/>
                    <a:p>
                      <a:pPr marL="0" indent="0">
                        <a:buNone/>
                      </a:pPr>
                      <a:r>
                        <a:rPr sz="1200">
                          <a:solidFill>
                            <a:srgbClr val="2B2E43"/>
                          </a:solidFill>
                          <a:latin typeface="Calibri"/>
                          <a:ea typeface="Calibri"/>
                          <a:cs typeface="Calibri"/>
                        </a:rPr>
                        <a:t>~$12.00</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tc>
                  <a:txBody>
                    <a:bodyPr/>
                    <a:lstStyle/>
                    <a:p>
                      <a:pPr marL="0" indent="0">
                        <a:buNone/>
                      </a:pPr>
                      <a:r>
                        <a:rPr sz="1200">
                          <a:solidFill>
                            <a:srgbClr val="2B2E43"/>
                          </a:solidFill>
                          <a:latin typeface="Calibri"/>
                          <a:ea typeface="Calibri"/>
                          <a:cs typeface="Calibri"/>
                        </a:rPr>
                        <a:t>Screenshot captioning</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sz="1200">
                          <a:solidFill>
                            <a:srgbClr val="2B2E43"/>
                          </a:solidFill>
                          <a:latin typeface="Calibri"/>
                          <a:ea typeface="Calibri"/>
                          <a:cs typeface="Calibri"/>
                        </a:rPr>
                        <a:t>OpenAI GPT-5.6 Luna</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4F7FC"/>
                    </a:solidFill>
                  </a:tcPr>
                </a:tc>
                <a:tc>
                  <a:txBody>
                    <a:bodyPr/>
                    <a:lstStyle/>
                    <a:p>
                      <a:pPr marL="0" indent="0">
                        <a:buNone/>
                      </a:pPr>
                      <a:r>
                        <a:rPr sz="1200">
                          <a:solidFill>
                            <a:srgbClr val="2B2E43"/>
                          </a:solidFill>
                          <a:latin typeface="Calibri"/>
                          <a:ea typeface="Calibri"/>
                          <a:cs typeface="Calibri"/>
                        </a:rPr>
                        <a:t>~$0.20</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4F7FC"/>
                    </a:solidFill>
                  </a:tcPr>
                </a:tc>
                <a:tc>
                  <a:txBody>
                    <a:bodyPr/>
                    <a:lstStyle/>
                    <a:p>
                      <a:pPr marL="0" indent="0">
                        <a:buNone/>
                      </a:pPr>
                      <a:r>
                        <a:rPr sz="1200">
                          <a:solidFill>
                            <a:srgbClr val="2B2E43"/>
                          </a:solidFill>
                          <a:latin typeface="Calibri"/>
                          <a:ea typeface="Calibri"/>
                          <a:cs typeface="Calibri"/>
                        </a:rPr>
                        <a:t>~$1.20</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4F7FC"/>
                    </a:solidFill>
                  </a:tcPr>
                </a:tc>
                <a:tc>
                  <a:txBody>
                    <a:bodyPr/>
                    <a:lstStyle/>
                    <a:p>
                      <a:pPr marL="0" indent="0">
                        <a:buNone/>
                      </a:pPr>
                      <a:r>
                        <a:rPr sz="1200">
                          <a:solidFill>
                            <a:srgbClr val="2B2E43"/>
                          </a:solidFill>
                          <a:latin typeface="Calibri"/>
                          <a:ea typeface="Calibri"/>
                          <a:cs typeface="Calibri"/>
                        </a:rPr>
                        <a:t>Summaries, decisions, recommendations, search results</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4F7FC"/>
                    </a:solidFill>
                  </a:tcPr>
                </a:tc>
                <a:extLst>
                  <a:ext uri="{0D108BD9-81ED-4DB2-BD59-A6C34878D82A}">
                    <a16:rowId xmlns:a16="http://schemas.microsoft.com/office/drawing/2014/main" val="10002"/>
                  </a:ext>
                </a:extLst>
              </a:tr>
              <a:tr h="384048">
                <a:tc>
                  <a:txBody>
                    <a:bodyPr/>
                    <a:lstStyle/>
                    <a:p>
                      <a:pPr marL="0" indent="0">
                        <a:buNone/>
                      </a:pPr>
                      <a:r>
                        <a:rPr sz="1200">
                          <a:solidFill>
                            <a:srgbClr val="2B2E43"/>
                          </a:solidFill>
                          <a:latin typeface="Calibri"/>
                          <a:ea typeface="Calibri"/>
                          <a:cs typeface="Calibri"/>
                        </a:rPr>
                        <a:t>Claude Sonnet 5 / Qwen</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tc>
                  <a:txBody>
                    <a:bodyPr/>
                    <a:lstStyle/>
                    <a:p>
                      <a:pPr marL="0" indent="0">
                        <a:buNone/>
                      </a:pPr>
                      <a:r>
                        <a:rPr sz="1200">
                          <a:solidFill>
                            <a:srgbClr val="2B2E43"/>
                          </a:solidFill>
                          <a:latin typeface="Calibri"/>
                          <a:ea typeface="Calibri"/>
                          <a:cs typeface="Calibri"/>
                        </a:rPr>
                        <a:t>~$2.00 / no charge</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tc>
                  <a:txBody>
                    <a:bodyPr/>
                    <a:lstStyle/>
                    <a:p>
                      <a:pPr marL="0" indent="0">
                        <a:buNone/>
                      </a:pPr>
                      <a:r>
                        <a:rPr sz="1200">
                          <a:solidFill>
                            <a:srgbClr val="2B2E43"/>
                          </a:solidFill>
                          <a:latin typeface="Calibri"/>
                          <a:ea typeface="Calibri"/>
                          <a:cs typeface="Calibri"/>
                        </a:rPr>
                        <a:t>~$10.00 / no charge</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tc>
                  <a:txBody>
                    <a:bodyPr/>
                    <a:lstStyle/>
                    <a:p>
                      <a:pPr marL="0" indent="0">
                        <a:buNone/>
                      </a:pPr>
                      <a:r>
                        <a:rPr sz="1200">
                          <a:solidFill>
                            <a:srgbClr val="2B2E43"/>
                          </a:solidFill>
                          <a:latin typeface="Calibri"/>
                          <a:ea typeface="Calibri"/>
                          <a:cs typeface="Calibri"/>
                        </a:rPr>
                        <a:t>Claude full workflow / Qwen local inference</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6" name="Text 3">
            <a:extLst>
              <a:ext uri="{FF2B5EF4-FFF2-40B4-BE49-F238E27FC236}">
                <a16:creationId xmlns:a16="http://schemas.microsoft.com/office/drawing/2014/main" id="{5BB79418-4891-4128-B3FF-53D794D31143}"/>
              </a:ext>
            </a:extLst>
          </p:cNvPr>
          <p:cNvSpPr>
            <a:spLocks noGrp="1"/>
          </p:cNvSpPr>
          <p:nvPr/>
        </p:nvSpPr>
        <p:spPr>
          <a:xfrm>
            <a:off x="640080" y="4251960"/>
            <a:ext cx="7315200" cy="320040"/>
          </a:xfrm>
          <a:prstGeom prst="rect">
            <a:avLst/>
          </a:prstGeom>
          <a:noFill/>
        </p:spPr>
        <p:txBody>
          <a:bodyPr wrap="square" anchor="ctr"/>
          <a:lstStyle/>
          <a:p>
            <a:pPr marL="0" indent="0">
              <a:buNone/>
            </a:pPr>
            <a:r>
              <a:rPr sz="1300" b="1" spc="200">
                <a:solidFill>
                  <a:srgbClr val="1E2761"/>
                </a:solidFill>
                <a:latin typeface="Calibri"/>
                <a:ea typeface="Calibri"/>
                <a:cs typeface="Calibri"/>
              </a:rPr>
              <a:t>OPENAI AT 4 SCREENSHOTS/MINUTE</a:t>
            </a:r>
            <a:endParaRPr sz="1300"/>
          </a:p>
        </p:txBody>
      </p:sp>
      <p:sp>
        <p:nvSpPr>
          <p:cNvPr id="7" name="Shape 4">
            <a:extLst>
              <a:ext uri="{FF2B5EF4-FFF2-40B4-BE49-F238E27FC236}">
                <a16:creationId xmlns:a16="http://schemas.microsoft.com/office/drawing/2014/main" id="{3D663FD4-1343-4687-9B4E-D5FB053CBAD0}"/>
              </a:ext>
            </a:extLst>
          </p:cNvPr>
          <p:cNvSpPr>
            <a:spLocks noGrp="1"/>
          </p:cNvSpPr>
          <p:nvPr/>
        </p:nvSpPr>
        <p:spPr>
          <a:xfrm>
            <a:off x="640080" y="4672584"/>
            <a:ext cx="109728" cy="109728"/>
          </a:xfrm>
          <a:prstGeom prst="ellipse">
            <a:avLst/>
          </a:prstGeom>
          <a:solidFill>
            <a:srgbClr val="E8A33D"/>
          </a:solidFill>
        </p:spPr>
        <p:txBody>
          <a:bodyPr/>
          <a:lstStyle/>
          <a:p>
            <a:endParaRPr/>
          </a:p>
        </p:txBody>
      </p:sp>
      <p:sp>
        <p:nvSpPr>
          <p:cNvPr id="8" name="Text 5">
            <a:extLst>
              <a:ext uri="{FF2B5EF4-FFF2-40B4-BE49-F238E27FC236}">
                <a16:creationId xmlns:a16="http://schemas.microsoft.com/office/drawing/2014/main" id="{E8206CF9-4727-4C6A-AF23-32EBB59DF865}"/>
              </a:ext>
            </a:extLst>
          </p:cNvPr>
          <p:cNvSpPr>
            <a:spLocks noGrp="1"/>
          </p:cNvSpPr>
          <p:nvPr/>
        </p:nvSpPr>
        <p:spPr>
          <a:xfrm>
            <a:off x="914400" y="4572000"/>
            <a:ext cx="7680960" cy="320040"/>
          </a:xfrm>
          <a:prstGeom prst="rect">
            <a:avLst/>
          </a:prstGeom>
          <a:noFill/>
        </p:spPr>
        <p:txBody>
          <a:bodyPr wrap="square" anchor="ctr"/>
          <a:lstStyle/>
          <a:p>
            <a:pPr marL="0" indent="0">
              <a:buNone/>
            </a:pPr>
            <a:r>
              <a:rPr sz="1250">
                <a:solidFill>
                  <a:srgbClr val="2B2E43"/>
                </a:solidFill>
                <a:latin typeface="Calibri"/>
                <a:ea typeface="Calibri"/>
                <a:cs typeface="Calibri"/>
              </a:rPr>
              <a:t>Screenshot captions: ~$14.25 per employee per day</a:t>
            </a:r>
            <a:endParaRPr sz="1250"/>
          </a:p>
        </p:txBody>
      </p:sp>
      <p:sp>
        <p:nvSpPr>
          <p:cNvPr id="9" name="Shape 6">
            <a:extLst>
              <a:ext uri="{FF2B5EF4-FFF2-40B4-BE49-F238E27FC236}">
                <a16:creationId xmlns:a16="http://schemas.microsoft.com/office/drawing/2014/main" id="{649658FD-4E6A-49BD-81BE-ECB0DE42F0D5}"/>
              </a:ext>
            </a:extLst>
          </p:cNvPr>
          <p:cNvSpPr>
            <a:spLocks noGrp="1"/>
          </p:cNvSpPr>
          <p:nvPr/>
        </p:nvSpPr>
        <p:spPr>
          <a:xfrm>
            <a:off x="640080" y="5038344"/>
            <a:ext cx="109728" cy="109728"/>
          </a:xfrm>
          <a:prstGeom prst="ellipse">
            <a:avLst/>
          </a:prstGeom>
          <a:solidFill>
            <a:srgbClr val="E8A33D"/>
          </a:solidFill>
        </p:spPr>
        <p:txBody>
          <a:bodyPr/>
          <a:lstStyle/>
          <a:p>
            <a:endParaRPr/>
          </a:p>
        </p:txBody>
      </p:sp>
      <p:sp>
        <p:nvSpPr>
          <p:cNvPr id="10" name="Text 7">
            <a:extLst>
              <a:ext uri="{FF2B5EF4-FFF2-40B4-BE49-F238E27FC236}">
                <a16:creationId xmlns:a16="http://schemas.microsoft.com/office/drawing/2014/main" id="{B3CA11BD-8F40-48E2-91C6-DC5A0051887E}"/>
              </a:ext>
            </a:extLst>
          </p:cNvPr>
          <p:cNvSpPr>
            <a:spLocks noGrp="1"/>
          </p:cNvSpPr>
          <p:nvPr/>
        </p:nvSpPr>
        <p:spPr>
          <a:xfrm>
            <a:off x="914400" y="4937760"/>
            <a:ext cx="7680960" cy="320040"/>
          </a:xfrm>
          <a:prstGeom prst="rect">
            <a:avLst/>
          </a:prstGeom>
          <a:noFill/>
        </p:spPr>
        <p:txBody>
          <a:bodyPr wrap="square" anchor="ctr"/>
          <a:lstStyle/>
          <a:p>
            <a:pPr marL="0" indent="0">
              <a:buNone/>
            </a:pPr>
            <a:r>
              <a:rPr sz="1250">
                <a:solidFill>
                  <a:srgbClr val="2B2E43"/>
                </a:solidFill>
                <a:latin typeface="Calibri"/>
                <a:ea typeface="Calibri"/>
                <a:cs typeface="Calibri"/>
              </a:rPr>
              <a:t>Summary, decision and recommendation agents: ~$0.77 per day</a:t>
            </a:r>
            <a:endParaRPr sz="1250"/>
          </a:p>
        </p:txBody>
      </p:sp>
      <p:sp>
        <p:nvSpPr>
          <p:cNvPr id="11" name="Shape 8">
            <a:extLst>
              <a:ext uri="{FF2B5EF4-FFF2-40B4-BE49-F238E27FC236}">
                <a16:creationId xmlns:a16="http://schemas.microsoft.com/office/drawing/2014/main" id="{6792C397-E839-44BD-B378-E4E9661EDF77}"/>
              </a:ext>
            </a:extLst>
          </p:cNvPr>
          <p:cNvSpPr>
            <a:spLocks noGrp="1"/>
          </p:cNvSpPr>
          <p:nvPr/>
        </p:nvSpPr>
        <p:spPr>
          <a:xfrm>
            <a:off x="640080" y="5404104"/>
            <a:ext cx="109728" cy="109728"/>
          </a:xfrm>
          <a:prstGeom prst="ellipse">
            <a:avLst/>
          </a:prstGeom>
          <a:solidFill>
            <a:srgbClr val="E8A33D"/>
          </a:solidFill>
        </p:spPr>
        <p:txBody>
          <a:bodyPr/>
          <a:lstStyle/>
          <a:p>
            <a:endParaRPr/>
          </a:p>
        </p:txBody>
      </p:sp>
      <p:sp>
        <p:nvSpPr>
          <p:cNvPr id="12" name="Text 9">
            <a:extLst>
              <a:ext uri="{FF2B5EF4-FFF2-40B4-BE49-F238E27FC236}">
                <a16:creationId xmlns:a16="http://schemas.microsoft.com/office/drawing/2014/main" id="{ABF42F62-8D0A-4D21-8941-5243A02AACB8}"/>
              </a:ext>
            </a:extLst>
          </p:cNvPr>
          <p:cNvSpPr>
            <a:spLocks noGrp="1"/>
          </p:cNvSpPr>
          <p:nvPr/>
        </p:nvSpPr>
        <p:spPr>
          <a:xfrm>
            <a:off x="914400" y="5303520"/>
            <a:ext cx="7680960" cy="320040"/>
          </a:xfrm>
          <a:prstGeom prst="rect">
            <a:avLst/>
          </a:prstGeom>
          <a:noFill/>
        </p:spPr>
        <p:txBody>
          <a:bodyPr wrap="square" anchor="ctr"/>
          <a:lstStyle/>
          <a:p>
            <a:pPr marL="0" indent="0">
              <a:buNone/>
            </a:pPr>
            <a:r>
              <a:rPr sz="1250">
                <a:solidFill>
                  <a:srgbClr val="2B2E43"/>
                </a:solidFill>
                <a:latin typeface="Calibri"/>
                <a:ea typeface="Calibri"/>
                <a:cs typeface="Calibri"/>
              </a:rPr>
              <a:t>Up to nine Brave searches with AI processing: ~$0.05 per day</a:t>
            </a:r>
            <a:endParaRPr sz="1250"/>
          </a:p>
        </p:txBody>
      </p:sp>
      <p:sp>
        <p:nvSpPr>
          <p:cNvPr id="13" name="Shape 10">
            <a:extLst>
              <a:ext uri="{FF2B5EF4-FFF2-40B4-BE49-F238E27FC236}">
                <a16:creationId xmlns:a16="http://schemas.microsoft.com/office/drawing/2014/main" id="{B2519690-F2B9-4349-802B-85ABB3079F4C}"/>
              </a:ext>
            </a:extLst>
          </p:cNvPr>
          <p:cNvSpPr>
            <a:spLocks noGrp="1"/>
          </p:cNvSpPr>
          <p:nvPr/>
        </p:nvSpPr>
        <p:spPr>
          <a:xfrm>
            <a:off x="640080" y="5769864"/>
            <a:ext cx="109728" cy="109728"/>
          </a:xfrm>
          <a:prstGeom prst="ellipse">
            <a:avLst/>
          </a:prstGeom>
          <a:solidFill>
            <a:srgbClr val="E8A33D"/>
          </a:solidFill>
        </p:spPr>
        <p:txBody>
          <a:bodyPr/>
          <a:lstStyle/>
          <a:p>
            <a:endParaRPr/>
          </a:p>
        </p:txBody>
      </p:sp>
      <p:sp>
        <p:nvSpPr>
          <p:cNvPr id="14" name="Text 11">
            <a:extLst>
              <a:ext uri="{FF2B5EF4-FFF2-40B4-BE49-F238E27FC236}">
                <a16:creationId xmlns:a16="http://schemas.microsoft.com/office/drawing/2014/main" id="{17A6629D-8039-4827-B9EE-E57C152F4C63}"/>
              </a:ext>
            </a:extLst>
          </p:cNvPr>
          <p:cNvSpPr>
            <a:spLocks noGrp="1"/>
          </p:cNvSpPr>
          <p:nvPr/>
        </p:nvSpPr>
        <p:spPr>
          <a:xfrm>
            <a:off x="914400" y="5669280"/>
            <a:ext cx="7680960" cy="320040"/>
          </a:xfrm>
          <a:prstGeom prst="rect">
            <a:avLst/>
          </a:prstGeom>
          <a:noFill/>
        </p:spPr>
        <p:txBody>
          <a:bodyPr wrap="square" anchor="ctr"/>
          <a:lstStyle/>
          <a:p>
            <a:pPr marL="0" indent="0">
              <a:buNone/>
            </a:pPr>
            <a:r>
              <a:rPr sz="1250">
                <a:solidFill>
                  <a:srgbClr val="2B2E43"/>
                </a:solidFill>
                <a:latin typeface="Calibri"/>
                <a:ea typeface="Calibri"/>
                <a:cs typeface="Calibri"/>
              </a:rPr>
              <a:t>Total estimated daily API cost: ~$15.06 per employee</a:t>
            </a:r>
            <a:endParaRPr sz="1250"/>
          </a:p>
        </p:txBody>
      </p:sp>
      <p:sp>
        <p:nvSpPr>
          <p:cNvPr id="15" name="Shape 12">
            <a:extLst>
              <a:ext uri="{FF2B5EF4-FFF2-40B4-BE49-F238E27FC236}">
                <a16:creationId xmlns:a16="http://schemas.microsoft.com/office/drawing/2014/main" id="{ABE8A5B6-954D-4ED6-A699-7875D8A2364C}"/>
              </a:ext>
            </a:extLst>
          </p:cNvPr>
          <p:cNvSpPr>
            <a:spLocks noGrp="1"/>
          </p:cNvSpPr>
          <p:nvPr/>
        </p:nvSpPr>
        <p:spPr>
          <a:xfrm>
            <a:off x="8686800" y="4251960"/>
            <a:ext cx="2862072" cy="1920240"/>
          </a:xfrm>
          <a:prstGeom prst="roundRect">
            <a:avLst>
              <a:gd name="adj" fmla="val 3810"/>
            </a:avLst>
          </a:prstGeom>
          <a:solidFill>
            <a:srgbClr val="1E2761"/>
          </a:solidFill>
          <a:ln w="12700">
            <a:solidFill>
              <a:srgbClr val="1E2761"/>
            </a:solidFill>
            <a:prstDash val="solid"/>
          </a:ln>
        </p:spPr>
        <p:txBody>
          <a:bodyPr/>
          <a:lstStyle/>
          <a:p>
            <a:endParaRPr/>
          </a:p>
        </p:txBody>
      </p:sp>
      <p:sp>
        <p:nvSpPr>
          <p:cNvPr id="16" name="Text 13">
            <a:extLst>
              <a:ext uri="{FF2B5EF4-FFF2-40B4-BE49-F238E27FC236}">
                <a16:creationId xmlns:a16="http://schemas.microsoft.com/office/drawing/2014/main" id="{268706B5-C931-4254-A489-DFE55357097E}"/>
              </a:ext>
            </a:extLst>
          </p:cNvPr>
          <p:cNvSpPr>
            <a:spLocks noGrp="1"/>
          </p:cNvSpPr>
          <p:nvPr/>
        </p:nvSpPr>
        <p:spPr>
          <a:xfrm>
            <a:off x="8915400" y="4434840"/>
            <a:ext cx="2468880" cy="274320"/>
          </a:xfrm>
          <a:prstGeom prst="rect">
            <a:avLst/>
          </a:prstGeom>
          <a:noFill/>
        </p:spPr>
        <p:txBody>
          <a:bodyPr wrap="square" anchor="ctr"/>
          <a:lstStyle/>
          <a:p>
            <a:pPr marL="0" indent="0">
              <a:buNone/>
            </a:pPr>
            <a:r>
              <a:rPr sz="1000" b="1" spc="100">
                <a:solidFill>
                  <a:srgbClr val="E8A33D"/>
                </a:solidFill>
                <a:latin typeface="Calibri"/>
                <a:ea typeface="Calibri"/>
                <a:cs typeface="Calibri"/>
              </a:rPr>
              <a:t>CLAUDE THINKING</a:t>
            </a:r>
            <a:endParaRPr sz="1000"/>
          </a:p>
        </p:txBody>
      </p:sp>
      <p:sp>
        <p:nvSpPr>
          <p:cNvPr id="17" name="Text 14">
            <a:extLst>
              <a:ext uri="{FF2B5EF4-FFF2-40B4-BE49-F238E27FC236}">
                <a16:creationId xmlns:a16="http://schemas.microsoft.com/office/drawing/2014/main" id="{F3A6C992-C2E3-4610-9785-6241C904DA39}"/>
              </a:ext>
            </a:extLst>
          </p:cNvPr>
          <p:cNvSpPr>
            <a:spLocks noGrp="1"/>
          </p:cNvSpPr>
          <p:nvPr/>
        </p:nvSpPr>
        <p:spPr>
          <a:xfrm>
            <a:off x="8915400" y="4754880"/>
            <a:ext cx="2468880" cy="1280160"/>
          </a:xfrm>
          <a:prstGeom prst="rect">
            <a:avLst/>
          </a:prstGeom>
          <a:noFill/>
        </p:spPr>
        <p:txBody>
          <a:bodyPr wrap="square" anchor="ctr"/>
          <a:lstStyle/>
          <a:p>
            <a:pPr marL="0" indent="0">
              <a:lnSpc>
                <a:spcPct val="125000"/>
              </a:lnSpc>
              <a:buNone/>
            </a:pPr>
            <a:r>
              <a:rPr sz="1100">
                <a:solidFill>
                  <a:srgbClr val="CADCFC"/>
                </a:solidFill>
                <a:latin typeface="Calibri"/>
                <a:ea typeface="Calibri"/>
                <a:cs typeface="Calibri"/>
              </a:rPr>
              <a:t>Claude estimates assume thinking is disabled. Recalculate from production usage before enabling it because thinking tokens are billable output tokens.</a:t>
            </a:r>
            <a:endParaRPr sz="1100"/>
          </a:p>
        </p:txBody>
      </p:sp>
      <p:sp>
        <p:nvSpPr>
          <p:cNvPr id="18" name="Text 15">
            <a:extLst>
              <a:ext uri="{FF2B5EF4-FFF2-40B4-BE49-F238E27FC236}">
                <a16:creationId xmlns:a16="http://schemas.microsoft.com/office/drawing/2014/main" id="{647514A6-69ED-4ABC-AD29-47614982A8E9}"/>
              </a:ext>
            </a:extLst>
          </p:cNvPr>
          <p:cNvSpPr>
            <a:spLocks noGrp="1"/>
          </p:cNvSpPr>
          <p:nvPr/>
        </p:nvSpPr>
        <p:spPr>
          <a:xfrm>
            <a:off x="640080" y="6400800"/>
            <a:ext cx="4572000" cy="274320"/>
          </a:xfrm>
          <a:prstGeom prst="rect">
            <a:avLst/>
          </a:prstGeom>
          <a:noFill/>
        </p:spPr>
        <p:txBody>
          <a:bodyPr wrap="square" anchor="ctr"/>
          <a:lstStyle/>
          <a:p>
            <a:pPr marL="0" indent="0">
              <a:buNone/>
            </a:pPr>
            <a:r>
              <a:rPr sz="1000">
                <a:solidFill>
                  <a:srgbClr val="6B7280"/>
                </a:solidFill>
                <a:latin typeface="Calibri"/>
                <a:ea typeface="Calibri"/>
                <a:cs typeface="Calibri"/>
              </a:rPr>
              <a:t>Astravi — AI Cost Comparison</a:t>
            </a:r>
            <a:endParaRPr sz="1000"/>
          </a:p>
        </p:txBody>
      </p:sp>
      <p:sp>
        <p:nvSpPr>
          <p:cNvPr id="19" name="Text 16">
            <a:extLst>
              <a:ext uri="{FF2B5EF4-FFF2-40B4-BE49-F238E27FC236}">
                <a16:creationId xmlns:a16="http://schemas.microsoft.com/office/drawing/2014/main" id="{767638F9-A50D-448E-8827-D32CD456F9D2}"/>
              </a:ext>
            </a:extLst>
          </p:cNvPr>
          <p:cNvSpPr>
            <a:spLocks noGrp="1"/>
          </p:cNvSpPr>
          <p:nvPr/>
        </p:nvSpPr>
        <p:spPr>
          <a:xfrm>
            <a:off x="11365992" y="6400800"/>
            <a:ext cx="548640" cy="274320"/>
          </a:xfrm>
          <a:prstGeom prst="rect">
            <a:avLst/>
          </a:prstGeom>
          <a:noFill/>
        </p:spPr>
        <p:txBody>
          <a:bodyPr wrap="square" anchor="ctr"/>
          <a:lstStyle/>
          <a:p>
            <a:pPr marL="0" indent="0" algn="r">
              <a:buNone/>
            </a:pPr>
            <a:r>
              <a:rPr sz="1000">
                <a:solidFill>
                  <a:srgbClr val="6B7280"/>
                </a:solidFill>
                <a:latin typeface="Calibri"/>
                <a:ea typeface="Calibri"/>
                <a:cs typeface="Calibri"/>
              </a:rPr>
              <a:t>08</a:t>
            </a:r>
            <a:endParaRPr sz="1000"/>
          </a:p>
        </p:txBody>
      </p:sp>
    </p:spTree>
    <p:extLst>
      <p:ext uri="{BB962C8B-B14F-4D97-AF65-F5344CB8AC3E}">
        <p14:creationId xmlns:p14="http://schemas.microsoft.com/office/powerpoint/2010/main" val="1775441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9D014EE-C043-4269-9A38-684FE69A1B2E}"/>
              </a:ext>
            </a:extLst>
          </p:cNvPr>
          <p:cNvSpPr>
            <a:spLocks noGrp="1"/>
          </p:cNvSpPr>
          <p:nvPr/>
        </p:nvSpPr>
        <p:spPr>
          <a:xfrm>
            <a:off x="640080" y="411480"/>
            <a:ext cx="7315200" cy="320040"/>
          </a:xfrm>
          <a:prstGeom prst="rect">
            <a:avLst/>
          </a:prstGeom>
          <a:noFill/>
        </p:spPr>
        <p:txBody>
          <a:bodyPr wrap="square" anchor="ctr"/>
          <a:lstStyle/>
          <a:p>
            <a:pPr marL="0" indent="0">
              <a:buNone/>
            </a:pPr>
            <a:r>
              <a:rPr sz="1300" b="1" spc="200">
                <a:solidFill>
                  <a:srgbClr val="E8A33D"/>
                </a:solidFill>
                <a:latin typeface="Calibri"/>
                <a:ea typeface="Calibri"/>
                <a:cs typeface="Calibri"/>
              </a:rPr>
              <a:t>PER-EMPLOYEE API COMPARISON</a:t>
            </a:r>
            <a:endParaRPr sz="1300"/>
          </a:p>
        </p:txBody>
      </p:sp>
      <p:sp>
        <p:nvSpPr>
          <p:cNvPr id="3" name="Text 1">
            <a:extLst>
              <a:ext uri="{FF2B5EF4-FFF2-40B4-BE49-F238E27FC236}">
                <a16:creationId xmlns:a16="http://schemas.microsoft.com/office/drawing/2014/main" id="{61EFDA83-AC21-455E-B07C-E67986CCDD65}"/>
              </a:ext>
            </a:extLst>
          </p:cNvPr>
          <p:cNvSpPr>
            <a:spLocks noGrp="1"/>
          </p:cNvSpPr>
          <p:nvPr/>
        </p:nvSpPr>
        <p:spPr>
          <a:xfrm>
            <a:off x="640080" y="713232"/>
            <a:ext cx="10515600" cy="822960"/>
          </a:xfrm>
          <a:prstGeom prst="rect">
            <a:avLst/>
          </a:prstGeom>
          <a:noFill/>
        </p:spPr>
        <p:txBody>
          <a:bodyPr wrap="square" anchor="ctr"/>
          <a:lstStyle/>
          <a:p>
            <a:pPr marL="0" indent="0">
              <a:lnSpc>
                <a:spcPts val="3400"/>
              </a:lnSpc>
              <a:buNone/>
            </a:pPr>
            <a:r>
              <a:rPr sz="3000" b="1">
                <a:solidFill>
                  <a:srgbClr val="1E2761"/>
                </a:solidFill>
                <a:latin typeface="Cambria"/>
                <a:ea typeface="Cambria"/>
                <a:cs typeface="Cambria"/>
              </a:rPr>
              <a:t>Daily and monthly API cost at normal screenshot volume</a:t>
            </a:r>
            <a:endParaRPr sz="3000"/>
          </a:p>
        </p:txBody>
      </p:sp>
      <p:sp>
        <p:nvSpPr>
          <p:cNvPr id="4" name="Text 2">
            <a:extLst>
              <a:ext uri="{FF2B5EF4-FFF2-40B4-BE49-F238E27FC236}">
                <a16:creationId xmlns:a16="http://schemas.microsoft.com/office/drawing/2014/main" id="{EF1BF472-5C4B-4196-84B1-8C947E8E2BB2}"/>
              </a:ext>
            </a:extLst>
          </p:cNvPr>
          <p:cNvSpPr>
            <a:spLocks noGrp="1"/>
          </p:cNvSpPr>
          <p:nvPr/>
        </p:nvSpPr>
        <p:spPr>
          <a:xfrm>
            <a:off x="640080" y="1417320"/>
            <a:ext cx="10332720" cy="685800"/>
          </a:xfrm>
          <a:prstGeom prst="rect">
            <a:avLst/>
          </a:prstGeom>
          <a:noFill/>
        </p:spPr>
        <p:txBody>
          <a:bodyPr wrap="square" anchor="ctr"/>
          <a:lstStyle/>
          <a:p>
            <a:pPr marL="0" indent="0">
              <a:lnSpc>
                <a:spcPct val="125000"/>
              </a:lnSpc>
              <a:buNone/>
            </a:pPr>
            <a:r>
              <a:rPr sz="1300">
                <a:solidFill>
                  <a:srgbClr val="6B7280"/>
                </a:solidFill>
                <a:latin typeface="Calibri"/>
                <a:ea typeface="Calibri"/>
                <a:cs typeface="Calibri"/>
              </a:rPr>
              <a:t>Monthly values assume 22 working days. Self-hosted Qwen has no model token charge; its cost comes from infrastructure instead.</a:t>
            </a:r>
            <a:endParaRPr sz="1300"/>
          </a:p>
        </p:txBody>
      </p:sp>
      <p:graphicFrame>
        <p:nvGraphicFramePr>
          <p:cNvPr id="24" name="Table 0"/>
          <p:cNvGraphicFramePr/>
          <p:nvPr/>
        </p:nvGraphicFramePr>
        <p:xfrm>
          <a:off x="640080" y="2331720"/>
          <a:ext cx="10908792" cy="1536192"/>
        </p:xfrm>
        <a:graphic>
          <a:graphicData uri="http://schemas.openxmlformats.org/drawingml/2006/table">
            <a:tbl>
              <a:tblPr/>
              <a:tblGrid>
                <a:gridCol w="31089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384048">
                <a:tc>
                  <a:txBody>
                    <a:bodyPr/>
                    <a:lstStyle/>
                    <a:p>
                      <a:pPr marL="0" indent="0">
                        <a:buNone/>
                      </a:pPr>
                      <a:r>
                        <a:rPr sz="1200" b="1">
                          <a:solidFill>
                            <a:srgbClr val="FFFFFF"/>
                          </a:solidFill>
                          <a:latin typeface="Calibri"/>
                          <a:ea typeface="Calibri"/>
                          <a:cs typeface="Calibri"/>
                        </a:rPr>
                        <a:t>Option</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1E2761"/>
                    </a:solidFill>
                  </a:tcPr>
                </a:tc>
                <a:tc>
                  <a:txBody>
                    <a:bodyPr/>
                    <a:lstStyle/>
                    <a:p>
                      <a:pPr marL="0" indent="0">
                        <a:buNone/>
                      </a:pPr>
                      <a:r>
                        <a:rPr sz="1200" b="1">
                          <a:solidFill>
                            <a:srgbClr val="FFFFFF"/>
                          </a:solidFill>
                          <a:latin typeface="Calibri"/>
                          <a:ea typeface="Calibri"/>
                          <a:cs typeface="Calibri"/>
                        </a:rPr>
                        <a:t>4 screenshots/minute</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1E2761"/>
                    </a:solidFill>
                  </a:tcPr>
                </a:tc>
                <a:tc>
                  <a:txBody>
                    <a:bodyPr/>
                    <a:lstStyle/>
                    <a:p>
                      <a:pPr marL="0" indent="0">
                        <a:buNone/>
                      </a:pPr>
                      <a:r>
                        <a:rPr sz="1200" b="1">
                          <a:solidFill>
                            <a:srgbClr val="FFFFFF"/>
                          </a:solidFill>
                          <a:latin typeface="Calibri"/>
                          <a:ea typeface="Calibri"/>
                          <a:cs typeface="Calibri"/>
                        </a:rPr>
                        <a:t>7 screenshots/minute</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1E2761"/>
                    </a:solidFill>
                  </a:tcPr>
                </a:tc>
                <a:tc>
                  <a:txBody>
                    <a:bodyPr/>
                    <a:lstStyle/>
                    <a:p>
                      <a:pPr marL="0" indent="0">
                        <a:buNone/>
                      </a:pPr>
                      <a:r>
                        <a:rPr sz="1200" b="1">
                          <a:solidFill>
                            <a:srgbClr val="FFFFFF"/>
                          </a:solidFill>
                          <a:latin typeface="Calibri"/>
                          <a:ea typeface="Calibri"/>
                          <a:cs typeface="Calibri"/>
                        </a:rPr>
                        <a:t>Monthly cost / employee</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1E2761"/>
                    </a:solidFill>
                  </a:tcPr>
                </a:tc>
                <a:extLst>
                  <a:ext uri="{0D108BD9-81ED-4DB2-BD59-A6C34878D82A}">
                    <a16:rowId xmlns:a16="http://schemas.microsoft.com/office/drawing/2014/main" val="10000"/>
                  </a:ext>
                </a:extLst>
              </a:tr>
              <a:tr h="384048">
                <a:tc>
                  <a:txBody>
                    <a:bodyPr/>
                    <a:lstStyle/>
                    <a:p>
                      <a:pPr marL="0" indent="0">
                        <a:buNone/>
                      </a:pPr>
                      <a:r>
                        <a:rPr sz="1200">
                          <a:solidFill>
                            <a:srgbClr val="2B2E43"/>
                          </a:solidFill>
                          <a:latin typeface="Calibri"/>
                          <a:ea typeface="Calibri"/>
                          <a:cs typeface="Calibri"/>
                        </a:rPr>
                        <a:t>OpenAI API</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tc>
                  <a:txBody>
                    <a:bodyPr/>
                    <a:lstStyle/>
                    <a:p>
                      <a:pPr marL="0" indent="0">
                        <a:buNone/>
                      </a:pPr>
                      <a:r>
                        <a:rPr sz="1200">
                          <a:solidFill>
                            <a:srgbClr val="2B2E43"/>
                          </a:solidFill>
                          <a:latin typeface="Calibri"/>
                          <a:ea typeface="Calibri"/>
                          <a:cs typeface="Calibri"/>
                        </a:rPr>
                        <a:t>~$15.06 / day</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tc>
                  <a:txBody>
                    <a:bodyPr/>
                    <a:lstStyle/>
                    <a:p>
                      <a:pPr marL="0" indent="0">
                        <a:buNone/>
                      </a:pPr>
                      <a:r>
                        <a:rPr sz="1200">
                          <a:solidFill>
                            <a:srgbClr val="2B2E43"/>
                          </a:solidFill>
                          <a:latin typeface="Calibri"/>
                          <a:ea typeface="Calibri"/>
                          <a:cs typeface="Calibri"/>
                        </a:rPr>
                        <a:t>~$25.75 / day</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tc>
                  <a:txBody>
                    <a:bodyPr/>
                    <a:lstStyle/>
                    <a:p>
                      <a:pPr marL="0" indent="0">
                        <a:buNone/>
                      </a:pPr>
                      <a:r>
                        <a:rPr sz="1200">
                          <a:solidFill>
                            <a:srgbClr val="2B2E43"/>
                          </a:solidFill>
                          <a:latin typeface="Calibri"/>
                          <a:ea typeface="Calibri"/>
                          <a:cs typeface="Calibri"/>
                        </a:rPr>
                        <a:t>~$331.32–$566.50</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sz="1200">
                          <a:solidFill>
                            <a:srgbClr val="2B2E43"/>
                          </a:solidFill>
                          <a:latin typeface="Calibri"/>
                          <a:ea typeface="Calibri"/>
                          <a:cs typeface="Calibri"/>
                        </a:rPr>
                        <a:t>Claude API</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4F7FC"/>
                    </a:solidFill>
                  </a:tcPr>
                </a:tc>
                <a:tc>
                  <a:txBody>
                    <a:bodyPr/>
                    <a:lstStyle/>
                    <a:p>
                      <a:pPr marL="0" indent="0">
                        <a:buNone/>
                      </a:pPr>
                      <a:r>
                        <a:rPr sz="1200">
                          <a:solidFill>
                            <a:srgbClr val="2B2E43"/>
                          </a:solidFill>
                          <a:latin typeface="Calibri"/>
                          <a:ea typeface="Calibri"/>
                          <a:cs typeface="Calibri"/>
                        </a:rPr>
                        <a:t>~$25.85 / day</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4F7FC"/>
                    </a:solidFill>
                  </a:tcPr>
                </a:tc>
                <a:tc>
                  <a:txBody>
                    <a:bodyPr/>
                    <a:lstStyle/>
                    <a:p>
                      <a:pPr marL="0" indent="0">
                        <a:buNone/>
                      </a:pPr>
                      <a:r>
                        <a:rPr sz="1200">
                          <a:solidFill>
                            <a:srgbClr val="2B2E43"/>
                          </a:solidFill>
                          <a:latin typeface="Calibri"/>
                          <a:ea typeface="Calibri"/>
                          <a:cs typeface="Calibri"/>
                        </a:rPr>
                        <a:t>~$38.17 / day</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4F7FC"/>
                    </a:solidFill>
                  </a:tcPr>
                </a:tc>
                <a:tc>
                  <a:txBody>
                    <a:bodyPr/>
                    <a:lstStyle/>
                    <a:p>
                      <a:pPr marL="0" indent="0">
                        <a:buNone/>
                      </a:pPr>
                      <a:r>
                        <a:rPr sz="1200">
                          <a:solidFill>
                            <a:srgbClr val="2B2E43"/>
                          </a:solidFill>
                          <a:latin typeface="Calibri"/>
                          <a:ea typeface="Calibri"/>
                          <a:cs typeface="Calibri"/>
                        </a:rPr>
                        <a:t>~$568.70–$839.74</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4F7FC"/>
                    </a:solidFill>
                  </a:tcPr>
                </a:tc>
                <a:extLst>
                  <a:ext uri="{0D108BD9-81ED-4DB2-BD59-A6C34878D82A}">
                    <a16:rowId xmlns:a16="http://schemas.microsoft.com/office/drawing/2014/main" val="10002"/>
                  </a:ext>
                </a:extLst>
              </a:tr>
              <a:tr h="384048">
                <a:tc>
                  <a:txBody>
                    <a:bodyPr/>
                    <a:lstStyle/>
                    <a:p>
                      <a:pPr marL="0" indent="0">
                        <a:buNone/>
                      </a:pPr>
                      <a:r>
                        <a:rPr sz="1200">
                          <a:solidFill>
                            <a:srgbClr val="2B2E43"/>
                          </a:solidFill>
                          <a:latin typeface="Calibri"/>
                          <a:ea typeface="Calibri"/>
                          <a:cs typeface="Calibri"/>
                        </a:rPr>
                        <a:t>Self-hosted Qwen</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tc>
                  <a:txBody>
                    <a:bodyPr/>
                    <a:lstStyle/>
                    <a:p>
                      <a:pPr marL="0" indent="0">
                        <a:buNone/>
                      </a:pPr>
                      <a:r>
                        <a:rPr sz="1200">
                          <a:solidFill>
                            <a:srgbClr val="2B2E43"/>
                          </a:solidFill>
                          <a:latin typeface="Calibri"/>
                          <a:ea typeface="Calibri"/>
                          <a:cs typeface="Calibri"/>
                        </a:rPr>
                        <a:t>Infrastructure cost</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tc>
                  <a:txBody>
                    <a:bodyPr/>
                    <a:lstStyle/>
                    <a:p>
                      <a:pPr marL="0" indent="0">
                        <a:buNone/>
                      </a:pPr>
                      <a:r>
                        <a:rPr sz="1200">
                          <a:solidFill>
                            <a:srgbClr val="2B2E43"/>
                          </a:solidFill>
                          <a:latin typeface="Calibri"/>
                          <a:ea typeface="Calibri"/>
                          <a:cs typeface="Calibri"/>
                        </a:rPr>
                        <a:t>Infrastructure cost</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tc>
                  <a:txBody>
                    <a:bodyPr/>
                    <a:lstStyle/>
                    <a:p>
                      <a:pPr marL="0" indent="0">
                        <a:buNone/>
                      </a:pPr>
                      <a:r>
                        <a:rPr sz="1200">
                          <a:solidFill>
                            <a:srgbClr val="2B2E43"/>
                          </a:solidFill>
                          <a:latin typeface="Calibri"/>
                          <a:ea typeface="Calibri"/>
                          <a:cs typeface="Calibri"/>
                        </a:rPr>
                        <a:t>~$630–$1,580 rental</a:t>
                      </a:r>
                      <a:endParaRPr sz="1200">
                        <a:latin typeface="Calibri"/>
                        <a:ea typeface="Calibri"/>
                        <a:cs typeface="Calibri"/>
                      </a:endParaRPr>
                    </a:p>
                  </a:txBody>
                  <a:tcPr anchor="ctr">
                    <a:lnL w="12700" cmpd="sng">
                      <a:solidFill>
                        <a:srgbClr val="E7EAF2"/>
                      </a:solidFill>
                      <a:prstDash val="solid"/>
                    </a:lnL>
                    <a:lnR w="12700" cmpd="sng">
                      <a:solidFill>
                        <a:srgbClr val="E7EAF2"/>
                      </a:solidFill>
                      <a:prstDash val="solid"/>
                    </a:lnR>
                    <a:lnT w="12700" cmpd="sng">
                      <a:solidFill>
                        <a:srgbClr val="E7EAF2"/>
                      </a:solidFill>
                      <a:prstDash val="solid"/>
                    </a:lnT>
                    <a:lnB w="12700" cmpd="sng">
                      <a:solidFill>
                        <a:srgbClr val="E7EAF2"/>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6" name="Text 3">
            <a:extLst>
              <a:ext uri="{FF2B5EF4-FFF2-40B4-BE49-F238E27FC236}">
                <a16:creationId xmlns:a16="http://schemas.microsoft.com/office/drawing/2014/main" id="{5BB79418-4891-4128-B3FF-53D794D31143}"/>
              </a:ext>
            </a:extLst>
          </p:cNvPr>
          <p:cNvSpPr>
            <a:spLocks noGrp="1"/>
          </p:cNvSpPr>
          <p:nvPr/>
        </p:nvSpPr>
        <p:spPr>
          <a:xfrm>
            <a:off x="640080" y="4251960"/>
            <a:ext cx="7315200" cy="320040"/>
          </a:xfrm>
          <a:prstGeom prst="rect">
            <a:avLst/>
          </a:prstGeom>
          <a:noFill/>
        </p:spPr>
        <p:txBody>
          <a:bodyPr wrap="square" anchor="ctr"/>
          <a:lstStyle/>
          <a:p>
            <a:pPr marL="0" indent="0">
              <a:buNone/>
            </a:pPr>
            <a:r>
              <a:rPr sz="1300" b="1" spc="200">
                <a:solidFill>
                  <a:srgbClr val="1E2761"/>
                </a:solidFill>
                <a:latin typeface="Calibri"/>
                <a:ea typeface="Calibri"/>
                <a:cs typeface="Calibri"/>
              </a:rPr>
              <a:t>MODEL ASSIGNMENT</a:t>
            </a:r>
            <a:endParaRPr sz="1300"/>
          </a:p>
        </p:txBody>
      </p:sp>
      <p:sp>
        <p:nvSpPr>
          <p:cNvPr id="7" name="Shape 4">
            <a:extLst>
              <a:ext uri="{FF2B5EF4-FFF2-40B4-BE49-F238E27FC236}">
                <a16:creationId xmlns:a16="http://schemas.microsoft.com/office/drawing/2014/main" id="{3D663FD4-1343-4687-9B4E-D5FB053CBAD0}"/>
              </a:ext>
            </a:extLst>
          </p:cNvPr>
          <p:cNvSpPr>
            <a:spLocks noGrp="1"/>
          </p:cNvSpPr>
          <p:nvPr/>
        </p:nvSpPr>
        <p:spPr>
          <a:xfrm>
            <a:off x="640080" y="4672584"/>
            <a:ext cx="109728" cy="109728"/>
          </a:xfrm>
          <a:prstGeom prst="ellipse">
            <a:avLst/>
          </a:prstGeom>
          <a:solidFill>
            <a:srgbClr val="E8A33D"/>
          </a:solidFill>
        </p:spPr>
        <p:txBody>
          <a:bodyPr/>
          <a:lstStyle/>
          <a:p>
            <a:endParaRPr/>
          </a:p>
        </p:txBody>
      </p:sp>
      <p:sp>
        <p:nvSpPr>
          <p:cNvPr id="8" name="Text 5">
            <a:extLst>
              <a:ext uri="{FF2B5EF4-FFF2-40B4-BE49-F238E27FC236}">
                <a16:creationId xmlns:a16="http://schemas.microsoft.com/office/drawing/2014/main" id="{E8206CF9-4727-4C6A-AF23-32EBB59DF865}"/>
              </a:ext>
            </a:extLst>
          </p:cNvPr>
          <p:cNvSpPr>
            <a:spLocks noGrp="1"/>
          </p:cNvSpPr>
          <p:nvPr/>
        </p:nvSpPr>
        <p:spPr>
          <a:xfrm>
            <a:off x="914400" y="4572000"/>
            <a:ext cx="7680960" cy="320040"/>
          </a:xfrm>
          <a:prstGeom prst="rect">
            <a:avLst/>
          </a:prstGeom>
          <a:noFill/>
        </p:spPr>
        <p:txBody>
          <a:bodyPr wrap="square" anchor="ctr"/>
          <a:lstStyle/>
          <a:p>
            <a:pPr marL="0" indent="0">
              <a:buNone/>
            </a:pPr>
            <a:r>
              <a:rPr sz="1250">
                <a:solidFill>
                  <a:srgbClr val="2B2E43"/>
                </a:solidFill>
                <a:latin typeface="Calibri"/>
                <a:ea typeface="Calibri"/>
                <a:cs typeface="Calibri"/>
              </a:rPr>
              <a:t>OpenAI: GPT-5.6 Terra for captions; GPT-5.6 Luna for text-agent work.</a:t>
            </a:r>
            <a:endParaRPr sz="1250"/>
          </a:p>
        </p:txBody>
      </p:sp>
      <p:sp>
        <p:nvSpPr>
          <p:cNvPr id="9" name="Shape 6">
            <a:extLst>
              <a:ext uri="{FF2B5EF4-FFF2-40B4-BE49-F238E27FC236}">
                <a16:creationId xmlns:a16="http://schemas.microsoft.com/office/drawing/2014/main" id="{649658FD-4E6A-49BD-81BE-ECB0DE42F0D5}"/>
              </a:ext>
            </a:extLst>
          </p:cNvPr>
          <p:cNvSpPr>
            <a:spLocks noGrp="1"/>
          </p:cNvSpPr>
          <p:nvPr/>
        </p:nvSpPr>
        <p:spPr>
          <a:xfrm>
            <a:off x="640080" y="5038344"/>
            <a:ext cx="109728" cy="109728"/>
          </a:xfrm>
          <a:prstGeom prst="ellipse">
            <a:avLst/>
          </a:prstGeom>
          <a:solidFill>
            <a:srgbClr val="E8A33D"/>
          </a:solidFill>
        </p:spPr>
        <p:txBody>
          <a:bodyPr/>
          <a:lstStyle/>
          <a:p>
            <a:endParaRPr/>
          </a:p>
        </p:txBody>
      </p:sp>
      <p:sp>
        <p:nvSpPr>
          <p:cNvPr id="10" name="Text 7">
            <a:extLst>
              <a:ext uri="{FF2B5EF4-FFF2-40B4-BE49-F238E27FC236}">
                <a16:creationId xmlns:a16="http://schemas.microsoft.com/office/drawing/2014/main" id="{B3CA11BD-8F40-48E2-91C6-DC5A0051887E}"/>
              </a:ext>
            </a:extLst>
          </p:cNvPr>
          <p:cNvSpPr>
            <a:spLocks noGrp="1"/>
          </p:cNvSpPr>
          <p:nvPr/>
        </p:nvSpPr>
        <p:spPr>
          <a:xfrm>
            <a:off x="914400" y="4937760"/>
            <a:ext cx="7680960" cy="320040"/>
          </a:xfrm>
          <a:prstGeom prst="rect">
            <a:avLst/>
          </a:prstGeom>
          <a:noFill/>
        </p:spPr>
        <p:txBody>
          <a:bodyPr wrap="square" anchor="ctr"/>
          <a:lstStyle/>
          <a:p>
            <a:pPr marL="0" indent="0">
              <a:buNone/>
            </a:pPr>
            <a:r>
              <a:rPr sz="1250">
                <a:solidFill>
                  <a:srgbClr val="2B2E43"/>
                </a:solidFill>
                <a:latin typeface="Calibri"/>
                <a:ea typeface="Calibri"/>
                <a:cs typeface="Calibri"/>
              </a:rPr>
              <a:t>Claude: Sonnet 5 throughout. Qwen: VL-8B captions; 14B 4-bit agent work.</a:t>
            </a:r>
            <a:endParaRPr sz="1250"/>
          </a:p>
        </p:txBody>
      </p:sp>
      <p:sp>
        <p:nvSpPr>
          <p:cNvPr id="11" name="Shape 8">
            <a:extLst>
              <a:ext uri="{FF2B5EF4-FFF2-40B4-BE49-F238E27FC236}">
                <a16:creationId xmlns:a16="http://schemas.microsoft.com/office/drawing/2014/main" id="{6792C397-E839-44BD-B378-E4E9661EDF77}"/>
              </a:ext>
            </a:extLst>
          </p:cNvPr>
          <p:cNvSpPr>
            <a:spLocks noGrp="1"/>
          </p:cNvSpPr>
          <p:nvPr/>
        </p:nvSpPr>
        <p:spPr>
          <a:xfrm>
            <a:off x="640080" y="5404104"/>
            <a:ext cx="109728" cy="109728"/>
          </a:xfrm>
          <a:prstGeom prst="ellipse">
            <a:avLst/>
          </a:prstGeom>
          <a:solidFill>
            <a:srgbClr val="E8A33D"/>
          </a:solidFill>
        </p:spPr>
        <p:txBody>
          <a:bodyPr/>
          <a:lstStyle/>
          <a:p>
            <a:endParaRPr/>
          </a:p>
        </p:txBody>
      </p:sp>
      <p:sp>
        <p:nvSpPr>
          <p:cNvPr id="12" name="Text 9">
            <a:extLst>
              <a:ext uri="{FF2B5EF4-FFF2-40B4-BE49-F238E27FC236}">
                <a16:creationId xmlns:a16="http://schemas.microsoft.com/office/drawing/2014/main" id="{ABF42F62-8D0A-4D21-8941-5243A02AACB8}"/>
              </a:ext>
            </a:extLst>
          </p:cNvPr>
          <p:cNvSpPr>
            <a:spLocks noGrp="1"/>
          </p:cNvSpPr>
          <p:nvPr/>
        </p:nvSpPr>
        <p:spPr>
          <a:xfrm>
            <a:off x="914400" y="5303520"/>
            <a:ext cx="7680960" cy="320040"/>
          </a:xfrm>
          <a:prstGeom prst="rect">
            <a:avLst/>
          </a:prstGeom>
          <a:noFill/>
        </p:spPr>
        <p:txBody>
          <a:bodyPr wrap="square" anchor="ctr"/>
          <a:lstStyle/>
          <a:p>
            <a:pPr marL="0" indent="0">
              <a:buNone/>
            </a:pPr>
            <a:r>
              <a:rPr sz="1250">
                <a:solidFill>
                  <a:srgbClr val="2B2E43"/>
                </a:solidFill>
                <a:latin typeface="Calibri"/>
                <a:ea typeface="Calibri"/>
                <a:cs typeface="Calibri"/>
              </a:rPr>
              <a:t>NORMAL CAPTION COST</a:t>
            </a:r>
            <a:endParaRPr sz="1250"/>
          </a:p>
        </p:txBody>
      </p:sp>
      <p:sp>
        <p:nvSpPr>
          <p:cNvPr id="13" name="Shape 10">
            <a:extLst>
              <a:ext uri="{FF2B5EF4-FFF2-40B4-BE49-F238E27FC236}">
                <a16:creationId xmlns:a16="http://schemas.microsoft.com/office/drawing/2014/main" id="{B2519690-F2B9-4349-802B-85ABB3079F4C}"/>
              </a:ext>
            </a:extLst>
          </p:cNvPr>
          <p:cNvSpPr>
            <a:spLocks noGrp="1"/>
          </p:cNvSpPr>
          <p:nvPr/>
        </p:nvSpPr>
        <p:spPr>
          <a:xfrm>
            <a:off x="640080" y="5769864"/>
            <a:ext cx="109728" cy="109728"/>
          </a:xfrm>
          <a:prstGeom prst="ellipse">
            <a:avLst/>
          </a:prstGeom>
          <a:solidFill>
            <a:srgbClr val="E8A33D"/>
          </a:solidFill>
        </p:spPr>
        <p:txBody>
          <a:bodyPr/>
          <a:lstStyle/>
          <a:p>
            <a:endParaRPr/>
          </a:p>
        </p:txBody>
      </p:sp>
      <p:sp>
        <p:nvSpPr>
          <p:cNvPr id="14" name="Text 11">
            <a:extLst>
              <a:ext uri="{FF2B5EF4-FFF2-40B4-BE49-F238E27FC236}">
                <a16:creationId xmlns:a16="http://schemas.microsoft.com/office/drawing/2014/main" id="{17A6629D-8039-4827-B9EE-E57C152F4C63}"/>
              </a:ext>
            </a:extLst>
          </p:cNvPr>
          <p:cNvSpPr>
            <a:spLocks noGrp="1"/>
          </p:cNvSpPr>
          <p:nvPr/>
        </p:nvSpPr>
        <p:spPr>
          <a:xfrm>
            <a:off x="914400" y="5669280"/>
            <a:ext cx="7680960" cy="320040"/>
          </a:xfrm>
          <a:prstGeom prst="rect">
            <a:avLst/>
          </a:prstGeom>
          <a:noFill/>
        </p:spPr>
        <p:txBody>
          <a:bodyPr wrap="square" anchor="ctr"/>
          <a:lstStyle/>
          <a:p>
            <a:pPr marL="0" indent="0">
              <a:buNone/>
            </a:pPr>
            <a:r>
              <a:rPr sz="1250">
                <a:solidFill>
                  <a:srgbClr val="2B2E43"/>
                </a:solidFill>
                <a:latin typeface="Calibri"/>
                <a:ea typeface="Calibri"/>
                <a:cs typeface="Calibri"/>
              </a:rPr>
              <a:t>OpenAI ~$0.006596 per screenshot; Claude ~$0.007610 per screenshot.</a:t>
            </a:r>
            <a:endParaRPr sz="1250"/>
          </a:p>
        </p:txBody>
      </p:sp>
      <p:sp>
        <p:nvSpPr>
          <p:cNvPr id="15" name="Shape 12">
            <a:extLst>
              <a:ext uri="{FF2B5EF4-FFF2-40B4-BE49-F238E27FC236}">
                <a16:creationId xmlns:a16="http://schemas.microsoft.com/office/drawing/2014/main" id="{ABE8A5B6-954D-4ED6-A699-7875D8A2364C}"/>
              </a:ext>
            </a:extLst>
          </p:cNvPr>
          <p:cNvSpPr>
            <a:spLocks noGrp="1"/>
          </p:cNvSpPr>
          <p:nvPr/>
        </p:nvSpPr>
        <p:spPr>
          <a:xfrm>
            <a:off x="8686800" y="4251960"/>
            <a:ext cx="2862072" cy="1920240"/>
          </a:xfrm>
          <a:prstGeom prst="roundRect">
            <a:avLst>
              <a:gd name="adj" fmla="val 3810"/>
            </a:avLst>
          </a:prstGeom>
          <a:solidFill>
            <a:srgbClr val="1E2761"/>
          </a:solidFill>
          <a:ln w="12700">
            <a:solidFill>
              <a:srgbClr val="1E2761"/>
            </a:solidFill>
            <a:prstDash val="solid"/>
          </a:ln>
        </p:spPr>
        <p:txBody>
          <a:bodyPr/>
          <a:lstStyle/>
          <a:p>
            <a:endParaRPr/>
          </a:p>
        </p:txBody>
      </p:sp>
      <p:sp>
        <p:nvSpPr>
          <p:cNvPr id="16" name="Text 13">
            <a:extLst>
              <a:ext uri="{FF2B5EF4-FFF2-40B4-BE49-F238E27FC236}">
                <a16:creationId xmlns:a16="http://schemas.microsoft.com/office/drawing/2014/main" id="{268706B5-C931-4254-A489-DFE55357097E}"/>
              </a:ext>
            </a:extLst>
          </p:cNvPr>
          <p:cNvSpPr>
            <a:spLocks noGrp="1"/>
          </p:cNvSpPr>
          <p:nvPr/>
        </p:nvSpPr>
        <p:spPr>
          <a:xfrm>
            <a:off x="8915400" y="4434840"/>
            <a:ext cx="2468880" cy="274320"/>
          </a:xfrm>
          <a:prstGeom prst="rect">
            <a:avLst/>
          </a:prstGeom>
          <a:noFill/>
        </p:spPr>
        <p:txBody>
          <a:bodyPr wrap="square" anchor="ctr"/>
          <a:lstStyle/>
          <a:p>
            <a:pPr marL="0" indent="0">
              <a:buNone/>
            </a:pPr>
            <a:r>
              <a:rPr sz="1000" b="1" spc="100">
                <a:solidFill>
                  <a:srgbClr val="E8A33D"/>
                </a:solidFill>
                <a:latin typeface="Calibri"/>
                <a:ea typeface="Calibri"/>
                <a:cs typeface="Calibri"/>
              </a:rPr>
              <a:t>SELF-HOSTED</a:t>
            </a:r>
            <a:endParaRPr sz="1000"/>
          </a:p>
        </p:txBody>
      </p:sp>
      <p:sp>
        <p:nvSpPr>
          <p:cNvPr id="17" name="Text 14">
            <a:extLst>
              <a:ext uri="{FF2B5EF4-FFF2-40B4-BE49-F238E27FC236}">
                <a16:creationId xmlns:a16="http://schemas.microsoft.com/office/drawing/2014/main" id="{F3A6C992-C2E3-4610-9785-6241C904DA39}"/>
              </a:ext>
            </a:extLst>
          </p:cNvPr>
          <p:cNvSpPr>
            <a:spLocks noGrp="1"/>
          </p:cNvSpPr>
          <p:nvPr/>
        </p:nvSpPr>
        <p:spPr>
          <a:xfrm>
            <a:off x="8915400" y="4754880"/>
            <a:ext cx="2468880" cy="1280160"/>
          </a:xfrm>
          <a:prstGeom prst="rect">
            <a:avLst/>
          </a:prstGeom>
          <a:noFill/>
        </p:spPr>
        <p:txBody>
          <a:bodyPr wrap="square" anchor="ctr"/>
          <a:lstStyle/>
          <a:p>
            <a:pPr marL="0" indent="0">
              <a:lnSpc>
                <a:spcPct val="125000"/>
              </a:lnSpc>
              <a:buNone/>
            </a:pPr>
            <a:r>
              <a:rPr sz="1100">
                <a:solidFill>
                  <a:srgbClr val="CADCFC"/>
                </a:solidFill>
                <a:latin typeface="Calibri"/>
                <a:ea typeface="Calibri"/>
                <a:cs typeface="Calibri"/>
              </a:rPr>
              <a:t>No model token charge. The recommended two-NVIDIA-L4 server rental is ~$630–$1,580 per month.</a:t>
            </a:r>
            <a:endParaRPr sz="1100"/>
          </a:p>
        </p:txBody>
      </p:sp>
      <p:sp>
        <p:nvSpPr>
          <p:cNvPr id="18" name="Text 15">
            <a:extLst>
              <a:ext uri="{FF2B5EF4-FFF2-40B4-BE49-F238E27FC236}">
                <a16:creationId xmlns:a16="http://schemas.microsoft.com/office/drawing/2014/main" id="{647514A6-69ED-4ABC-AD29-47614982A8E9}"/>
              </a:ext>
            </a:extLst>
          </p:cNvPr>
          <p:cNvSpPr>
            <a:spLocks noGrp="1"/>
          </p:cNvSpPr>
          <p:nvPr/>
        </p:nvSpPr>
        <p:spPr>
          <a:xfrm>
            <a:off x="640080" y="6400800"/>
            <a:ext cx="4572000" cy="274320"/>
          </a:xfrm>
          <a:prstGeom prst="rect">
            <a:avLst/>
          </a:prstGeom>
          <a:noFill/>
        </p:spPr>
        <p:txBody>
          <a:bodyPr wrap="square" anchor="ctr"/>
          <a:lstStyle/>
          <a:p>
            <a:pPr marL="0" indent="0">
              <a:buNone/>
            </a:pPr>
            <a:r>
              <a:rPr sz="1000">
                <a:solidFill>
                  <a:srgbClr val="6B7280"/>
                </a:solidFill>
                <a:latin typeface="Calibri"/>
                <a:ea typeface="Calibri"/>
                <a:cs typeface="Calibri"/>
              </a:rPr>
              <a:t>Astravi — AI Cost Comparison</a:t>
            </a:r>
            <a:endParaRPr sz="1000"/>
          </a:p>
        </p:txBody>
      </p:sp>
      <p:sp>
        <p:nvSpPr>
          <p:cNvPr id="19" name="Text 16">
            <a:extLst>
              <a:ext uri="{FF2B5EF4-FFF2-40B4-BE49-F238E27FC236}">
                <a16:creationId xmlns:a16="http://schemas.microsoft.com/office/drawing/2014/main" id="{767638F9-A50D-448E-8827-D32CD456F9D2}"/>
              </a:ext>
            </a:extLst>
          </p:cNvPr>
          <p:cNvSpPr>
            <a:spLocks noGrp="1"/>
          </p:cNvSpPr>
          <p:nvPr/>
        </p:nvSpPr>
        <p:spPr>
          <a:xfrm>
            <a:off x="11365992" y="6400800"/>
            <a:ext cx="548640" cy="274320"/>
          </a:xfrm>
          <a:prstGeom prst="rect">
            <a:avLst/>
          </a:prstGeom>
          <a:noFill/>
        </p:spPr>
        <p:txBody>
          <a:bodyPr wrap="square" anchor="ctr"/>
          <a:lstStyle/>
          <a:p>
            <a:pPr marL="0" indent="0" algn="r">
              <a:buNone/>
            </a:pPr>
            <a:r>
              <a:rPr sz="1000">
                <a:solidFill>
                  <a:srgbClr val="6B7280"/>
                </a:solidFill>
                <a:latin typeface="Calibri"/>
                <a:ea typeface="Calibri"/>
                <a:cs typeface="Calibri"/>
              </a:rPr>
              <a:t>09</a:t>
            </a:r>
            <a:endParaRPr sz="1000"/>
          </a:p>
        </p:txBody>
      </p:sp>
    </p:spTree>
    <p:extLst>
      <p:ext uri="{BB962C8B-B14F-4D97-AF65-F5344CB8AC3E}">
        <p14:creationId xmlns:p14="http://schemas.microsoft.com/office/powerpoint/2010/main" val="1775441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8473503-D98D-4075-B33F-0EF9CD4C9684}"/>
              </a:ext>
            </a:extLst>
          </p:cNvPr>
          <p:cNvSpPr>
            <a:spLocks noGrp="1"/>
          </p:cNvSpPr>
          <p:nvPr/>
        </p:nvSpPr>
        <p:spPr>
          <a:xfrm>
            <a:off x="640080" y="411480"/>
            <a:ext cx="7315200" cy="320040"/>
          </a:xfrm>
          <a:prstGeom prst="rect">
            <a:avLst/>
          </a:prstGeom>
          <a:noFill/>
        </p:spPr>
        <p:txBody>
          <a:bodyPr wrap="square" anchor="ctr"/>
          <a:lstStyle/>
          <a:p>
            <a:pPr marL="0" indent="0">
              <a:buNone/>
            </a:pPr>
            <a:r>
              <a:rPr sz="1300" b="1" spc="200">
                <a:solidFill>
                  <a:srgbClr val="E8A33D"/>
                </a:solidFill>
                <a:latin typeface="Calibri"/>
                <a:ea typeface="Calibri"/>
                <a:cs typeface="Calibri"/>
              </a:rPr>
              <a:t>WEIGHING THE OPTIONS</a:t>
            </a:r>
            <a:endParaRPr sz="1300"/>
          </a:p>
        </p:txBody>
      </p:sp>
      <p:sp>
        <p:nvSpPr>
          <p:cNvPr id="3" name="Text 1">
            <a:extLst>
              <a:ext uri="{FF2B5EF4-FFF2-40B4-BE49-F238E27FC236}">
                <a16:creationId xmlns:a16="http://schemas.microsoft.com/office/drawing/2014/main" id="{59C281B6-29CE-4349-9745-0606DA721061}"/>
              </a:ext>
            </a:extLst>
          </p:cNvPr>
          <p:cNvSpPr>
            <a:spLocks noGrp="1"/>
          </p:cNvSpPr>
          <p:nvPr/>
        </p:nvSpPr>
        <p:spPr>
          <a:xfrm>
            <a:off x="640080" y="713232"/>
            <a:ext cx="10515600" cy="822960"/>
          </a:xfrm>
          <a:prstGeom prst="rect">
            <a:avLst/>
          </a:prstGeom>
          <a:noFill/>
        </p:spPr>
        <p:txBody>
          <a:bodyPr wrap="square" anchor="ctr"/>
          <a:lstStyle/>
          <a:p>
            <a:pPr marL="0" indent="0">
              <a:lnSpc>
                <a:spcPts val="3400"/>
              </a:lnSpc>
              <a:buNone/>
            </a:pPr>
            <a:r>
              <a:rPr sz="3000" b="1">
                <a:solidFill>
                  <a:srgbClr val="1E2761"/>
                </a:solidFill>
                <a:latin typeface="Cambria"/>
                <a:ea typeface="Cambria"/>
                <a:cs typeface="Cambria"/>
              </a:rPr>
              <a:t>Tradeoffs at a glance</a:t>
            </a:r>
            <a:endParaRPr sz="3000"/>
          </a:p>
        </p:txBody>
      </p:sp>
      <p:sp>
        <p:nvSpPr>
          <p:cNvPr id="4" name="Shape 2">
            <a:extLst>
              <a:ext uri="{FF2B5EF4-FFF2-40B4-BE49-F238E27FC236}">
                <a16:creationId xmlns:a16="http://schemas.microsoft.com/office/drawing/2014/main" id="{8473A46D-BEB1-4DB1-B3EC-E6ABA923FB74}"/>
              </a:ext>
            </a:extLst>
          </p:cNvPr>
          <p:cNvSpPr>
            <a:spLocks noGrp="1"/>
          </p:cNvSpPr>
          <p:nvPr/>
        </p:nvSpPr>
        <p:spPr>
          <a:xfrm>
            <a:off x="640080" y="1600200"/>
            <a:ext cx="3429000" cy="4434840"/>
          </a:xfrm>
          <a:prstGeom prst="roundRect">
            <a:avLst>
              <a:gd name="adj" fmla="val 2400"/>
            </a:avLst>
          </a:prstGeom>
          <a:solidFill>
            <a:srgbClr val="F4F7FC"/>
          </a:solidFill>
          <a:ln w="12700">
            <a:solidFill>
              <a:srgbClr val="DCE3F0"/>
            </a:solidFill>
            <a:prstDash val="solid"/>
          </a:ln>
        </p:spPr>
        <p:txBody>
          <a:bodyPr/>
          <a:lstStyle/>
          <a:p>
            <a:endParaRPr/>
          </a:p>
        </p:txBody>
      </p:sp>
      <p:sp>
        <p:nvSpPr>
          <p:cNvPr id="5" name="Shape 3">
            <a:extLst>
              <a:ext uri="{FF2B5EF4-FFF2-40B4-BE49-F238E27FC236}">
                <a16:creationId xmlns:a16="http://schemas.microsoft.com/office/drawing/2014/main" id="{7159324E-DB75-45BC-9B78-C1BE63141A4C}"/>
              </a:ext>
            </a:extLst>
          </p:cNvPr>
          <p:cNvSpPr>
            <a:spLocks noGrp="1"/>
          </p:cNvSpPr>
          <p:nvPr/>
        </p:nvSpPr>
        <p:spPr>
          <a:xfrm>
            <a:off x="640080" y="1600200"/>
            <a:ext cx="3429000" cy="566928"/>
          </a:xfrm>
          <a:prstGeom prst="rect">
            <a:avLst/>
          </a:prstGeom>
          <a:solidFill>
            <a:srgbClr val="1E2761"/>
          </a:solidFill>
        </p:spPr>
        <p:txBody>
          <a:bodyPr/>
          <a:lstStyle/>
          <a:p>
            <a:endParaRPr/>
          </a:p>
        </p:txBody>
      </p:sp>
      <p:sp>
        <p:nvSpPr>
          <p:cNvPr id="6" name="Text 4">
            <a:extLst>
              <a:ext uri="{FF2B5EF4-FFF2-40B4-BE49-F238E27FC236}">
                <a16:creationId xmlns:a16="http://schemas.microsoft.com/office/drawing/2014/main" id="{4D4E0B89-FEE9-4254-87CC-394BB5E0CAD7}"/>
              </a:ext>
            </a:extLst>
          </p:cNvPr>
          <p:cNvSpPr>
            <a:spLocks noGrp="1"/>
          </p:cNvSpPr>
          <p:nvPr/>
        </p:nvSpPr>
        <p:spPr>
          <a:xfrm>
            <a:off x="868680" y="1600200"/>
            <a:ext cx="2971800" cy="566928"/>
          </a:xfrm>
          <a:prstGeom prst="rect">
            <a:avLst/>
          </a:prstGeom>
          <a:noFill/>
        </p:spPr>
        <p:txBody>
          <a:bodyPr wrap="square" anchor="ctr"/>
          <a:lstStyle/>
          <a:p>
            <a:pPr marL="0" indent="0">
              <a:buNone/>
            </a:pPr>
            <a:r>
              <a:rPr sz="1500" b="1">
                <a:solidFill>
                  <a:srgbClr val="FFFFFF"/>
                </a:solidFill>
                <a:latin typeface="Cambria"/>
                <a:ea typeface="Cambria"/>
                <a:cs typeface="Cambria"/>
              </a:rPr>
              <a:t>OpenAI API</a:t>
            </a:r>
            <a:endParaRPr sz="1500"/>
          </a:p>
        </p:txBody>
      </p:sp>
      <p:sp>
        <p:nvSpPr>
          <p:cNvPr id="7" name="Text 5">
            <a:extLst>
              <a:ext uri="{FF2B5EF4-FFF2-40B4-BE49-F238E27FC236}">
                <a16:creationId xmlns:a16="http://schemas.microsoft.com/office/drawing/2014/main" id="{47EF6CC1-DD5B-44FF-B5D3-53DFD270E529}"/>
              </a:ext>
            </a:extLst>
          </p:cNvPr>
          <p:cNvSpPr>
            <a:spLocks noGrp="1"/>
          </p:cNvSpPr>
          <p:nvPr/>
        </p:nvSpPr>
        <p:spPr>
          <a:xfrm>
            <a:off x="868680" y="2377440"/>
            <a:ext cx="2971800" cy="256032"/>
          </a:xfrm>
          <a:prstGeom prst="rect">
            <a:avLst/>
          </a:prstGeom>
          <a:noFill/>
        </p:spPr>
        <p:txBody>
          <a:bodyPr wrap="square" anchor="ctr"/>
          <a:lstStyle/>
          <a:p>
            <a:pPr marL="0" indent="0">
              <a:buNone/>
            </a:pPr>
            <a:r>
              <a:rPr sz="1050" b="1" spc="100">
                <a:solidFill>
                  <a:srgbClr val="1D8A5F"/>
                </a:solidFill>
                <a:latin typeface="Calibri"/>
                <a:ea typeface="Calibri"/>
                <a:cs typeface="Calibri"/>
              </a:rPr>
              <a:t>PROS</a:t>
            </a:r>
            <a:endParaRPr sz="1050"/>
          </a:p>
        </p:txBody>
      </p:sp>
      <p:sp>
        <p:nvSpPr>
          <p:cNvPr id="8" name="Text 6">
            <a:extLst>
              <a:ext uri="{FF2B5EF4-FFF2-40B4-BE49-F238E27FC236}">
                <a16:creationId xmlns:a16="http://schemas.microsoft.com/office/drawing/2014/main" id="{4C91EB42-C2F7-4978-8CF9-3EC276910C2B}"/>
              </a:ext>
            </a:extLst>
          </p:cNvPr>
          <p:cNvSpPr>
            <a:spLocks noGrp="1"/>
          </p:cNvSpPr>
          <p:nvPr/>
        </p:nvSpPr>
        <p:spPr>
          <a:xfrm>
            <a:off x="868680" y="2697480"/>
            <a:ext cx="2971800" cy="502920"/>
          </a:xfrm>
          <a:prstGeom prst="rect">
            <a:avLst/>
          </a:prstGeom>
          <a:noFill/>
        </p:spPr>
        <p:txBody>
          <a:bodyPr wrap="square" anchor="ctr"/>
          <a:lstStyle/>
          <a:p>
            <a:pPr marL="0" indent="0">
              <a:lnSpc>
                <a:spcPct val="115000"/>
              </a:lnSpc>
              <a:buNone/>
            </a:pPr>
            <a:r>
              <a:rPr sz="1150" b="1">
                <a:solidFill>
                  <a:srgbClr val="1D8A5F"/>
                </a:solidFill>
                <a:latin typeface="Calibri"/>
                <a:ea typeface="Calibri"/>
                <a:cs typeface="Calibri"/>
              </a:rPr>
              <a:t>+  </a:t>
            </a:r>
            <a:r>
              <a:rPr sz="1150">
                <a:solidFill>
                  <a:srgbClr val="2B2E43"/>
                </a:solidFill>
                <a:latin typeface="Calibri"/>
                <a:ea typeface="Calibri"/>
                <a:cs typeface="Calibri"/>
              </a:rPr>
              <a:t>Lowest API cost at every scale</a:t>
            </a:r>
            <a:endParaRPr sz="1150"/>
          </a:p>
        </p:txBody>
      </p:sp>
      <p:sp>
        <p:nvSpPr>
          <p:cNvPr id="9" name="Text 7">
            <a:extLst>
              <a:ext uri="{FF2B5EF4-FFF2-40B4-BE49-F238E27FC236}">
                <a16:creationId xmlns:a16="http://schemas.microsoft.com/office/drawing/2014/main" id="{D81113B0-5451-4676-B209-68D720DCCC2E}"/>
              </a:ext>
            </a:extLst>
          </p:cNvPr>
          <p:cNvSpPr>
            <a:spLocks noGrp="1"/>
          </p:cNvSpPr>
          <p:nvPr/>
        </p:nvSpPr>
        <p:spPr>
          <a:xfrm>
            <a:off x="868680" y="3227832"/>
            <a:ext cx="2971800" cy="502920"/>
          </a:xfrm>
          <a:prstGeom prst="rect">
            <a:avLst/>
          </a:prstGeom>
          <a:noFill/>
        </p:spPr>
        <p:txBody>
          <a:bodyPr wrap="square" anchor="ctr"/>
          <a:lstStyle/>
          <a:p>
            <a:pPr marL="0" indent="0">
              <a:lnSpc>
                <a:spcPct val="115000"/>
              </a:lnSpc>
              <a:buNone/>
            </a:pPr>
            <a:r>
              <a:rPr sz="1150" b="1">
                <a:solidFill>
                  <a:srgbClr val="1D8A5F"/>
                </a:solidFill>
                <a:latin typeface="Calibri"/>
                <a:ea typeface="Calibri"/>
                <a:cs typeface="Calibri"/>
              </a:rPr>
              <a:t>+  </a:t>
            </a:r>
            <a:r>
              <a:rPr sz="1150">
                <a:solidFill>
                  <a:srgbClr val="2B2E43"/>
                </a:solidFill>
                <a:latin typeface="Calibri"/>
                <a:ea typeface="Calibri"/>
                <a:cs typeface="Calibri"/>
              </a:rPr>
              <a:t>No infrastructure to operate</a:t>
            </a:r>
            <a:endParaRPr sz="1150"/>
          </a:p>
        </p:txBody>
      </p:sp>
      <p:sp>
        <p:nvSpPr>
          <p:cNvPr id="10" name="Text 8">
            <a:extLst>
              <a:ext uri="{FF2B5EF4-FFF2-40B4-BE49-F238E27FC236}">
                <a16:creationId xmlns:a16="http://schemas.microsoft.com/office/drawing/2014/main" id="{13086711-A108-4F7F-AB34-C152A97156E2}"/>
              </a:ext>
            </a:extLst>
          </p:cNvPr>
          <p:cNvSpPr>
            <a:spLocks noGrp="1"/>
          </p:cNvSpPr>
          <p:nvPr/>
        </p:nvSpPr>
        <p:spPr>
          <a:xfrm>
            <a:off x="868680" y="3758184"/>
            <a:ext cx="2971800" cy="502920"/>
          </a:xfrm>
          <a:prstGeom prst="rect">
            <a:avLst/>
          </a:prstGeom>
          <a:noFill/>
        </p:spPr>
        <p:txBody>
          <a:bodyPr wrap="square" anchor="ctr"/>
          <a:lstStyle/>
          <a:p>
            <a:pPr marL="0" indent="0">
              <a:lnSpc>
                <a:spcPct val="115000"/>
              </a:lnSpc>
              <a:buNone/>
            </a:pPr>
            <a:r>
              <a:rPr sz="1150" b="1">
                <a:solidFill>
                  <a:srgbClr val="1D8A5F"/>
                </a:solidFill>
                <a:latin typeface="Calibri"/>
                <a:ea typeface="Calibri"/>
                <a:cs typeface="Calibri"/>
              </a:rPr>
              <a:t>+  </a:t>
            </a:r>
            <a:r>
              <a:rPr sz="1150">
                <a:solidFill>
                  <a:srgbClr val="2B2E43"/>
                </a:solidFill>
                <a:latin typeface="Calibri"/>
                <a:ea typeface="Calibri"/>
                <a:cs typeface="Calibri"/>
              </a:rPr>
              <a:t>Fast to integrate</a:t>
            </a:r>
            <a:endParaRPr sz="1150"/>
          </a:p>
        </p:txBody>
      </p:sp>
      <p:sp>
        <p:nvSpPr>
          <p:cNvPr id="11" name="Text 9">
            <a:extLst>
              <a:ext uri="{FF2B5EF4-FFF2-40B4-BE49-F238E27FC236}">
                <a16:creationId xmlns:a16="http://schemas.microsoft.com/office/drawing/2014/main" id="{06F64BB6-61EA-401A-B8CA-66A3537D7197}"/>
              </a:ext>
            </a:extLst>
          </p:cNvPr>
          <p:cNvSpPr>
            <a:spLocks noGrp="1"/>
          </p:cNvSpPr>
          <p:nvPr/>
        </p:nvSpPr>
        <p:spPr>
          <a:xfrm>
            <a:off x="868680" y="4425696"/>
            <a:ext cx="2971800" cy="256032"/>
          </a:xfrm>
          <a:prstGeom prst="rect">
            <a:avLst/>
          </a:prstGeom>
          <a:noFill/>
        </p:spPr>
        <p:txBody>
          <a:bodyPr wrap="square" anchor="ctr"/>
          <a:lstStyle/>
          <a:p>
            <a:pPr marL="0" indent="0">
              <a:buNone/>
            </a:pPr>
            <a:r>
              <a:rPr sz="1050" b="1" spc="100">
                <a:solidFill>
                  <a:srgbClr val="B23A3A"/>
                </a:solidFill>
                <a:latin typeface="Calibri"/>
                <a:ea typeface="Calibri"/>
                <a:cs typeface="Calibri"/>
              </a:rPr>
              <a:t>CONS</a:t>
            </a:r>
            <a:endParaRPr sz="1050"/>
          </a:p>
        </p:txBody>
      </p:sp>
      <p:sp>
        <p:nvSpPr>
          <p:cNvPr id="12" name="Text 10">
            <a:extLst>
              <a:ext uri="{FF2B5EF4-FFF2-40B4-BE49-F238E27FC236}">
                <a16:creationId xmlns:a16="http://schemas.microsoft.com/office/drawing/2014/main" id="{47BC349E-85E9-4B79-9C5F-E49EA4381E33}"/>
              </a:ext>
            </a:extLst>
          </p:cNvPr>
          <p:cNvSpPr>
            <a:spLocks noGrp="1"/>
          </p:cNvSpPr>
          <p:nvPr/>
        </p:nvSpPr>
        <p:spPr>
          <a:xfrm>
            <a:off x="868680" y="4745736"/>
            <a:ext cx="2971800" cy="548640"/>
          </a:xfrm>
          <a:prstGeom prst="rect">
            <a:avLst/>
          </a:prstGeom>
          <a:noFill/>
        </p:spPr>
        <p:txBody>
          <a:bodyPr wrap="square" anchor="ctr"/>
          <a:lstStyle/>
          <a:p>
            <a:pPr marL="0" indent="0">
              <a:lnSpc>
                <a:spcPct val="115000"/>
              </a:lnSpc>
              <a:buNone/>
            </a:pPr>
            <a:r>
              <a:rPr sz="1150" b="1">
                <a:solidFill>
                  <a:srgbClr val="B23A3A"/>
                </a:solidFill>
                <a:latin typeface="Calibri"/>
                <a:ea typeface="Calibri"/>
                <a:cs typeface="Calibri"/>
              </a:rPr>
              <a:t>–  </a:t>
            </a:r>
            <a:r>
              <a:rPr sz="1150">
                <a:solidFill>
                  <a:srgbClr val="2B2E43"/>
                </a:solidFill>
                <a:latin typeface="Calibri"/>
                <a:ea typeface="Calibri"/>
                <a:cs typeface="Calibri"/>
              </a:rPr>
              <a:t>Two models to manage (Terra + Luna)</a:t>
            </a:r>
            <a:endParaRPr sz="1150"/>
          </a:p>
        </p:txBody>
      </p:sp>
      <p:sp>
        <p:nvSpPr>
          <p:cNvPr id="13" name="Text 11">
            <a:extLst>
              <a:ext uri="{FF2B5EF4-FFF2-40B4-BE49-F238E27FC236}">
                <a16:creationId xmlns:a16="http://schemas.microsoft.com/office/drawing/2014/main" id="{48133D9B-1807-4D69-9113-00A2D62AEAC9}"/>
              </a:ext>
            </a:extLst>
          </p:cNvPr>
          <p:cNvSpPr>
            <a:spLocks noGrp="1"/>
          </p:cNvSpPr>
          <p:nvPr/>
        </p:nvSpPr>
        <p:spPr>
          <a:xfrm>
            <a:off x="868680" y="5312664"/>
            <a:ext cx="2971800" cy="548640"/>
          </a:xfrm>
          <a:prstGeom prst="rect">
            <a:avLst/>
          </a:prstGeom>
          <a:noFill/>
        </p:spPr>
        <p:txBody>
          <a:bodyPr wrap="square" anchor="ctr"/>
          <a:lstStyle/>
          <a:p>
            <a:pPr marL="0" indent="0">
              <a:lnSpc>
                <a:spcPct val="115000"/>
              </a:lnSpc>
              <a:buNone/>
            </a:pPr>
            <a:r>
              <a:rPr sz="1150" b="1">
                <a:solidFill>
                  <a:srgbClr val="B23A3A"/>
                </a:solidFill>
                <a:latin typeface="Calibri"/>
                <a:ea typeface="Calibri"/>
                <a:cs typeface="Calibri"/>
              </a:rPr>
              <a:t>–  </a:t>
            </a:r>
            <a:r>
              <a:rPr sz="1150">
                <a:solidFill>
                  <a:srgbClr val="2B2E43"/>
                </a:solidFill>
                <a:latin typeface="Calibri"/>
                <a:ea typeface="Calibri"/>
                <a:cs typeface="Calibri"/>
              </a:rPr>
              <a:t>Recurring cost grows with usage</a:t>
            </a:r>
            <a:endParaRPr sz="1150"/>
          </a:p>
        </p:txBody>
      </p:sp>
      <p:sp>
        <p:nvSpPr>
          <p:cNvPr id="14" name="Shape 12">
            <a:extLst>
              <a:ext uri="{FF2B5EF4-FFF2-40B4-BE49-F238E27FC236}">
                <a16:creationId xmlns:a16="http://schemas.microsoft.com/office/drawing/2014/main" id="{38ECBE53-E75A-4B67-8DA3-25DD1A4CC892}"/>
              </a:ext>
            </a:extLst>
          </p:cNvPr>
          <p:cNvSpPr>
            <a:spLocks noGrp="1"/>
          </p:cNvSpPr>
          <p:nvPr/>
        </p:nvSpPr>
        <p:spPr>
          <a:xfrm>
            <a:off x="4379976" y="1600200"/>
            <a:ext cx="3429000" cy="4434840"/>
          </a:xfrm>
          <a:prstGeom prst="roundRect">
            <a:avLst>
              <a:gd name="adj" fmla="val 2400"/>
            </a:avLst>
          </a:prstGeom>
          <a:solidFill>
            <a:srgbClr val="F4F7FC"/>
          </a:solidFill>
          <a:ln w="12700">
            <a:solidFill>
              <a:srgbClr val="DCE3F0"/>
            </a:solidFill>
            <a:prstDash val="solid"/>
          </a:ln>
        </p:spPr>
        <p:txBody>
          <a:bodyPr/>
          <a:lstStyle/>
          <a:p>
            <a:endParaRPr/>
          </a:p>
        </p:txBody>
      </p:sp>
      <p:sp>
        <p:nvSpPr>
          <p:cNvPr id="15" name="Shape 13">
            <a:extLst>
              <a:ext uri="{FF2B5EF4-FFF2-40B4-BE49-F238E27FC236}">
                <a16:creationId xmlns:a16="http://schemas.microsoft.com/office/drawing/2014/main" id="{6C7F7488-56CB-4786-9E52-E201DC90D928}"/>
              </a:ext>
            </a:extLst>
          </p:cNvPr>
          <p:cNvSpPr>
            <a:spLocks noGrp="1"/>
          </p:cNvSpPr>
          <p:nvPr/>
        </p:nvSpPr>
        <p:spPr>
          <a:xfrm>
            <a:off x="4379976" y="1600200"/>
            <a:ext cx="3429000" cy="566928"/>
          </a:xfrm>
          <a:prstGeom prst="rect">
            <a:avLst/>
          </a:prstGeom>
          <a:solidFill>
            <a:srgbClr val="1E2761"/>
          </a:solidFill>
        </p:spPr>
        <p:txBody>
          <a:bodyPr/>
          <a:lstStyle/>
          <a:p>
            <a:endParaRPr/>
          </a:p>
        </p:txBody>
      </p:sp>
      <p:sp>
        <p:nvSpPr>
          <p:cNvPr id="16" name="Text 14">
            <a:extLst>
              <a:ext uri="{FF2B5EF4-FFF2-40B4-BE49-F238E27FC236}">
                <a16:creationId xmlns:a16="http://schemas.microsoft.com/office/drawing/2014/main" id="{8AB33B29-90BC-4314-BCB8-FE4AE9F2D1A0}"/>
              </a:ext>
            </a:extLst>
          </p:cNvPr>
          <p:cNvSpPr>
            <a:spLocks noGrp="1"/>
          </p:cNvSpPr>
          <p:nvPr/>
        </p:nvSpPr>
        <p:spPr>
          <a:xfrm>
            <a:off x="4608576" y="1600200"/>
            <a:ext cx="2971800" cy="566928"/>
          </a:xfrm>
          <a:prstGeom prst="rect">
            <a:avLst/>
          </a:prstGeom>
          <a:noFill/>
        </p:spPr>
        <p:txBody>
          <a:bodyPr wrap="square" anchor="ctr"/>
          <a:lstStyle/>
          <a:p>
            <a:pPr marL="0" indent="0">
              <a:buNone/>
            </a:pPr>
            <a:r>
              <a:rPr sz="1500" b="1">
                <a:solidFill>
                  <a:srgbClr val="FFFFFF"/>
                </a:solidFill>
                <a:latin typeface="Cambria"/>
                <a:ea typeface="Cambria"/>
                <a:cs typeface="Cambria"/>
              </a:rPr>
              <a:t>Claude API</a:t>
            </a:r>
            <a:endParaRPr sz="1500"/>
          </a:p>
        </p:txBody>
      </p:sp>
      <p:sp>
        <p:nvSpPr>
          <p:cNvPr id="17" name="Text 15">
            <a:extLst>
              <a:ext uri="{FF2B5EF4-FFF2-40B4-BE49-F238E27FC236}">
                <a16:creationId xmlns:a16="http://schemas.microsoft.com/office/drawing/2014/main" id="{EF2E64EA-5D49-4A62-A5C9-3931C092DB0E}"/>
              </a:ext>
            </a:extLst>
          </p:cNvPr>
          <p:cNvSpPr>
            <a:spLocks noGrp="1"/>
          </p:cNvSpPr>
          <p:nvPr/>
        </p:nvSpPr>
        <p:spPr>
          <a:xfrm>
            <a:off x="4608576" y="2377440"/>
            <a:ext cx="2971800" cy="256032"/>
          </a:xfrm>
          <a:prstGeom prst="rect">
            <a:avLst/>
          </a:prstGeom>
          <a:noFill/>
        </p:spPr>
        <p:txBody>
          <a:bodyPr wrap="square" anchor="ctr"/>
          <a:lstStyle/>
          <a:p>
            <a:pPr marL="0" indent="0">
              <a:buNone/>
            </a:pPr>
            <a:r>
              <a:rPr sz="1050" b="1" spc="100">
                <a:solidFill>
                  <a:srgbClr val="1D8A5F"/>
                </a:solidFill>
                <a:latin typeface="Calibri"/>
                <a:ea typeface="Calibri"/>
                <a:cs typeface="Calibri"/>
              </a:rPr>
              <a:t>PROS</a:t>
            </a:r>
            <a:endParaRPr sz="1050"/>
          </a:p>
        </p:txBody>
      </p:sp>
      <p:sp>
        <p:nvSpPr>
          <p:cNvPr id="18" name="Text 16">
            <a:extLst>
              <a:ext uri="{FF2B5EF4-FFF2-40B4-BE49-F238E27FC236}">
                <a16:creationId xmlns:a16="http://schemas.microsoft.com/office/drawing/2014/main" id="{C6FC2DCE-F08B-4521-88F8-B79611F3B719}"/>
              </a:ext>
            </a:extLst>
          </p:cNvPr>
          <p:cNvSpPr>
            <a:spLocks noGrp="1"/>
          </p:cNvSpPr>
          <p:nvPr/>
        </p:nvSpPr>
        <p:spPr>
          <a:xfrm>
            <a:off x="4608576" y="2697480"/>
            <a:ext cx="2971800" cy="502920"/>
          </a:xfrm>
          <a:prstGeom prst="rect">
            <a:avLst/>
          </a:prstGeom>
          <a:noFill/>
        </p:spPr>
        <p:txBody>
          <a:bodyPr wrap="square" anchor="ctr"/>
          <a:lstStyle/>
          <a:p>
            <a:pPr marL="0" indent="0">
              <a:lnSpc>
                <a:spcPct val="115000"/>
              </a:lnSpc>
              <a:buNone/>
            </a:pPr>
            <a:r>
              <a:rPr sz="1150" b="1">
                <a:solidFill>
                  <a:srgbClr val="1D8A5F"/>
                </a:solidFill>
                <a:latin typeface="Calibri"/>
                <a:ea typeface="Calibri"/>
                <a:cs typeface="Calibri"/>
              </a:rPr>
              <a:t>+  </a:t>
            </a:r>
            <a:r>
              <a:rPr sz="1150">
                <a:solidFill>
                  <a:srgbClr val="2B2E43"/>
                </a:solidFill>
                <a:latin typeface="Calibri"/>
                <a:ea typeface="Calibri"/>
                <a:cs typeface="Calibri"/>
              </a:rPr>
              <a:t>One model across the full workflow</a:t>
            </a:r>
            <a:endParaRPr sz="1150"/>
          </a:p>
        </p:txBody>
      </p:sp>
      <p:sp>
        <p:nvSpPr>
          <p:cNvPr id="19" name="Text 17">
            <a:extLst>
              <a:ext uri="{FF2B5EF4-FFF2-40B4-BE49-F238E27FC236}">
                <a16:creationId xmlns:a16="http://schemas.microsoft.com/office/drawing/2014/main" id="{2A2AFE68-CF32-4654-9EE1-5AD56CB0D812}"/>
              </a:ext>
            </a:extLst>
          </p:cNvPr>
          <p:cNvSpPr>
            <a:spLocks noGrp="1"/>
          </p:cNvSpPr>
          <p:nvPr/>
        </p:nvSpPr>
        <p:spPr>
          <a:xfrm>
            <a:off x="4608576" y="3227832"/>
            <a:ext cx="2971800" cy="502920"/>
          </a:xfrm>
          <a:prstGeom prst="rect">
            <a:avLst/>
          </a:prstGeom>
          <a:noFill/>
        </p:spPr>
        <p:txBody>
          <a:bodyPr wrap="square" anchor="ctr"/>
          <a:lstStyle/>
          <a:p>
            <a:pPr marL="0" indent="0">
              <a:lnSpc>
                <a:spcPct val="115000"/>
              </a:lnSpc>
              <a:buNone/>
            </a:pPr>
            <a:r>
              <a:rPr sz="1150" b="1">
                <a:solidFill>
                  <a:srgbClr val="1D8A5F"/>
                </a:solidFill>
                <a:latin typeface="Calibri"/>
                <a:ea typeface="Calibri"/>
                <a:cs typeface="Calibri"/>
              </a:rPr>
              <a:t>+  </a:t>
            </a:r>
            <a:r>
              <a:rPr sz="1150">
                <a:solidFill>
                  <a:srgbClr val="2B2E43"/>
                </a:solidFill>
                <a:latin typeface="Calibri"/>
                <a:ea typeface="Calibri"/>
                <a:cs typeface="Calibri"/>
              </a:rPr>
              <a:t>Simpler prompt / eval surface</a:t>
            </a:r>
            <a:endParaRPr sz="1150"/>
          </a:p>
        </p:txBody>
      </p:sp>
      <p:sp>
        <p:nvSpPr>
          <p:cNvPr id="20" name="Text 18">
            <a:extLst>
              <a:ext uri="{FF2B5EF4-FFF2-40B4-BE49-F238E27FC236}">
                <a16:creationId xmlns:a16="http://schemas.microsoft.com/office/drawing/2014/main" id="{1ACB5D48-A879-488D-A4D2-10417AF28412}"/>
              </a:ext>
            </a:extLst>
          </p:cNvPr>
          <p:cNvSpPr>
            <a:spLocks noGrp="1"/>
          </p:cNvSpPr>
          <p:nvPr/>
        </p:nvSpPr>
        <p:spPr>
          <a:xfrm>
            <a:off x="4608576" y="3895344"/>
            <a:ext cx="2971800" cy="256032"/>
          </a:xfrm>
          <a:prstGeom prst="rect">
            <a:avLst/>
          </a:prstGeom>
          <a:noFill/>
        </p:spPr>
        <p:txBody>
          <a:bodyPr wrap="square" anchor="ctr"/>
          <a:lstStyle/>
          <a:p>
            <a:pPr marL="0" indent="0">
              <a:buNone/>
            </a:pPr>
            <a:r>
              <a:rPr sz="1050" b="1" spc="100">
                <a:solidFill>
                  <a:srgbClr val="B23A3A"/>
                </a:solidFill>
                <a:latin typeface="Calibri"/>
                <a:ea typeface="Calibri"/>
                <a:cs typeface="Calibri"/>
              </a:rPr>
              <a:t>CONS</a:t>
            </a:r>
            <a:endParaRPr sz="1050"/>
          </a:p>
        </p:txBody>
      </p:sp>
      <p:sp>
        <p:nvSpPr>
          <p:cNvPr id="21" name="Text 19">
            <a:extLst>
              <a:ext uri="{FF2B5EF4-FFF2-40B4-BE49-F238E27FC236}">
                <a16:creationId xmlns:a16="http://schemas.microsoft.com/office/drawing/2014/main" id="{35BD3F8F-6EC2-4114-B509-52124C77AE63}"/>
              </a:ext>
            </a:extLst>
          </p:cNvPr>
          <p:cNvSpPr>
            <a:spLocks noGrp="1"/>
          </p:cNvSpPr>
          <p:nvPr/>
        </p:nvSpPr>
        <p:spPr>
          <a:xfrm>
            <a:off x="4608576" y="4215384"/>
            <a:ext cx="2971800" cy="548640"/>
          </a:xfrm>
          <a:prstGeom prst="rect">
            <a:avLst/>
          </a:prstGeom>
          <a:noFill/>
        </p:spPr>
        <p:txBody>
          <a:bodyPr wrap="square" anchor="ctr"/>
          <a:lstStyle/>
          <a:p>
            <a:pPr marL="0" indent="0">
              <a:lnSpc>
                <a:spcPct val="115000"/>
              </a:lnSpc>
              <a:buNone/>
            </a:pPr>
            <a:r>
              <a:rPr sz="1150" b="1">
                <a:solidFill>
                  <a:srgbClr val="B23A3A"/>
                </a:solidFill>
                <a:latin typeface="Calibri"/>
                <a:ea typeface="Calibri"/>
                <a:cs typeface="Calibri"/>
              </a:rPr>
              <a:t>–  </a:t>
            </a:r>
            <a:r>
              <a:rPr sz="1150">
                <a:solidFill>
                  <a:srgbClr val="2B2E43"/>
                </a:solidFill>
                <a:latin typeface="Calibri"/>
                <a:ea typeface="Calibri"/>
                <a:cs typeface="Calibri"/>
              </a:rPr>
              <a:t>Highest recurring cost (60–70% more)</a:t>
            </a:r>
            <a:endParaRPr sz="1150"/>
          </a:p>
        </p:txBody>
      </p:sp>
      <p:sp>
        <p:nvSpPr>
          <p:cNvPr id="22" name="Text 20">
            <a:extLst>
              <a:ext uri="{FF2B5EF4-FFF2-40B4-BE49-F238E27FC236}">
                <a16:creationId xmlns:a16="http://schemas.microsoft.com/office/drawing/2014/main" id="{E49223A5-E9EB-4357-94FC-0CF3EA4603A6}"/>
              </a:ext>
            </a:extLst>
          </p:cNvPr>
          <p:cNvSpPr>
            <a:spLocks noGrp="1"/>
          </p:cNvSpPr>
          <p:nvPr/>
        </p:nvSpPr>
        <p:spPr>
          <a:xfrm>
            <a:off x="4608576" y="4782312"/>
            <a:ext cx="2971800" cy="548640"/>
          </a:xfrm>
          <a:prstGeom prst="rect">
            <a:avLst/>
          </a:prstGeom>
          <a:noFill/>
        </p:spPr>
        <p:txBody>
          <a:bodyPr wrap="square" anchor="ctr"/>
          <a:lstStyle/>
          <a:p>
            <a:pPr marL="0" indent="0">
              <a:lnSpc>
                <a:spcPct val="115000"/>
              </a:lnSpc>
              <a:buNone/>
            </a:pPr>
            <a:r>
              <a:rPr sz="1150" b="1">
                <a:solidFill>
                  <a:srgbClr val="B23A3A"/>
                </a:solidFill>
                <a:latin typeface="Calibri"/>
                <a:ea typeface="Calibri"/>
                <a:cs typeface="Calibri"/>
              </a:rPr>
              <a:t>–  </a:t>
            </a:r>
            <a:r>
              <a:rPr sz="1150">
                <a:solidFill>
                  <a:srgbClr val="2B2E43"/>
                </a:solidFill>
                <a:latin typeface="Calibri"/>
                <a:ea typeface="Calibri"/>
                <a:cs typeface="Calibri"/>
              </a:rPr>
              <a:t>Requires new Anthropic integration</a:t>
            </a:r>
            <a:endParaRPr sz="1150"/>
          </a:p>
        </p:txBody>
      </p:sp>
      <p:sp>
        <p:nvSpPr>
          <p:cNvPr id="23" name="Shape 21">
            <a:extLst>
              <a:ext uri="{FF2B5EF4-FFF2-40B4-BE49-F238E27FC236}">
                <a16:creationId xmlns:a16="http://schemas.microsoft.com/office/drawing/2014/main" id="{926D5EFA-9DAC-41F2-A566-0EEE55986636}"/>
              </a:ext>
            </a:extLst>
          </p:cNvPr>
          <p:cNvSpPr>
            <a:spLocks noGrp="1"/>
          </p:cNvSpPr>
          <p:nvPr/>
        </p:nvSpPr>
        <p:spPr>
          <a:xfrm>
            <a:off x="8119872" y="1600200"/>
            <a:ext cx="3429000" cy="4434840"/>
          </a:xfrm>
          <a:prstGeom prst="roundRect">
            <a:avLst>
              <a:gd name="adj" fmla="val 2400"/>
            </a:avLst>
          </a:prstGeom>
          <a:solidFill>
            <a:srgbClr val="F4F7FC"/>
          </a:solidFill>
          <a:ln w="12700">
            <a:solidFill>
              <a:srgbClr val="DCE3F0"/>
            </a:solidFill>
            <a:prstDash val="solid"/>
          </a:ln>
        </p:spPr>
        <p:txBody>
          <a:bodyPr/>
          <a:lstStyle/>
          <a:p>
            <a:endParaRPr/>
          </a:p>
        </p:txBody>
      </p:sp>
      <p:sp>
        <p:nvSpPr>
          <p:cNvPr id="24" name="Shape 22">
            <a:extLst>
              <a:ext uri="{FF2B5EF4-FFF2-40B4-BE49-F238E27FC236}">
                <a16:creationId xmlns:a16="http://schemas.microsoft.com/office/drawing/2014/main" id="{6EE7E970-0475-40D0-B804-550DE72A2267}"/>
              </a:ext>
            </a:extLst>
          </p:cNvPr>
          <p:cNvSpPr>
            <a:spLocks noGrp="1"/>
          </p:cNvSpPr>
          <p:nvPr/>
        </p:nvSpPr>
        <p:spPr>
          <a:xfrm>
            <a:off x="8119872" y="1600200"/>
            <a:ext cx="3429000" cy="566928"/>
          </a:xfrm>
          <a:prstGeom prst="rect">
            <a:avLst/>
          </a:prstGeom>
          <a:solidFill>
            <a:srgbClr val="1E2761"/>
          </a:solidFill>
        </p:spPr>
        <p:txBody>
          <a:bodyPr/>
          <a:lstStyle/>
          <a:p>
            <a:endParaRPr/>
          </a:p>
        </p:txBody>
      </p:sp>
      <p:sp>
        <p:nvSpPr>
          <p:cNvPr id="25" name="Text 23">
            <a:extLst>
              <a:ext uri="{FF2B5EF4-FFF2-40B4-BE49-F238E27FC236}">
                <a16:creationId xmlns:a16="http://schemas.microsoft.com/office/drawing/2014/main" id="{1C1B5F47-8698-432E-92A1-23A2185D7F94}"/>
              </a:ext>
            </a:extLst>
          </p:cNvPr>
          <p:cNvSpPr>
            <a:spLocks noGrp="1"/>
          </p:cNvSpPr>
          <p:nvPr/>
        </p:nvSpPr>
        <p:spPr>
          <a:xfrm>
            <a:off x="8348472" y="1600200"/>
            <a:ext cx="2971800" cy="566928"/>
          </a:xfrm>
          <a:prstGeom prst="rect">
            <a:avLst/>
          </a:prstGeom>
          <a:noFill/>
        </p:spPr>
        <p:txBody>
          <a:bodyPr wrap="square" anchor="ctr"/>
          <a:lstStyle/>
          <a:p>
            <a:pPr marL="0" indent="0">
              <a:buNone/>
            </a:pPr>
            <a:r>
              <a:rPr sz="1500" b="1">
                <a:solidFill>
                  <a:srgbClr val="FFFFFF"/>
                </a:solidFill>
                <a:latin typeface="Cambria"/>
                <a:ea typeface="Cambria"/>
                <a:cs typeface="Cambria"/>
              </a:rPr>
              <a:t>Self-Hosted (Qwen)</a:t>
            </a:r>
            <a:endParaRPr sz="1500"/>
          </a:p>
        </p:txBody>
      </p:sp>
      <p:sp>
        <p:nvSpPr>
          <p:cNvPr id="26" name="Text 24">
            <a:extLst>
              <a:ext uri="{FF2B5EF4-FFF2-40B4-BE49-F238E27FC236}">
                <a16:creationId xmlns:a16="http://schemas.microsoft.com/office/drawing/2014/main" id="{D70F4E83-0E61-4509-8D4B-B4234DB43B9C}"/>
              </a:ext>
            </a:extLst>
          </p:cNvPr>
          <p:cNvSpPr>
            <a:spLocks noGrp="1"/>
          </p:cNvSpPr>
          <p:nvPr/>
        </p:nvSpPr>
        <p:spPr>
          <a:xfrm>
            <a:off x="8348472" y="2377440"/>
            <a:ext cx="2971800" cy="256032"/>
          </a:xfrm>
          <a:prstGeom prst="rect">
            <a:avLst/>
          </a:prstGeom>
          <a:noFill/>
        </p:spPr>
        <p:txBody>
          <a:bodyPr wrap="square" anchor="ctr"/>
          <a:lstStyle/>
          <a:p>
            <a:pPr marL="0" indent="0">
              <a:buNone/>
            </a:pPr>
            <a:r>
              <a:rPr sz="1050" b="1" spc="100">
                <a:solidFill>
                  <a:srgbClr val="1D8A5F"/>
                </a:solidFill>
                <a:latin typeface="Calibri"/>
                <a:ea typeface="Calibri"/>
                <a:cs typeface="Calibri"/>
              </a:rPr>
              <a:t>PROS</a:t>
            </a:r>
            <a:endParaRPr sz="1050"/>
          </a:p>
        </p:txBody>
      </p:sp>
      <p:sp>
        <p:nvSpPr>
          <p:cNvPr id="27" name="Text 25">
            <a:extLst>
              <a:ext uri="{FF2B5EF4-FFF2-40B4-BE49-F238E27FC236}">
                <a16:creationId xmlns:a16="http://schemas.microsoft.com/office/drawing/2014/main" id="{F0D613F3-01D4-45F6-807D-00AEAD765364}"/>
              </a:ext>
            </a:extLst>
          </p:cNvPr>
          <p:cNvSpPr>
            <a:spLocks noGrp="1"/>
          </p:cNvSpPr>
          <p:nvPr/>
        </p:nvSpPr>
        <p:spPr>
          <a:xfrm>
            <a:off x="8348472" y="2697480"/>
            <a:ext cx="2971800" cy="502920"/>
          </a:xfrm>
          <a:prstGeom prst="rect">
            <a:avLst/>
          </a:prstGeom>
          <a:noFill/>
        </p:spPr>
        <p:txBody>
          <a:bodyPr wrap="square" anchor="ctr"/>
          <a:lstStyle/>
          <a:p>
            <a:pPr marL="0" indent="0">
              <a:lnSpc>
                <a:spcPct val="115000"/>
              </a:lnSpc>
              <a:buNone/>
            </a:pPr>
            <a:r>
              <a:rPr sz="1150" b="1">
                <a:solidFill>
                  <a:srgbClr val="1D8A5F"/>
                </a:solidFill>
                <a:latin typeface="Calibri"/>
                <a:ea typeface="Calibri"/>
                <a:cs typeface="Calibri"/>
              </a:rPr>
              <a:t>+  </a:t>
            </a:r>
            <a:r>
              <a:rPr sz="1150">
                <a:solidFill>
                  <a:srgbClr val="2B2E43"/>
                </a:solidFill>
                <a:latin typeface="Calibri"/>
                <a:ea typeface="Calibri"/>
                <a:cs typeface="Calibri"/>
              </a:rPr>
              <a:t>No recurring token charges</a:t>
            </a:r>
            <a:endParaRPr sz="1150"/>
          </a:p>
        </p:txBody>
      </p:sp>
      <p:sp>
        <p:nvSpPr>
          <p:cNvPr id="28" name="Text 26">
            <a:extLst>
              <a:ext uri="{FF2B5EF4-FFF2-40B4-BE49-F238E27FC236}">
                <a16:creationId xmlns:a16="http://schemas.microsoft.com/office/drawing/2014/main" id="{A3BB0AB1-32AB-4D33-AD50-C545FC3B137F}"/>
              </a:ext>
            </a:extLst>
          </p:cNvPr>
          <p:cNvSpPr>
            <a:spLocks noGrp="1"/>
          </p:cNvSpPr>
          <p:nvPr/>
        </p:nvSpPr>
        <p:spPr>
          <a:xfrm>
            <a:off x="8348472" y="3227832"/>
            <a:ext cx="2971800" cy="502920"/>
          </a:xfrm>
          <a:prstGeom prst="rect">
            <a:avLst/>
          </a:prstGeom>
          <a:noFill/>
        </p:spPr>
        <p:txBody>
          <a:bodyPr wrap="square" anchor="ctr"/>
          <a:lstStyle/>
          <a:p>
            <a:pPr marL="0" indent="0">
              <a:lnSpc>
                <a:spcPct val="115000"/>
              </a:lnSpc>
              <a:buNone/>
            </a:pPr>
            <a:r>
              <a:rPr sz="1150" b="1">
                <a:solidFill>
                  <a:srgbClr val="1D8A5F"/>
                </a:solidFill>
                <a:latin typeface="Calibri"/>
                <a:ea typeface="Calibri"/>
                <a:cs typeface="Calibri"/>
              </a:rPr>
              <a:t>+  </a:t>
            </a:r>
            <a:r>
              <a:rPr sz="1150">
                <a:solidFill>
                  <a:srgbClr val="2B2E43"/>
                </a:solidFill>
                <a:latin typeface="Calibri"/>
                <a:ea typeface="Calibri"/>
                <a:cs typeface="Calibri"/>
              </a:rPr>
              <a:t>Full control of data &amp; infrastructure</a:t>
            </a:r>
            <a:endParaRPr sz="1150"/>
          </a:p>
        </p:txBody>
      </p:sp>
      <p:sp>
        <p:nvSpPr>
          <p:cNvPr id="29" name="Text 27">
            <a:extLst>
              <a:ext uri="{FF2B5EF4-FFF2-40B4-BE49-F238E27FC236}">
                <a16:creationId xmlns:a16="http://schemas.microsoft.com/office/drawing/2014/main" id="{5AE3D617-8194-4D7C-B0E6-DEBFBA4A69CB}"/>
              </a:ext>
            </a:extLst>
          </p:cNvPr>
          <p:cNvSpPr>
            <a:spLocks noGrp="1"/>
          </p:cNvSpPr>
          <p:nvPr/>
        </p:nvSpPr>
        <p:spPr>
          <a:xfrm>
            <a:off x="8348472" y="3895344"/>
            <a:ext cx="2971800" cy="256032"/>
          </a:xfrm>
          <a:prstGeom prst="rect">
            <a:avLst/>
          </a:prstGeom>
          <a:noFill/>
        </p:spPr>
        <p:txBody>
          <a:bodyPr wrap="square" anchor="ctr"/>
          <a:lstStyle/>
          <a:p>
            <a:pPr marL="0" indent="0">
              <a:buNone/>
            </a:pPr>
            <a:r>
              <a:rPr sz="1050" b="1" spc="100">
                <a:solidFill>
                  <a:srgbClr val="B23A3A"/>
                </a:solidFill>
                <a:latin typeface="Calibri"/>
                <a:ea typeface="Calibri"/>
                <a:cs typeface="Calibri"/>
              </a:rPr>
              <a:t>CONS</a:t>
            </a:r>
            <a:endParaRPr sz="1050"/>
          </a:p>
        </p:txBody>
      </p:sp>
      <p:sp>
        <p:nvSpPr>
          <p:cNvPr id="30" name="Text 28">
            <a:extLst>
              <a:ext uri="{FF2B5EF4-FFF2-40B4-BE49-F238E27FC236}">
                <a16:creationId xmlns:a16="http://schemas.microsoft.com/office/drawing/2014/main" id="{2DCE6618-FA7B-416C-895F-D63BD557AABC}"/>
              </a:ext>
            </a:extLst>
          </p:cNvPr>
          <p:cNvSpPr>
            <a:spLocks noGrp="1"/>
          </p:cNvSpPr>
          <p:nvPr/>
        </p:nvSpPr>
        <p:spPr>
          <a:xfrm>
            <a:off x="8348472" y="4215384"/>
            <a:ext cx="2971800" cy="548640"/>
          </a:xfrm>
          <a:prstGeom prst="rect">
            <a:avLst/>
          </a:prstGeom>
          <a:noFill/>
        </p:spPr>
        <p:txBody>
          <a:bodyPr wrap="square" anchor="ctr"/>
          <a:lstStyle/>
          <a:p>
            <a:pPr marL="0" indent="0">
              <a:lnSpc>
                <a:spcPct val="115000"/>
              </a:lnSpc>
              <a:buNone/>
            </a:pPr>
            <a:r>
              <a:rPr sz="1150" b="1">
                <a:solidFill>
                  <a:srgbClr val="B23A3A"/>
                </a:solidFill>
                <a:latin typeface="Calibri"/>
                <a:ea typeface="Calibri"/>
                <a:cs typeface="Calibri"/>
              </a:rPr>
              <a:t>–  </a:t>
            </a:r>
            <a:r>
              <a:rPr sz="1150">
                <a:solidFill>
                  <a:srgbClr val="2B2E43"/>
                </a:solidFill>
                <a:latin typeface="Calibri"/>
                <a:ea typeface="Calibri"/>
                <a:cs typeface="Calibri"/>
              </a:rPr>
              <a:t>Upfront purchase or rental commitment</a:t>
            </a:r>
            <a:endParaRPr sz="1150"/>
          </a:p>
        </p:txBody>
      </p:sp>
      <p:sp>
        <p:nvSpPr>
          <p:cNvPr id="31" name="Text 29">
            <a:extLst>
              <a:ext uri="{FF2B5EF4-FFF2-40B4-BE49-F238E27FC236}">
                <a16:creationId xmlns:a16="http://schemas.microsoft.com/office/drawing/2014/main" id="{D128EFAE-3BA7-4F63-92E3-E57A7E1132E1}"/>
              </a:ext>
            </a:extLst>
          </p:cNvPr>
          <p:cNvSpPr>
            <a:spLocks noGrp="1"/>
          </p:cNvSpPr>
          <p:nvPr/>
        </p:nvSpPr>
        <p:spPr>
          <a:xfrm>
            <a:off x="8348472" y="4782312"/>
            <a:ext cx="2971800" cy="548640"/>
          </a:xfrm>
          <a:prstGeom prst="rect">
            <a:avLst/>
          </a:prstGeom>
          <a:noFill/>
        </p:spPr>
        <p:txBody>
          <a:bodyPr wrap="square" anchor="ctr"/>
          <a:lstStyle/>
          <a:p>
            <a:pPr marL="0" indent="0">
              <a:lnSpc>
                <a:spcPct val="115000"/>
              </a:lnSpc>
              <a:buNone/>
            </a:pPr>
            <a:r>
              <a:rPr sz="1150" b="1">
                <a:solidFill>
                  <a:srgbClr val="B23A3A"/>
                </a:solidFill>
                <a:latin typeface="Calibri"/>
                <a:ea typeface="Calibri"/>
                <a:cs typeface="Calibri"/>
              </a:rPr>
              <a:t>–  </a:t>
            </a:r>
            <a:r>
              <a:rPr sz="1150">
                <a:solidFill>
                  <a:srgbClr val="2B2E43"/>
                </a:solidFill>
                <a:latin typeface="Calibri"/>
                <a:ea typeface="Calibri"/>
                <a:cs typeface="Calibri"/>
              </a:rPr>
              <a:t>We own ops, security, backups, load-testing</a:t>
            </a:r>
            <a:endParaRPr sz="1150"/>
          </a:p>
        </p:txBody>
      </p:sp>
      <p:sp>
        <p:nvSpPr>
          <p:cNvPr id="32" name="Text 30">
            <a:extLst>
              <a:ext uri="{FF2B5EF4-FFF2-40B4-BE49-F238E27FC236}">
                <a16:creationId xmlns:a16="http://schemas.microsoft.com/office/drawing/2014/main" id="{B6DF1E7F-5A37-413C-82A9-F28DF6CA5715}"/>
              </a:ext>
            </a:extLst>
          </p:cNvPr>
          <p:cNvSpPr>
            <a:spLocks noGrp="1"/>
          </p:cNvSpPr>
          <p:nvPr/>
        </p:nvSpPr>
        <p:spPr>
          <a:xfrm>
            <a:off x="640080" y="6400800"/>
            <a:ext cx="4572000" cy="274320"/>
          </a:xfrm>
          <a:prstGeom prst="rect">
            <a:avLst/>
          </a:prstGeom>
          <a:noFill/>
        </p:spPr>
        <p:txBody>
          <a:bodyPr wrap="square" anchor="ctr"/>
          <a:lstStyle/>
          <a:p>
            <a:pPr marL="0" indent="0">
              <a:buNone/>
            </a:pPr>
            <a:r>
              <a:rPr sz="1000">
                <a:solidFill>
                  <a:srgbClr val="6B7280"/>
                </a:solidFill>
                <a:latin typeface="Calibri"/>
                <a:ea typeface="Calibri"/>
                <a:cs typeface="Calibri"/>
              </a:rPr>
              <a:t>Astravi — AI Cost Comparison</a:t>
            </a:r>
            <a:endParaRPr sz="1000"/>
          </a:p>
        </p:txBody>
      </p:sp>
      <p:sp>
        <p:nvSpPr>
          <p:cNvPr id="33" name="Text 31">
            <a:extLst>
              <a:ext uri="{FF2B5EF4-FFF2-40B4-BE49-F238E27FC236}">
                <a16:creationId xmlns:a16="http://schemas.microsoft.com/office/drawing/2014/main" id="{4BFAE2F8-41A7-48E4-BCD7-71B9A8D93014}"/>
              </a:ext>
            </a:extLst>
          </p:cNvPr>
          <p:cNvSpPr>
            <a:spLocks noGrp="1"/>
          </p:cNvSpPr>
          <p:nvPr/>
        </p:nvSpPr>
        <p:spPr>
          <a:xfrm>
            <a:off x="11365992" y="6400800"/>
            <a:ext cx="548640" cy="274320"/>
          </a:xfrm>
          <a:prstGeom prst="rect">
            <a:avLst/>
          </a:prstGeom>
          <a:noFill/>
        </p:spPr>
        <p:txBody>
          <a:bodyPr wrap="square" anchor="ctr"/>
          <a:lstStyle/>
          <a:p>
            <a:pPr marL="0" indent="0" algn="r">
              <a:buNone/>
            </a:pPr>
            <a:r>
              <a:rPr sz="1000">
                <a:solidFill>
                  <a:srgbClr val="6B7280"/>
                </a:solidFill>
                <a:latin typeface="Calibri"/>
                <a:ea typeface="Calibri"/>
                <a:cs typeface="Calibri"/>
              </a:rPr>
              <a:t>10</a:t>
            </a:r>
            <a:endParaRPr sz="1000"/>
          </a:p>
        </p:txBody>
      </p:sp>
    </p:spTree>
    <p:extLst>
      <p:ext uri="{BB962C8B-B14F-4D97-AF65-F5344CB8AC3E}">
        <p14:creationId xmlns:p14="http://schemas.microsoft.com/office/powerpoint/2010/main" val="1391611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06B027E-D1B0-45EE-B4B6-32EA8A8B63F5}"/>
              </a:ext>
            </a:extLst>
          </p:cNvPr>
          <p:cNvSpPr>
            <a:spLocks noGrp="1"/>
          </p:cNvSpPr>
          <p:nvPr/>
        </p:nvSpPr>
        <p:spPr>
          <a:xfrm>
            <a:off x="0" y="0"/>
            <a:ext cx="12188952" cy="6858000"/>
          </a:xfrm>
          <a:prstGeom prst="rect">
            <a:avLst/>
          </a:prstGeom>
          <a:solidFill>
            <a:srgbClr val="1E2761"/>
          </a:solidFill>
        </p:spPr>
        <p:txBody>
          <a:bodyPr/>
          <a:lstStyle/>
          <a:p>
            <a:endParaRPr/>
          </a:p>
        </p:txBody>
      </p:sp>
      <p:sp>
        <p:nvSpPr>
          <p:cNvPr id="3" name="Text 1">
            <a:extLst>
              <a:ext uri="{FF2B5EF4-FFF2-40B4-BE49-F238E27FC236}">
                <a16:creationId xmlns:a16="http://schemas.microsoft.com/office/drawing/2014/main" id="{94FB3CFA-D02C-41DA-82D0-ECA3629A8034}"/>
              </a:ext>
            </a:extLst>
          </p:cNvPr>
          <p:cNvSpPr>
            <a:spLocks noGrp="1"/>
          </p:cNvSpPr>
          <p:nvPr/>
        </p:nvSpPr>
        <p:spPr>
          <a:xfrm>
            <a:off x="640080" y="411480"/>
            <a:ext cx="7315200" cy="320040"/>
          </a:xfrm>
          <a:prstGeom prst="rect">
            <a:avLst/>
          </a:prstGeom>
          <a:noFill/>
        </p:spPr>
        <p:txBody>
          <a:bodyPr wrap="square" anchor="ctr"/>
          <a:lstStyle/>
          <a:p>
            <a:pPr marL="0" indent="0">
              <a:buNone/>
            </a:pPr>
            <a:r>
              <a:rPr sz="1300" b="1" spc="200">
                <a:solidFill>
                  <a:srgbClr val="E8A33D"/>
                </a:solidFill>
                <a:latin typeface="Calibri"/>
                <a:ea typeface="Calibri"/>
                <a:cs typeface="Calibri"/>
              </a:rPr>
              <a:t>RECOMMENDATION</a:t>
            </a:r>
            <a:endParaRPr sz="1300"/>
          </a:p>
        </p:txBody>
      </p:sp>
      <p:sp>
        <p:nvSpPr>
          <p:cNvPr id="4" name="Text 2">
            <a:extLst>
              <a:ext uri="{FF2B5EF4-FFF2-40B4-BE49-F238E27FC236}">
                <a16:creationId xmlns:a16="http://schemas.microsoft.com/office/drawing/2014/main" id="{5ADA9102-1B42-4767-93B2-AC4349A7DCF0}"/>
              </a:ext>
            </a:extLst>
          </p:cNvPr>
          <p:cNvSpPr>
            <a:spLocks noGrp="1"/>
          </p:cNvSpPr>
          <p:nvPr/>
        </p:nvSpPr>
        <p:spPr>
          <a:xfrm>
            <a:off x="640080" y="713232"/>
            <a:ext cx="10881360" cy="822960"/>
          </a:xfrm>
          <a:prstGeom prst="rect">
            <a:avLst/>
          </a:prstGeom>
          <a:noFill/>
        </p:spPr>
        <p:txBody>
          <a:bodyPr wrap="square" anchor="ctr"/>
          <a:lstStyle/>
          <a:p>
            <a:pPr marL="0" indent="0">
              <a:lnSpc>
                <a:spcPts val="3400"/>
              </a:lnSpc>
              <a:buNone/>
            </a:pPr>
            <a:r>
              <a:rPr sz="3000" b="1">
                <a:solidFill>
                  <a:srgbClr val="FFFFFF"/>
                </a:solidFill>
                <a:latin typeface="Cambria"/>
                <a:ea typeface="Cambria"/>
                <a:cs typeface="Cambria"/>
              </a:rPr>
              <a:t>Pilot the self-hosted path before committing capital</a:t>
            </a:r>
            <a:endParaRPr sz="3000"/>
          </a:p>
        </p:txBody>
      </p:sp>
      <p:sp>
        <p:nvSpPr>
          <p:cNvPr id="5" name="Shape 3">
            <a:extLst>
              <a:ext uri="{FF2B5EF4-FFF2-40B4-BE49-F238E27FC236}">
                <a16:creationId xmlns:a16="http://schemas.microsoft.com/office/drawing/2014/main" id="{F7060B08-519F-4943-AF80-2A78C32690EA}"/>
              </a:ext>
            </a:extLst>
          </p:cNvPr>
          <p:cNvSpPr>
            <a:spLocks noGrp="1"/>
          </p:cNvSpPr>
          <p:nvPr/>
        </p:nvSpPr>
        <p:spPr>
          <a:xfrm>
            <a:off x="640080" y="2148840"/>
            <a:ext cx="3429000" cy="2880360"/>
          </a:xfrm>
          <a:prstGeom prst="roundRect">
            <a:avLst>
              <a:gd name="adj" fmla="val 2857"/>
            </a:avLst>
          </a:prstGeom>
          <a:solidFill>
            <a:srgbClr val="141B47"/>
          </a:solidFill>
          <a:ln w="12700">
            <a:solidFill>
              <a:srgbClr val="3A4380"/>
            </a:solidFill>
            <a:prstDash val="solid"/>
          </a:ln>
        </p:spPr>
        <p:txBody>
          <a:bodyPr/>
          <a:lstStyle/>
          <a:p>
            <a:endParaRPr/>
          </a:p>
        </p:txBody>
      </p:sp>
      <p:sp>
        <p:nvSpPr>
          <p:cNvPr id="6" name="Shape 4">
            <a:extLst>
              <a:ext uri="{FF2B5EF4-FFF2-40B4-BE49-F238E27FC236}">
                <a16:creationId xmlns:a16="http://schemas.microsoft.com/office/drawing/2014/main" id="{1C452825-3E8D-44BE-BA5B-1DED60617D02}"/>
              </a:ext>
            </a:extLst>
          </p:cNvPr>
          <p:cNvSpPr>
            <a:spLocks noGrp="1"/>
          </p:cNvSpPr>
          <p:nvPr/>
        </p:nvSpPr>
        <p:spPr>
          <a:xfrm>
            <a:off x="914400" y="2423160"/>
            <a:ext cx="548640" cy="548640"/>
          </a:xfrm>
          <a:prstGeom prst="ellipse">
            <a:avLst/>
          </a:prstGeom>
          <a:solidFill>
            <a:srgbClr val="E8A33D"/>
          </a:solidFill>
        </p:spPr>
        <p:txBody>
          <a:bodyPr/>
          <a:lstStyle/>
          <a:p>
            <a:endParaRPr/>
          </a:p>
        </p:txBody>
      </p:sp>
      <p:sp>
        <p:nvSpPr>
          <p:cNvPr id="7" name="Text 5">
            <a:extLst>
              <a:ext uri="{FF2B5EF4-FFF2-40B4-BE49-F238E27FC236}">
                <a16:creationId xmlns:a16="http://schemas.microsoft.com/office/drawing/2014/main" id="{474C4CC2-2376-4F71-B5ED-CAAB42C7AFC3}"/>
              </a:ext>
            </a:extLst>
          </p:cNvPr>
          <p:cNvSpPr>
            <a:spLocks noGrp="1"/>
          </p:cNvSpPr>
          <p:nvPr/>
        </p:nvSpPr>
        <p:spPr>
          <a:xfrm>
            <a:off x="914400" y="2423160"/>
            <a:ext cx="548640" cy="548640"/>
          </a:xfrm>
          <a:prstGeom prst="rect">
            <a:avLst/>
          </a:prstGeom>
          <a:noFill/>
        </p:spPr>
        <p:txBody>
          <a:bodyPr wrap="square" anchor="ctr"/>
          <a:lstStyle/>
          <a:p>
            <a:pPr marL="0" indent="0" algn="ctr">
              <a:buNone/>
            </a:pPr>
            <a:r>
              <a:rPr sz="2200" b="1">
                <a:solidFill>
                  <a:srgbClr val="1E2761"/>
                </a:solidFill>
                <a:latin typeface="Cambria"/>
                <a:ea typeface="Cambria"/>
                <a:cs typeface="Cambria"/>
              </a:rPr>
              <a:t>1</a:t>
            </a:r>
            <a:endParaRPr sz="2200"/>
          </a:p>
        </p:txBody>
      </p:sp>
      <p:sp>
        <p:nvSpPr>
          <p:cNvPr id="8" name="Text 6">
            <a:extLst>
              <a:ext uri="{FF2B5EF4-FFF2-40B4-BE49-F238E27FC236}">
                <a16:creationId xmlns:a16="http://schemas.microsoft.com/office/drawing/2014/main" id="{3A884D62-A5F2-415E-8DC1-A5B6E6257DD4}"/>
              </a:ext>
            </a:extLst>
          </p:cNvPr>
          <p:cNvSpPr>
            <a:spLocks noGrp="1"/>
          </p:cNvSpPr>
          <p:nvPr/>
        </p:nvSpPr>
        <p:spPr>
          <a:xfrm>
            <a:off x="914400" y="3154680"/>
            <a:ext cx="2880360" cy="411480"/>
          </a:xfrm>
          <a:prstGeom prst="rect">
            <a:avLst/>
          </a:prstGeom>
          <a:noFill/>
        </p:spPr>
        <p:txBody>
          <a:bodyPr wrap="square" anchor="ctr"/>
          <a:lstStyle/>
          <a:p>
            <a:pPr marL="0" indent="0">
              <a:buNone/>
            </a:pPr>
            <a:r>
              <a:rPr sz="1600" b="1">
                <a:solidFill>
                  <a:srgbClr val="FFFFFF"/>
                </a:solidFill>
                <a:latin typeface="Cambria"/>
                <a:ea typeface="Cambria"/>
                <a:cs typeface="Cambria"/>
              </a:rPr>
              <a:t>Rent Option 2</a:t>
            </a:r>
            <a:endParaRPr sz="1600"/>
          </a:p>
        </p:txBody>
      </p:sp>
      <p:sp>
        <p:nvSpPr>
          <p:cNvPr id="9" name="Text 7">
            <a:extLst>
              <a:ext uri="{FF2B5EF4-FFF2-40B4-BE49-F238E27FC236}">
                <a16:creationId xmlns:a16="http://schemas.microsoft.com/office/drawing/2014/main" id="{1B9D0169-D1BB-4F28-A53F-5D317CF5AF23}"/>
              </a:ext>
            </a:extLst>
          </p:cNvPr>
          <p:cNvSpPr>
            <a:spLocks noGrp="1"/>
          </p:cNvSpPr>
          <p:nvPr/>
        </p:nvSpPr>
        <p:spPr>
          <a:xfrm>
            <a:off x="914400" y="3611880"/>
            <a:ext cx="2880360" cy="1280160"/>
          </a:xfrm>
          <a:prstGeom prst="rect">
            <a:avLst/>
          </a:prstGeom>
          <a:noFill/>
        </p:spPr>
        <p:txBody>
          <a:bodyPr wrap="square" anchor="ctr"/>
          <a:lstStyle/>
          <a:p>
            <a:pPr marL="0" indent="0">
              <a:lnSpc>
                <a:spcPct val="130000"/>
              </a:lnSpc>
              <a:buNone/>
            </a:pPr>
            <a:r>
              <a:rPr sz="1250">
                <a:solidFill>
                  <a:srgbClr val="CADCFC"/>
                </a:solidFill>
                <a:latin typeface="Calibri"/>
                <a:ea typeface="Calibri"/>
                <a:cs typeface="Calibri"/>
              </a:rPr>
              <a:t>Two NVIDIA L4 GPUs, for one to three months — avoids upfront purchase commitment.</a:t>
            </a:r>
            <a:endParaRPr sz="1250"/>
          </a:p>
        </p:txBody>
      </p:sp>
      <p:sp>
        <p:nvSpPr>
          <p:cNvPr id="10" name="Shape 8">
            <a:extLst>
              <a:ext uri="{FF2B5EF4-FFF2-40B4-BE49-F238E27FC236}">
                <a16:creationId xmlns:a16="http://schemas.microsoft.com/office/drawing/2014/main" id="{3BB0619C-0C1D-4F7C-A1E7-48FC173A0D3A}"/>
              </a:ext>
            </a:extLst>
          </p:cNvPr>
          <p:cNvSpPr>
            <a:spLocks noGrp="1"/>
          </p:cNvSpPr>
          <p:nvPr/>
        </p:nvSpPr>
        <p:spPr>
          <a:xfrm>
            <a:off x="4379976" y="2148840"/>
            <a:ext cx="3429000" cy="2880360"/>
          </a:xfrm>
          <a:prstGeom prst="roundRect">
            <a:avLst>
              <a:gd name="adj" fmla="val 2857"/>
            </a:avLst>
          </a:prstGeom>
          <a:solidFill>
            <a:srgbClr val="141B47"/>
          </a:solidFill>
          <a:ln w="12700">
            <a:solidFill>
              <a:srgbClr val="3A4380"/>
            </a:solidFill>
            <a:prstDash val="solid"/>
          </a:ln>
        </p:spPr>
        <p:txBody>
          <a:bodyPr/>
          <a:lstStyle/>
          <a:p>
            <a:endParaRPr/>
          </a:p>
        </p:txBody>
      </p:sp>
      <p:sp>
        <p:nvSpPr>
          <p:cNvPr id="11" name="Shape 9">
            <a:extLst>
              <a:ext uri="{FF2B5EF4-FFF2-40B4-BE49-F238E27FC236}">
                <a16:creationId xmlns:a16="http://schemas.microsoft.com/office/drawing/2014/main" id="{2B30AEC6-5C39-474E-98FE-D1E854DDE45E}"/>
              </a:ext>
            </a:extLst>
          </p:cNvPr>
          <p:cNvSpPr>
            <a:spLocks noGrp="1"/>
          </p:cNvSpPr>
          <p:nvPr/>
        </p:nvSpPr>
        <p:spPr>
          <a:xfrm>
            <a:off x="4654296" y="2423160"/>
            <a:ext cx="548640" cy="548640"/>
          </a:xfrm>
          <a:prstGeom prst="ellipse">
            <a:avLst/>
          </a:prstGeom>
          <a:solidFill>
            <a:srgbClr val="E8A33D"/>
          </a:solidFill>
        </p:spPr>
        <p:txBody>
          <a:bodyPr/>
          <a:lstStyle/>
          <a:p>
            <a:endParaRPr/>
          </a:p>
        </p:txBody>
      </p:sp>
      <p:sp>
        <p:nvSpPr>
          <p:cNvPr id="12" name="Text 10">
            <a:extLst>
              <a:ext uri="{FF2B5EF4-FFF2-40B4-BE49-F238E27FC236}">
                <a16:creationId xmlns:a16="http://schemas.microsoft.com/office/drawing/2014/main" id="{31DFF7D2-C947-47C8-B298-616700CF2B5D}"/>
              </a:ext>
            </a:extLst>
          </p:cNvPr>
          <p:cNvSpPr>
            <a:spLocks noGrp="1"/>
          </p:cNvSpPr>
          <p:nvPr/>
        </p:nvSpPr>
        <p:spPr>
          <a:xfrm>
            <a:off x="4654296" y="2423160"/>
            <a:ext cx="548640" cy="548640"/>
          </a:xfrm>
          <a:prstGeom prst="rect">
            <a:avLst/>
          </a:prstGeom>
          <a:noFill/>
        </p:spPr>
        <p:txBody>
          <a:bodyPr wrap="square" anchor="ctr"/>
          <a:lstStyle/>
          <a:p>
            <a:pPr marL="0" indent="0" algn="ctr">
              <a:buNone/>
            </a:pPr>
            <a:r>
              <a:rPr sz="2200" b="1">
                <a:solidFill>
                  <a:srgbClr val="1E2761"/>
                </a:solidFill>
                <a:latin typeface="Cambria"/>
                <a:ea typeface="Cambria"/>
                <a:cs typeface="Cambria"/>
              </a:rPr>
              <a:t>2</a:t>
            </a:r>
            <a:endParaRPr sz="2200"/>
          </a:p>
        </p:txBody>
      </p:sp>
      <p:sp>
        <p:nvSpPr>
          <p:cNvPr id="13" name="Text 11">
            <a:extLst>
              <a:ext uri="{FF2B5EF4-FFF2-40B4-BE49-F238E27FC236}">
                <a16:creationId xmlns:a16="http://schemas.microsoft.com/office/drawing/2014/main" id="{1E77D681-1E88-4E6E-85D9-3030FF88F178}"/>
              </a:ext>
            </a:extLst>
          </p:cNvPr>
          <p:cNvSpPr>
            <a:spLocks noGrp="1"/>
          </p:cNvSpPr>
          <p:nvPr/>
        </p:nvSpPr>
        <p:spPr>
          <a:xfrm>
            <a:off x="4654296" y="3154680"/>
            <a:ext cx="2880360" cy="411480"/>
          </a:xfrm>
          <a:prstGeom prst="rect">
            <a:avLst/>
          </a:prstGeom>
          <a:noFill/>
        </p:spPr>
        <p:txBody>
          <a:bodyPr wrap="square" anchor="ctr"/>
          <a:lstStyle/>
          <a:p>
            <a:pPr marL="0" indent="0">
              <a:buNone/>
            </a:pPr>
            <a:r>
              <a:rPr sz="1600" b="1">
                <a:solidFill>
                  <a:srgbClr val="FFFFFF"/>
                </a:solidFill>
                <a:latin typeface="Cambria"/>
                <a:ea typeface="Cambria"/>
                <a:cs typeface="Cambria"/>
              </a:rPr>
              <a:t>Validate under load</a:t>
            </a:r>
            <a:endParaRPr sz="1600"/>
          </a:p>
        </p:txBody>
      </p:sp>
      <p:sp>
        <p:nvSpPr>
          <p:cNvPr id="14" name="Text 12">
            <a:extLst>
              <a:ext uri="{FF2B5EF4-FFF2-40B4-BE49-F238E27FC236}">
                <a16:creationId xmlns:a16="http://schemas.microsoft.com/office/drawing/2014/main" id="{AFA4BFC6-89F8-4477-A93C-678DDF9CE7F9}"/>
              </a:ext>
            </a:extLst>
          </p:cNvPr>
          <p:cNvSpPr>
            <a:spLocks noGrp="1"/>
          </p:cNvSpPr>
          <p:nvPr/>
        </p:nvSpPr>
        <p:spPr>
          <a:xfrm>
            <a:off x="4654296" y="3611880"/>
            <a:ext cx="2880360" cy="1280160"/>
          </a:xfrm>
          <a:prstGeom prst="rect">
            <a:avLst/>
          </a:prstGeom>
          <a:noFill/>
        </p:spPr>
        <p:txBody>
          <a:bodyPr wrap="square" anchor="ctr"/>
          <a:lstStyle/>
          <a:p>
            <a:pPr marL="0" indent="0">
              <a:lnSpc>
                <a:spcPct val="130000"/>
              </a:lnSpc>
              <a:buNone/>
            </a:pPr>
            <a:r>
              <a:rPr sz="1250">
                <a:solidFill>
                  <a:srgbClr val="CADCFC"/>
                </a:solidFill>
                <a:latin typeface="Calibri"/>
                <a:ea typeface="Calibri"/>
                <a:cs typeface="Calibri"/>
              </a:rPr>
              <a:t>Run a realistic 100–200 employee load test against throughput and latency targets.</a:t>
            </a:r>
            <a:endParaRPr sz="1250"/>
          </a:p>
        </p:txBody>
      </p:sp>
      <p:sp>
        <p:nvSpPr>
          <p:cNvPr id="15" name="Shape 13">
            <a:extLst>
              <a:ext uri="{FF2B5EF4-FFF2-40B4-BE49-F238E27FC236}">
                <a16:creationId xmlns:a16="http://schemas.microsoft.com/office/drawing/2014/main" id="{A762AC64-1A17-4980-A99A-750B0867A391}"/>
              </a:ext>
            </a:extLst>
          </p:cNvPr>
          <p:cNvSpPr>
            <a:spLocks noGrp="1"/>
          </p:cNvSpPr>
          <p:nvPr/>
        </p:nvSpPr>
        <p:spPr>
          <a:xfrm>
            <a:off x="8119872" y="2148840"/>
            <a:ext cx="3429000" cy="2880360"/>
          </a:xfrm>
          <a:prstGeom prst="roundRect">
            <a:avLst>
              <a:gd name="adj" fmla="val 2857"/>
            </a:avLst>
          </a:prstGeom>
          <a:solidFill>
            <a:srgbClr val="141B47"/>
          </a:solidFill>
          <a:ln w="12700">
            <a:solidFill>
              <a:srgbClr val="3A4380"/>
            </a:solidFill>
            <a:prstDash val="solid"/>
          </a:ln>
        </p:spPr>
        <p:txBody>
          <a:bodyPr/>
          <a:lstStyle/>
          <a:p>
            <a:endParaRPr/>
          </a:p>
        </p:txBody>
      </p:sp>
      <p:sp>
        <p:nvSpPr>
          <p:cNvPr id="16" name="Shape 14">
            <a:extLst>
              <a:ext uri="{FF2B5EF4-FFF2-40B4-BE49-F238E27FC236}">
                <a16:creationId xmlns:a16="http://schemas.microsoft.com/office/drawing/2014/main" id="{D7963004-572B-4925-8124-67FE2D6313E7}"/>
              </a:ext>
            </a:extLst>
          </p:cNvPr>
          <p:cNvSpPr>
            <a:spLocks noGrp="1"/>
          </p:cNvSpPr>
          <p:nvPr/>
        </p:nvSpPr>
        <p:spPr>
          <a:xfrm>
            <a:off x="8394192" y="2423160"/>
            <a:ext cx="548640" cy="548640"/>
          </a:xfrm>
          <a:prstGeom prst="ellipse">
            <a:avLst/>
          </a:prstGeom>
          <a:solidFill>
            <a:srgbClr val="E8A33D"/>
          </a:solidFill>
        </p:spPr>
        <p:txBody>
          <a:bodyPr/>
          <a:lstStyle/>
          <a:p>
            <a:endParaRPr/>
          </a:p>
        </p:txBody>
      </p:sp>
      <p:sp>
        <p:nvSpPr>
          <p:cNvPr id="17" name="Text 15">
            <a:extLst>
              <a:ext uri="{FF2B5EF4-FFF2-40B4-BE49-F238E27FC236}">
                <a16:creationId xmlns:a16="http://schemas.microsoft.com/office/drawing/2014/main" id="{35B8C56D-DEA8-4882-8333-A75D0961E3F0}"/>
              </a:ext>
            </a:extLst>
          </p:cNvPr>
          <p:cNvSpPr>
            <a:spLocks noGrp="1"/>
          </p:cNvSpPr>
          <p:nvPr/>
        </p:nvSpPr>
        <p:spPr>
          <a:xfrm>
            <a:off x="8394192" y="2423160"/>
            <a:ext cx="548640" cy="548640"/>
          </a:xfrm>
          <a:prstGeom prst="rect">
            <a:avLst/>
          </a:prstGeom>
          <a:noFill/>
        </p:spPr>
        <p:txBody>
          <a:bodyPr wrap="square" anchor="ctr"/>
          <a:lstStyle/>
          <a:p>
            <a:pPr marL="0" indent="0" algn="ctr">
              <a:buNone/>
            </a:pPr>
            <a:r>
              <a:rPr sz="2200" b="1">
                <a:solidFill>
                  <a:srgbClr val="1E2761"/>
                </a:solidFill>
                <a:latin typeface="Cambria"/>
                <a:ea typeface="Cambria"/>
                <a:cs typeface="Cambria"/>
              </a:rPr>
              <a:t>3</a:t>
            </a:r>
            <a:endParaRPr sz="2200"/>
          </a:p>
        </p:txBody>
      </p:sp>
      <p:sp>
        <p:nvSpPr>
          <p:cNvPr id="18" name="Text 16">
            <a:extLst>
              <a:ext uri="{FF2B5EF4-FFF2-40B4-BE49-F238E27FC236}">
                <a16:creationId xmlns:a16="http://schemas.microsoft.com/office/drawing/2014/main" id="{42FDE3DD-3B25-49B7-8D34-5513574EC174}"/>
              </a:ext>
            </a:extLst>
          </p:cNvPr>
          <p:cNvSpPr>
            <a:spLocks noGrp="1"/>
          </p:cNvSpPr>
          <p:nvPr/>
        </p:nvSpPr>
        <p:spPr>
          <a:xfrm>
            <a:off x="8394192" y="3154680"/>
            <a:ext cx="2880360" cy="411480"/>
          </a:xfrm>
          <a:prstGeom prst="rect">
            <a:avLst/>
          </a:prstGeom>
          <a:noFill/>
        </p:spPr>
        <p:txBody>
          <a:bodyPr wrap="square" anchor="ctr"/>
          <a:lstStyle/>
          <a:p>
            <a:pPr marL="0" indent="0">
              <a:buNone/>
            </a:pPr>
            <a:r>
              <a:rPr sz="1600" b="1">
                <a:solidFill>
                  <a:srgbClr val="FFFFFF"/>
                </a:solidFill>
                <a:latin typeface="Cambria"/>
                <a:ea typeface="Cambria"/>
                <a:cs typeface="Cambria"/>
              </a:rPr>
              <a:t>Decide on purchase</a:t>
            </a:r>
            <a:endParaRPr sz="1600"/>
          </a:p>
        </p:txBody>
      </p:sp>
      <p:sp>
        <p:nvSpPr>
          <p:cNvPr id="19" name="Text 17">
            <a:extLst>
              <a:ext uri="{FF2B5EF4-FFF2-40B4-BE49-F238E27FC236}">
                <a16:creationId xmlns:a16="http://schemas.microsoft.com/office/drawing/2014/main" id="{6984E43F-5279-44BF-9080-CCBDB60E187F}"/>
              </a:ext>
            </a:extLst>
          </p:cNvPr>
          <p:cNvSpPr>
            <a:spLocks noGrp="1"/>
          </p:cNvSpPr>
          <p:nvPr/>
        </p:nvSpPr>
        <p:spPr>
          <a:xfrm>
            <a:off x="8394192" y="3611880"/>
            <a:ext cx="2880360" cy="1280160"/>
          </a:xfrm>
          <a:prstGeom prst="rect">
            <a:avLst/>
          </a:prstGeom>
          <a:noFill/>
        </p:spPr>
        <p:txBody>
          <a:bodyPr wrap="square" anchor="ctr"/>
          <a:lstStyle/>
          <a:p>
            <a:pPr marL="0" indent="0">
              <a:lnSpc>
                <a:spcPct val="130000"/>
              </a:lnSpc>
              <a:buNone/>
            </a:pPr>
            <a:r>
              <a:rPr sz="1250">
                <a:solidFill>
                  <a:srgbClr val="CADCFC"/>
                </a:solidFill>
                <a:latin typeface="Calibri"/>
                <a:ea typeface="Calibri"/>
                <a:cs typeface="Calibri"/>
              </a:rPr>
              <a:t>Only purchase server hardware once the pilot hits its targets.</a:t>
            </a:r>
            <a:endParaRPr sz="1250"/>
          </a:p>
        </p:txBody>
      </p:sp>
      <p:sp>
        <p:nvSpPr>
          <p:cNvPr id="20" name="Text 18">
            <a:extLst>
              <a:ext uri="{FF2B5EF4-FFF2-40B4-BE49-F238E27FC236}">
                <a16:creationId xmlns:a16="http://schemas.microsoft.com/office/drawing/2014/main" id="{E304AF68-68AC-473B-9ACC-82072C7B9B18}"/>
              </a:ext>
            </a:extLst>
          </p:cNvPr>
          <p:cNvSpPr>
            <a:spLocks noGrp="1"/>
          </p:cNvSpPr>
          <p:nvPr/>
        </p:nvSpPr>
        <p:spPr>
          <a:xfrm>
            <a:off x="640080" y="5349240"/>
            <a:ext cx="10881360" cy="548640"/>
          </a:xfrm>
          <a:prstGeom prst="rect">
            <a:avLst/>
          </a:prstGeom>
          <a:noFill/>
        </p:spPr>
        <p:txBody>
          <a:bodyPr wrap="square" anchor="ctr"/>
          <a:lstStyle/>
          <a:p>
            <a:pPr marL="0" indent="0" algn="ctr">
              <a:buNone/>
            </a:pPr>
            <a:r>
              <a:rPr sz="1200" i="1">
                <a:solidFill>
                  <a:srgbClr val="CADCFC"/>
                </a:solidFill>
                <a:latin typeface="Calibri"/>
                <a:ea typeface="Calibri"/>
                <a:cs typeface="Calibri"/>
              </a:rPr>
              <a:t>These figures are planning estimates, not fixed invoices. Screenshot volume, output length, recommendation frequency, retries, search frequency, and model settings will materially affect final cost.</a:t>
            </a:r>
            <a:endParaRPr sz="1200"/>
          </a:p>
        </p:txBody>
      </p:sp>
      <p:sp>
        <p:nvSpPr>
          <p:cNvPr id="21" name="Text 19">
            <a:extLst>
              <a:ext uri="{FF2B5EF4-FFF2-40B4-BE49-F238E27FC236}">
                <a16:creationId xmlns:a16="http://schemas.microsoft.com/office/drawing/2014/main" id="{AAC6446D-E2AA-401A-80BE-24C75656D346}"/>
              </a:ext>
            </a:extLst>
          </p:cNvPr>
          <p:cNvSpPr>
            <a:spLocks noGrp="1"/>
          </p:cNvSpPr>
          <p:nvPr/>
        </p:nvSpPr>
        <p:spPr>
          <a:xfrm>
            <a:off x="640080" y="6400800"/>
            <a:ext cx="4572000" cy="274320"/>
          </a:xfrm>
          <a:prstGeom prst="rect">
            <a:avLst/>
          </a:prstGeom>
          <a:noFill/>
        </p:spPr>
        <p:txBody>
          <a:bodyPr wrap="square" anchor="ctr"/>
          <a:lstStyle/>
          <a:p>
            <a:pPr marL="0" indent="0">
              <a:buNone/>
            </a:pPr>
            <a:r>
              <a:rPr sz="1000">
                <a:solidFill>
                  <a:srgbClr val="CADCFC"/>
                </a:solidFill>
                <a:latin typeface="Calibri"/>
                <a:ea typeface="Calibri"/>
                <a:cs typeface="Calibri"/>
              </a:rPr>
              <a:t>Astravi — AI Cost Comparison</a:t>
            </a:r>
            <a:endParaRPr sz="1000"/>
          </a:p>
        </p:txBody>
      </p:sp>
      <p:sp>
        <p:nvSpPr>
          <p:cNvPr id="22" name="Text 20">
            <a:extLst>
              <a:ext uri="{FF2B5EF4-FFF2-40B4-BE49-F238E27FC236}">
                <a16:creationId xmlns:a16="http://schemas.microsoft.com/office/drawing/2014/main" id="{EBE6E354-5AC8-4040-9539-87FC6E6D32CD}"/>
              </a:ext>
            </a:extLst>
          </p:cNvPr>
          <p:cNvSpPr>
            <a:spLocks noGrp="1"/>
          </p:cNvSpPr>
          <p:nvPr/>
        </p:nvSpPr>
        <p:spPr>
          <a:xfrm>
            <a:off x="11365992" y="6400800"/>
            <a:ext cx="548640" cy="274320"/>
          </a:xfrm>
          <a:prstGeom prst="rect">
            <a:avLst/>
          </a:prstGeom>
          <a:noFill/>
        </p:spPr>
        <p:txBody>
          <a:bodyPr wrap="square" anchor="ctr"/>
          <a:lstStyle/>
          <a:p>
            <a:pPr marL="0" indent="0" algn="r">
              <a:buNone/>
            </a:pPr>
            <a:r>
              <a:rPr sz="1000">
                <a:solidFill>
                  <a:srgbClr val="6B7280"/>
                </a:solidFill>
                <a:latin typeface="Calibri"/>
                <a:ea typeface="Calibri"/>
                <a:cs typeface="Calibri"/>
              </a:rPr>
              <a:t>11</a:t>
            </a:r>
            <a:endParaRPr sz="1000"/>
          </a:p>
        </p:txBody>
      </p:sp>
    </p:spTree>
    <p:extLst>
      <p:ext uri="{BB962C8B-B14F-4D97-AF65-F5344CB8AC3E}">
        <p14:creationId xmlns:p14="http://schemas.microsoft.com/office/powerpoint/2010/main" val="15328086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75C94DA-2911-468B-A631-90132F40EA10}"/>
              </a:ext>
            </a:extLst>
          </p:cNvPr>
          <p:cNvSpPr>
            <a:spLocks noGrp="1"/>
          </p:cNvSpPr>
          <p:nvPr/>
        </p:nvSpPr>
        <p:spPr>
          <a:xfrm>
            <a:off x="640080" y="411480"/>
            <a:ext cx="8572500" cy="320040"/>
          </a:xfrm>
          <a:prstGeom prst="rect">
            <a:avLst/>
          </a:prstGeom>
          <a:noFill/>
          <a:ln w="0">
            <a:noFill/>
          </a:ln>
        </p:spPr>
        <p:txBody>
          <a:bodyPr/>
          <a:lstStyle/>
          <a:p>
            <a:pPr>
              <a:buNone/>
              <a:defRPr sz="1800" b="1">
                <a:solidFill>
                  <a:srgbClr val="E8A33D"/>
                </a:solidFill>
                <a:latin typeface="Calibri"/>
                <a:ea typeface="Calibri"/>
                <a:cs typeface="Calibri"/>
              </a:defRPr>
            </a:pPr>
            <a:r>
              <a:rPr sz="1800" b="1">
                <a:solidFill>
                  <a:srgbClr val="E8A33D"/>
                </a:solidFill>
                <a:latin typeface="Calibri"/>
                <a:ea typeface="Calibri"/>
                <a:cs typeface="Calibri"/>
              </a:rPr>
              <a:t>AI  &amp; DEVELOPMENT HOURS</a:t>
            </a:r>
          </a:p>
        </p:txBody>
      </p:sp>
      <p:sp>
        <p:nvSpPr>
          <p:cNvPr id="2" name="Rectangle 1">
            <a:extLst>
              <a:ext uri="{FF2B5EF4-FFF2-40B4-BE49-F238E27FC236}">
                <a16:creationId xmlns:a16="http://schemas.microsoft.com/office/drawing/2014/main" id="{C7E8A780-3DFB-4427-BF70-07A3162ECE98}"/>
              </a:ext>
            </a:extLst>
          </p:cNvPr>
          <p:cNvSpPr>
            <a:spLocks noGrp="1"/>
          </p:cNvSpPr>
          <p:nvPr/>
        </p:nvSpPr>
        <p:spPr>
          <a:xfrm>
            <a:off x="640080" y="713232"/>
            <a:ext cx="10515600" cy="640080"/>
          </a:xfrm>
          <a:prstGeom prst="rect">
            <a:avLst/>
          </a:prstGeom>
          <a:noFill/>
          <a:ln w="0">
            <a:noFill/>
          </a:ln>
        </p:spPr>
        <p:txBody>
          <a:bodyPr/>
          <a:lstStyle/>
          <a:p>
            <a:r>
              <a:rPr sz="3200" b="1"/>
              <a:t>Development Effort &amp; Cost Estimation</a:t>
            </a:r>
          </a:p>
        </p:txBody>
      </p:sp>
      <p:sp>
        <p:nvSpPr>
          <p:cNvPr id="3" name="Rectangle 2">
            <a:extLst>
              <a:ext uri="{FF2B5EF4-FFF2-40B4-BE49-F238E27FC236}">
                <a16:creationId xmlns:a16="http://schemas.microsoft.com/office/drawing/2014/main" id="{287BBE71-E15F-42F8-A4CC-DD8647557A53}"/>
              </a:ext>
            </a:extLst>
          </p:cNvPr>
          <p:cNvSpPr>
            <a:spLocks noGrp="1"/>
          </p:cNvSpPr>
          <p:nvPr/>
        </p:nvSpPr>
        <p:spPr>
          <a:xfrm>
            <a:off x="640080" y="1325880"/>
            <a:ext cx="10515600" cy="320040"/>
          </a:xfrm>
          <a:prstGeom prst="rect">
            <a:avLst/>
          </a:prstGeom>
          <a:noFill/>
          <a:ln w="0">
            <a:noFill/>
          </a:ln>
        </p:spPr>
        <p:txBody>
          <a:bodyPr/>
          <a:lstStyle/>
          <a:p>
            <a:pPr>
              <a:buNone/>
              <a:defRPr sz="1300">
                <a:solidFill>
                  <a:srgbClr val="6B7280"/>
                </a:solidFill>
                <a:latin typeface="Calibri"/>
                <a:ea typeface="Calibri"/>
                <a:cs typeface="Calibri"/>
              </a:defRPr>
            </a:pPr>
            <a:r>
              <a:rPr sz="1300">
                <a:solidFill>
                  <a:srgbClr val="6B7280"/>
                </a:solidFill>
                <a:latin typeface="Calibri"/>
                <a:ea typeface="Calibri"/>
                <a:cs typeface="Calibri"/>
              </a:rPr>
              <a:t>Estimated effort for the AI and workflow implementation scope. Total estimated hours: 360.</a:t>
            </a:r>
          </a:p>
        </p:txBody>
      </p:sp>
      <p:sp>
        <p:nvSpPr>
          <p:cNvPr id="5" name="Rectangle 4">
            <a:extLst>
              <a:ext uri="{FF2B5EF4-FFF2-40B4-BE49-F238E27FC236}">
                <a16:creationId xmlns:a16="http://schemas.microsoft.com/office/drawing/2014/main" id="{D99E4CB3-9B64-4E64-9F0C-637E2FAF7885}"/>
              </a:ext>
            </a:extLst>
          </p:cNvPr>
          <p:cNvSpPr>
            <a:spLocks noGrp="1"/>
          </p:cNvSpPr>
          <p:nvPr/>
        </p:nvSpPr>
        <p:spPr>
          <a:xfrm>
            <a:off x="640080" y="6400800"/>
            <a:ext cx="4572000" cy="274320"/>
          </a:xfrm>
          <a:prstGeom prst="rect">
            <a:avLst/>
          </a:prstGeom>
          <a:noFill/>
          <a:ln w="0">
            <a:noFill/>
          </a:ln>
        </p:spPr>
        <p:txBody>
          <a:bodyPr/>
          <a:lstStyle/>
          <a:p>
            <a:pPr>
              <a:buNone/>
              <a:defRPr sz="1000">
                <a:solidFill>
                  <a:srgbClr val="6B7280"/>
                </a:solidFill>
                <a:latin typeface="Calibri"/>
                <a:ea typeface="Calibri"/>
                <a:cs typeface="Calibri"/>
              </a:defRPr>
            </a:pPr>
            <a:r>
              <a:rPr sz="1000">
                <a:solidFill>
                  <a:srgbClr val="6B7280"/>
                </a:solidFill>
                <a:latin typeface="Calibri"/>
                <a:ea typeface="Calibri"/>
                <a:cs typeface="Calibri"/>
              </a:rPr>
              <a:t>Astravi — AI Cost Comparison</a:t>
            </a:r>
          </a:p>
        </p:txBody>
      </p:sp>
      <p:sp>
        <p:nvSpPr>
          <p:cNvPr id="6" name="Rectangle 5">
            <a:extLst>
              <a:ext uri="{FF2B5EF4-FFF2-40B4-BE49-F238E27FC236}">
                <a16:creationId xmlns:a16="http://schemas.microsoft.com/office/drawing/2014/main" id="{13D0544A-93BC-4DE5-BD34-EAD358E59635}"/>
              </a:ext>
            </a:extLst>
          </p:cNvPr>
          <p:cNvSpPr>
            <a:spLocks noGrp="1"/>
          </p:cNvSpPr>
          <p:nvPr/>
        </p:nvSpPr>
        <p:spPr>
          <a:xfrm>
            <a:off x="11277600" y="6400800"/>
            <a:ext cx="548640" cy="274320"/>
          </a:xfrm>
          <a:prstGeom prst="rect">
            <a:avLst/>
          </a:prstGeom>
          <a:noFill/>
          <a:ln w="0">
            <a:noFill/>
          </a:ln>
        </p:spPr>
        <p:txBody>
          <a:bodyPr/>
          <a:lstStyle/>
          <a:p>
            <a:pPr algn="r">
              <a:buNone/>
              <a:defRPr sz="1000">
                <a:solidFill>
                  <a:srgbClr val="6B7280"/>
                </a:solidFill>
                <a:latin typeface="Calibri"/>
                <a:ea typeface="Calibri"/>
                <a:cs typeface="Calibri"/>
              </a:defRPr>
            </a:pPr>
            <a:r>
              <a:rPr sz="1000">
                <a:solidFill>
                  <a:srgbClr val="6B7280"/>
                </a:solidFill>
                <a:latin typeface="Calibri"/>
                <a:ea typeface="Calibri"/>
                <a:cs typeface="Calibri"/>
              </a:rPr>
              <a:t>12</a:t>
            </a:r>
          </a:p>
        </p:txBody>
      </p:sp>
      <p:graphicFrame>
        <p:nvGraphicFramePr>
          <p:cNvPr id="14" name="Table 7"/>
          <p:cNvGraphicFramePr/>
          <p:nvPr/>
        </p:nvGraphicFramePr>
        <p:xfrm>
          <a:off x="758952" y="1353313"/>
          <a:ext cx="10890503" cy="5085470"/>
        </p:xfrm>
        <a:graphic>
          <a:graphicData uri="http://schemas.openxmlformats.org/drawingml/2006/table">
            <a:tbl>
              <a:tblPr firstRow="1" firstCol="1" bandRow="1">
                <a:tableStyleId>{5C22544A-7EE6-4342-B048-85BDC9FD1C3A}</a:tableStyleId>
              </a:tblPr>
              <a:tblGrid>
                <a:gridCol w="1514021">
                  <a:extLst>
                    <a:ext uri="{9D8B030D-6E8A-4147-A177-3AD203B41FA5}">
                      <a16:colId xmlns:a16="http://schemas.microsoft.com/office/drawing/2014/main" val="20000"/>
                    </a:ext>
                  </a:extLst>
                </a:gridCol>
                <a:gridCol w="8650971">
                  <a:extLst>
                    <a:ext uri="{9D8B030D-6E8A-4147-A177-3AD203B41FA5}">
                      <a16:colId xmlns:a16="http://schemas.microsoft.com/office/drawing/2014/main" val="20001"/>
                    </a:ext>
                  </a:extLst>
                </a:gridCol>
                <a:gridCol w="725511">
                  <a:extLst>
                    <a:ext uri="{9D8B030D-6E8A-4147-A177-3AD203B41FA5}">
                      <a16:colId xmlns:a16="http://schemas.microsoft.com/office/drawing/2014/main" val="20002"/>
                    </a:ext>
                  </a:extLst>
                </a:gridCol>
              </a:tblGrid>
              <a:tr h="402251">
                <a:tc>
                  <a:txBody>
                    <a:bodyPr/>
                    <a:lstStyle/>
                    <a:p>
                      <a:pPr>
                        <a:lnSpc>
                          <a:spcPct val="116000"/>
                        </a:lnSpc>
                        <a:spcAft>
                          <a:spcPts val="800"/>
                        </a:spcAft>
                        <a:buNone/>
                      </a:pPr>
                      <a:r>
                        <a:rPr sz="1200"/>
                        <a:t>S. No.</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Development Area / Workstream</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Estimated Hours</a:t>
                      </a:r>
                      <a:endParaRPr sz="1400">
                        <a:latin typeface="Yu Mincho"/>
                        <a:ea typeface="Yu Mincho"/>
                        <a:cs typeface="Yu Mincho"/>
                      </a:endParaRPr>
                    </a:p>
                  </a:txBody>
                  <a:tcPr marL="42992" marR="42992" marT="0" marB="0"/>
                </a:tc>
                <a:extLst>
                  <a:ext uri="{0D108BD9-81ED-4DB2-BD59-A6C34878D82A}">
                    <a16:rowId xmlns:a16="http://schemas.microsoft.com/office/drawing/2014/main" val="10000"/>
                  </a:ext>
                </a:extLst>
              </a:tr>
              <a:tr h="208061">
                <a:tc>
                  <a:txBody>
                    <a:bodyPr/>
                    <a:lstStyle/>
                    <a:p>
                      <a:pPr>
                        <a:lnSpc>
                          <a:spcPct val="116000"/>
                        </a:lnSpc>
                        <a:spcAft>
                          <a:spcPts val="800"/>
                        </a:spcAft>
                        <a:buNone/>
                      </a:pPr>
                      <a:r>
                        <a:rPr sz="1200"/>
                        <a:t>A</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b="1">
                          <a:solidFill>
                            <a:schemeClr val="accent6">
                              <a:lumMod val="50000"/>
                            </a:schemeClr>
                          </a:solidFill>
                        </a:rPr>
                        <a:t>AI Development</a:t>
                      </a:r>
                      <a:endParaRPr sz="1400" b="1">
                        <a:solidFill>
                          <a:schemeClr val="accent6">
                            <a:lumMod val="50000"/>
                          </a:schemeClr>
                        </a:solidFill>
                        <a:latin typeface="Yu Mincho"/>
                        <a:ea typeface="Yu Mincho"/>
                        <a:cs typeface="Yu Mincho"/>
                      </a:endParaRPr>
                    </a:p>
                  </a:txBody>
                  <a:tcPr marL="42992" marR="42992" marT="0" marB="0"/>
                </a:tc>
                <a:tc>
                  <a:txBody>
                    <a:bodyPr/>
                    <a:lstStyle/>
                    <a:p>
                      <a:pPr>
                        <a:buNone/>
                      </a:pPr>
                      <a:endParaRPr sz="1400">
                        <a:latin typeface="Yu Mincho"/>
                        <a:ea typeface="Yu Mincho"/>
                        <a:cs typeface="Yu Mincho"/>
                      </a:endParaRPr>
                    </a:p>
                  </a:txBody>
                  <a:tcPr marL="42992" marR="42992" marT="0" marB="0"/>
                </a:tc>
                <a:extLst>
                  <a:ext uri="{0D108BD9-81ED-4DB2-BD59-A6C34878D82A}">
                    <a16:rowId xmlns:a16="http://schemas.microsoft.com/office/drawing/2014/main" val="10001"/>
                  </a:ext>
                </a:extLst>
              </a:tr>
              <a:tr h="195367">
                <a:tc>
                  <a:txBody>
                    <a:bodyPr/>
                    <a:lstStyle/>
                    <a:p>
                      <a:pPr>
                        <a:lnSpc>
                          <a:spcPct val="116000"/>
                        </a:lnSpc>
                        <a:spcAft>
                          <a:spcPts val="800"/>
                        </a:spcAft>
                        <a:buNone/>
                      </a:pPr>
                      <a:r>
                        <a:rPr sz="1200"/>
                        <a:t>1</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Architecture, data contracts, and implementation planning</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24</a:t>
                      </a:r>
                      <a:endParaRPr sz="1400">
                        <a:latin typeface="Yu Mincho"/>
                        <a:ea typeface="Yu Mincho"/>
                        <a:cs typeface="Yu Mincho"/>
                      </a:endParaRPr>
                    </a:p>
                  </a:txBody>
                  <a:tcPr marL="42992" marR="42992" marT="0" marB="0"/>
                </a:tc>
                <a:extLst>
                  <a:ext uri="{0D108BD9-81ED-4DB2-BD59-A6C34878D82A}">
                    <a16:rowId xmlns:a16="http://schemas.microsoft.com/office/drawing/2014/main" val="10002"/>
                  </a:ext>
                </a:extLst>
              </a:tr>
              <a:tr h="196090">
                <a:tc>
                  <a:txBody>
                    <a:bodyPr/>
                    <a:lstStyle/>
                    <a:p>
                      <a:pPr>
                        <a:lnSpc>
                          <a:spcPct val="116000"/>
                        </a:lnSpc>
                        <a:spcAft>
                          <a:spcPts val="800"/>
                        </a:spcAft>
                        <a:buNone/>
                      </a:pPr>
                      <a:r>
                        <a:rPr sz="1200"/>
                        <a:t>2</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Multi-user processing, tenant isolation, and data storage changes</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32</a:t>
                      </a:r>
                      <a:endParaRPr sz="1400">
                        <a:latin typeface="Yu Mincho"/>
                        <a:ea typeface="Yu Mincho"/>
                        <a:cs typeface="Yu Mincho"/>
                      </a:endParaRPr>
                    </a:p>
                  </a:txBody>
                  <a:tcPr marL="42992" marR="42992" marT="0" marB="0"/>
                </a:tc>
                <a:extLst>
                  <a:ext uri="{0D108BD9-81ED-4DB2-BD59-A6C34878D82A}">
                    <a16:rowId xmlns:a16="http://schemas.microsoft.com/office/drawing/2014/main" val="10003"/>
                  </a:ext>
                </a:extLst>
              </a:tr>
              <a:tr h="195367">
                <a:tc>
                  <a:txBody>
                    <a:bodyPr/>
                    <a:lstStyle/>
                    <a:p>
                      <a:pPr>
                        <a:lnSpc>
                          <a:spcPct val="116000"/>
                        </a:lnSpc>
                        <a:spcAft>
                          <a:spcPts val="800"/>
                        </a:spcAft>
                        <a:buNone/>
                      </a:pPr>
                      <a:r>
                        <a:rPr sz="1200"/>
                        <a:t>3</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Screenshot captioning pipeline refinement</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40</a:t>
                      </a:r>
                      <a:endParaRPr sz="1400">
                        <a:latin typeface="Yu Mincho"/>
                        <a:ea typeface="Yu Mincho"/>
                        <a:cs typeface="Yu Mincho"/>
                      </a:endParaRPr>
                    </a:p>
                  </a:txBody>
                  <a:tcPr marL="42992" marR="42992" marT="0" marB="0"/>
                </a:tc>
                <a:extLst>
                  <a:ext uri="{0D108BD9-81ED-4DB2-BD59-A6C34878D82A}">
                    <a16:rowId xmlns:a16="http://schemas.microsoft.com/office/drawing/2014/main" val="10004"/>
                  </a:ext>
                </a:extLst>
              </a:tr>
              <a:tr h="195367">
                <a:tc>
                  <a:txBody>
                    <a:bodyPr/>
                    <a:lstStyle/>
                    <a:p>
                      <a:pPr>
                        <a:lnSpc>
                          <a:spcPct val="116000"/>
                        </a:lnSpc>
                        <a:spcAft>
                          <a:spcPts val="800"/>
                        </a:spcAft>
                        <a:buNone/>
                      </a:pPr>
                      <a:r>
                        <a:rPr sz="1200"/>
                        <a:t>4</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Minute and two-minute semantic record processing</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30</a:t>
                      </a:r>
                      <a:endParaRPr sz="1400">
                        <a:latin typeface="Yu Mincho"/>
                        <a:ea typeface="Yu Mincho"/>
                        <a:cs typeface="Yu Mincho"/>
                      </a:endParaRPr>
                    </a:p>
                  </a:txBody>
                  <a:tcPr marL="42992" marR="42992" marT="0" marB="0"/>
                </a:tc>
                <a:extLst>
                  <a:ext uri="{0D108BD9-81ED-4DB2-BD59-A6C34878D82A}">
                    <a16:rowId xmlns:a16="http://schemas.microsoft.com/office/drawing/2014/main" val="10005"/>
                  </a:ext>
                </a:extLst>
              </a:tr>
              <a:tr h="195367">
                <a:tc>
                  <a:txBody>
                    <a:bodyPr/>
                    <a:lstStyle/>
                    <a:p>
                      <a:pPr>
                        <a:lnSpc>
                          <a:spcPct val="116000"/>
                        </a:lnSpc>
                        <a:spcAft>
                          <a:spcPts val="800"/>
                        </a:spcAft>
                        <a:buNone/>
                      </a:pPr>
                      <a:r>
                        <a:rPr sz="1200"/>
                        <a:t>5</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Hourly, daily, and weekly summary consolidation</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48</a:t>
                      </a:r>
                      <a:endParaRPr sz="1400">
                        <a:latin typeface="Yu Mincho"/>
                        <a:ea typeface="Yu Mincho"/>
                        <a:cs typeface="Yu Mincho"/>
                      </a:endParaRPr>
                    </a:p>
                  </a:txBody>
                  <a:tcPr marL="42992" marR="42992" marT="0" marB="0"/>
                </a:tc>
                <a:extLst>
                  <a:ext uri="{0D108BD9-81ED-4DB2-BD59-A6C34878D82A}">
                    <a16:rowId xmlns:a16="http://schemas.microsoft.com/office/drawing/2014/main" val="10006"/>
                  </a:ext>
                </a:extLst>
              </a:tr>
              <a:tr h="195367">
                <a:tc>
                  <a:txBody>
                    <a:bodyPr/>
                    <a:lstStyle/>
                    <a:p>
                      <a:pPr>
                        <a:lnSpc>
                          <a:spcPct val="116000"/>
                        </a:lnSpc>
                        <a:spcAft>
                          <a:spcPts val="800"/>
                        </a:spcAft>
                        <a:buNone/>
                      </a:pPr>
                      <a:r>
                        <a:rPr sz="1200"/>
                        <a:t>6</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Summary and recommendation-context buckets</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28</a:t>
                      </a:r>
                      <a:endParaRPr sz="1400">
                        <a:latin typeface="Yu Mincho"/>
                        <a:ea typeface="Yu Mincho"/>
                        <a:cs typeface="Yu Mincho"/>
                      </a:endParaRPr>
                    </a:p>
                  </a:txBody>
                  <a:tcPr marL="42992" marR="42992" marT="0" marB="0"/>
                </a:tc>
                <a:extLst>
                  <a:ext uri="{0D108BD9-81ED-4DB2-BD59-A6C34878D82A}">
                    <a16:rowId xmlns:a16="http://schemas.microsoft.com/office/drawing/2014/main" val="10007"/>
                  </a:ext>
                </a:extLst>
              </a:tr>
              <a:tr h="198978">
                <a:tc>
                  <a:txBody>
                    <a:bodyPr/>
                    <a:lstStyle/>
                    <a:p>
                      <a:pPr>
                        <a:lnSpc>
                          <a:spcPct val="116000"/>
                        </a:lnSpc>
                        <a:spcAft>
                          <a:spcPts val="800"/>
                        </a:spcAft>
                        <a:buNone/>
                      </a:pPr>
                      <a:r>
                        <a:rPr sz="1200"/>
                        <a:t>7</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Decision agent, recommendation context, and recommendation history</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34</a:t>
                      </a:r>
                      <a:endParaRPr sz="1400">
                        <a:latin typeface="Yu Mincho"/>
                        <a:ea typeface="Yu Mincho"/>
                        <a:cs typeface="Yu Mincho"/>
                      </a:endParaRPr>
                    </a:p>
                  </a:txBody>
                  <a:tcPr marL="42992" marR="42992" marT="0" marB="0"/>
                </a:tc>
                <a:extLst>
                  <a:ext uri="{0D108BD9-81ED-4DB2-BD59-A6C34878D82A}">
                    <a16:rowId xmlns:a16="http://schemas.microsoft.com/office/drawing/2014/main" val="10008"/>
                  </a:ext>
                </a:extLst>
              </a:tr>
              <a:tr h="195367">
                <a:tc>
                  <a:txBody>
                    <a:bodyPr/>
                    <a:lstStyle/>
                    <a:p>
                      <a:pPr>
                        <a:lnSpc>
                          <a:spcPct val="116000"/>
                        </a:lnSpc>
                        <a:spcAft>
                          <a:spcPts val="800"/>
                        </a:spcAft>
                        <a:buNone/>
                      </a:pPr>
                      <a:r>
                        <a:rPr sz="1200"/>
                        <a:t>8</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Brave or Tavily search-agent integration</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16</a:t>
                      </a:r>
                      <a:endParaRPr sz="1400">
                        <a:latin typeface="Yu Mincho"/>
                        <a:ea typeface="Yu Mincho"/>
                        <a:cs typeface="Yu Mincho"/>
                      </a:endParaRPr>
                    </a:p>
                  </a:txBody>
                  <a:tcPr marL="42992" marR="42992" marT="0" marB="0"/>
                </a:tc>
                <a:extLst>
                  <a:ext uri="{0D108BD9-81ED-4DB2-BD59-A6C34878D82A}">
                    <a16:rowId xmlns:a16="http://schemas.microsoft.com/office/drawing/2014/main" val="10009"/>
                  </a:ext>
                </a:extLst>
              </a:tr>
              <a:tr h="195367">
                <a:tc>
                  <a:txBody>
                    <a:bodyPr/>
                    <a:lstStyle/>
                    <a:p>
                      <a:pPr>
                        <a:lnSpc>
                          <a:spcPct val="116000"/>
                        </a:lnSpc>
                        <a:spcAft>
                          <a:spcPts val="800"/>
                        </a:spcAft>
                        <a:buNone/>
                      </a:pPr>
                      <a:r>
                        <a:rPr sz="1200"/>
                        <a:t>9</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Background jobs, queues, retries, rate limits, and concurrency</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30</a:t>
                      </a:r>
                      <a:endParaRPr sz="1400">
                        <a:latin typeface="Yu Mincho"/>
                        <a:ea typeface="Yu Mincho"/>
                        <a:cs typeface="Yu Mincho"/>
                      </a:endParaRPr>
                    </a:p>
                  </a:txBody>
                  <a:tcPr marL="42992" marR="42992" marT="0" marB="0"/>
                </a:tc>
                <a:extLst>
                  <a:ext uri="{0D108BD9-81ED-4DB2-BD59-A6C34878D82A}">
                    <a16:rowId xmlns:a16="http://schemas.microsoft.com/office/drawing/2014/main" val="10010"/>
                  </a:ext>
                </a:extLst>
              </a:tr>
              <a:tr h="195367">
                <a:tc>
                  <a:txBody>
                    <a:bodyPr/>
                    <a:lstStyle/>
                    <a:p>
                      <a:pPr>
                        <a:lnSpc>
                          <a:spcPct val="116000"/>
                        </a:lnSpc>
                        <a:spcAft>
                          <a:spcPts val="800"/>
                        </a:spcAft>
                        <a:buNone/>
                      </a:pPr>
                      <a:r>
                        <a:rPr sz="1200"/>
                        <a:t>10</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APIs and minimal integration endpoints</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22</a:t>
                      </a:r>
                      <a:endParaRPr sz="1400">
                        <a:latin typeface="Yu Mincho"/>
                        <a:ea typeface="Yu Mincho"/>
                        <a:cs typeface="Yu Mincho"/>
                      </a:endParaRPr>
                    </a:p>
                  </a:txBody>
                  <a:tcPr marL="42992" marR="42992" marT="0" marB="0"/>
                </a:tc>
                <a:extLst>
                  <a:ext uri="{0D108BD9-81ED-4DB2-BD59-A6C34878D82A}">
                    <a16:rowId xmlns:a16="http://schemas.microsoft.com/office/drawing/2014/main" val="10011"/>
                  </a:ext>
                </a:extLst>
              </a:tr>
              <a:tr h="195367">
                <a:tc>
                  <a:txBody>
                    <a:bodyPr/>
                    <a:lstStyle/>
                    <a:p>
                      <a:pPr>
                        <a:lnSpc>
                          <a:spcPct val="116000"/>
                        </a:lnSpc>
                        <a:spcAft>
                          <a:spcPts val="800"/>
                        </a:spcAft>
                        <a:buNone/>
                      </a:pPr>
                      <a:r>
                        <a:rPr sz="1200"/>
                        <a:t>11</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Privacy, security, monitoring, testing, and error handling</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36</a:t>
                      </a:r>
                      <a:endParaRPr sz="1400">
                        <a:latin typeface="Yu Mincho"/>
                        <a:ea typeface="Yu Mincho"/>
                        <a:cs typeface="Yu Mincho"/>
                      </a:endParaRPr>
                    </a:p>
                  </a:txBody>
                  <a:tcPr marL="42992" marR="42992" marT="0" marB="0"/>
                </a:tc>
                <a:extLst>
                  <a:ext uri="{0D108BD9-81ED-4DB2-BD59-A6C34878D82A}">
                    <a16:rowId xmlns:a16="http://schemas.microsoft.com/office/drawing/2014/main" val="10012"/>
                  </a:ext>
                </a:extLst>
              </a:tr>
              <a:tr h="198978">
                <a:tc>
                  <a:txBody>
                    <a:bodyPr/>
                    <a:lstStyle/>
                    <a:p>
                      <a:pPr>
                        <a:lnSpc>
                          <a:spcPct val="116000"/>
                        </a:lnSpc>
                        <a:spcAft>
                          <a:spcPts val="800"/>
                        </a:spcAft>
                        <a:buNone/>
                      </a:pPr>
                      <a:r>
                        <a:rPr sz="1200"/>
                        <a:t>12</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User acceptance testing, deployment readiness, documentation, and buffer</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20</a:t>
                      </a:r>
                      <a:endParaRPr sz="1400">
                        <a:latin typeface="Yu Mincho"/>
                        <a:ea typeface="Yu Mincho"/>
                        <a:cs typeface="Yu Mincho"/>
                      </a:endParaRPr>
                    </a:p>
                  </a:txBody>
                  <a:tcPr marL="42992" marR="42992" marT="0" marB="0"/>
                </a:tc>
                <a:extLst>
                  <a:ext uri="{0D108BD9-81ED-4DB2-BD59-A6C34878D82A}">
                    <a16:rowId xmlns:a16="http://schemas.microsoft.com/office/drawing/2014/main" val="10013"/>
                  </a:ext>
                </a:extLst>
              </a:tr>
              <a:tr h="208061">
                <a:tc>
                  <a:txBody>
                    <a:bodyPr/>
                    <a:lstStyle/>
                    <a:p>
                      <a:pPr>
                        <a:buNone/>
                      </a:pP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b="1"/>
                        <a:t>AI Development Subtotal</a:t>
                      </a:r>
                      <a:endParaRPr sz="1400" b="1">
                        <a:latin typeface="Yu Mincho"/>
                        <a:ea typeface="Yu Mincho"/>
                        <a:cs typeface="Yu Mincho"/>
                      </a:endParaRPr>
                    </a:p>
                  </a:txBody>
                  <a:tcPr marL="42992" marR="42992" marT="0" marB="0"/>
                </a:tc>
                <a:tc>
                  <a:txBody>
                    <a:bodyPr/>
                    <a:lstStyle/>
                    <a:p>
                      <a:pPr>
                        <a:lnSpc>
                          <a:spcPct val="116000"/>
                        </a:lnSpc>
                        <a:spcAft>
                          <a:spcPts val="800"/>
                        </a:spcAft>
                        <a:buNone/>
                      </a:pPr>
                      <a:r>
                        <a:rPr sz="1200" b="1"/>
                        <a:t>360</a:t>
                      </a:r>
                      <a:endParaRPr sz="1400" b="1">
                        <a:latin typeface="Yu Mincho"/>
                        <a:ea typeface="Yu Mincho"/>
                        <a:cs typeface="Yu Mincho"/>
                      </a:endParaRPr>
                    </a:p>
                  </a:txBody>
                  <a:tcPr marL="42992" marR="42992" marT="0" marB="0"/>
                </a:tc>
                <a:extLst>
                  <a:ext uri="{0D108BD9-81ED-4DB2-BD59-A6C34878D82A}">
                    <a16:rowId xmlns:a16="http://schemas.microsoft.com/office/drawing/2014/main" val="10014"/>
                  </a:ext>
                </a:extLst>
              </a:tr>
              <a:tr h="208061">
                <a:tc>
                  <a:txBody>
                    <a:bodyPr/>
                    <a:lstStyle/>
                    <a:p>
                      <a:pPr>
                        <a:lnSpc>
                          <a:spcPct val="116000"/>
                        </a:lnSpc>
                        <a:spcAft>
                          <a:spcPts val="800"/>
                        </a:spcAft>
                        <a:buNone/>
                      </a:pPr>
                      <a:r>
                        <a:rPr sz="1200"/>
                        <a:t>B</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b="1">
                          <a:solidFill>
                            <a:schemeClr val="accent6">
                              <a:lumMod val="50000"/>
                            </a:schemeClr>
                          </a:solidFill>
                        </a:rPr>
                        <a:t>Core Application Development</a:t>
                      </a:r>
                      <a:endParaRPr sz="1400" b="1">
                        <a:solidFill>
                          <a:schemeClr val="accent6">
                            <a:lumMod val="50000"/>
                          </a:schemeClr>
                        </a:solidFill>
                        <a:latin typeface="Yu Mincho"/>
                        <a:ea typeface="Yu Mincho"/>
                        <a:cs typeface="Yu Mincho"/>
                      </a:endParaRPr>
                    </a:p>
                  </a:txBody>
                  <a:tcPr marL="42992" marR="42992" marT="0" marB="0"/>
                </a:tc>
                <a:tc>
                  <a:txBody>
                    <a:bodyPr/>
                    <a:lstStyle/>
                    <a:p>
                      <a:pPr>
                        <a:buNone/>
                      </a:pPr>
                      <a:endParaRPr sz="1400">
                        <a:latin typeface="Yu Mincho"/>
                        <a:ea typeface="Yu Mincho"/>
                        <a:cs typeface="Yu Mincho"/>
                      </a:endParaRPr>
                    </a:p>
                  </a:txBody>
                  <a:tcPr marL="42992" marR="42992" marT="0" marB="0"/>
                </a:tc>
                <a:extLst>
                  <a:ext uri="{0D108BD9-81ED-4DB2-BD59-A6C34878D82A}">
                    <a16:rowId xmlns:a16="http://schemas.microsoft.com/office/drawing/2014/main" val="10015"/>
                  </a:ext>
                </a:extLst>
              </a:tr>
              <a:tr h="198978">
                <a:tc>
                  <a:txBody>
                    <a:bodyPr/>
                    <a:lstStyle/>
                    <a:p>
                      <a:pPr>
                        <a:lnSpc>
                          <a:spcPct val="116000"/>
                        </a:lnSpc>
                        <a:spcAft>
                          <a:spcPts val="800"/>
                        </a:spcAft>
                        <a:buNone/>
                      </a:pPr>
                      <a:r>
                        <a:rPr sz="1200"/>
                        <a:t>13</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Avalonia Desktop App</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134</a:t>
                      </a:r>
                      <a:endParaRPr sz="1400">
                        <a:latin typeface="Yu Mincho"/>
                        <a:ea typeface="Yu Mincho"/>
                        <a:cs typeface="Yu Mincho"/>
                      </a:endParaRPr>
                    </a:p>
                  </a:txBody>
                  <a:tcPr marL="42992" marR="42992" marT="0" marB="0"/>
                </a:tc>
                <a:extLst>
                  <a:ext uri="{0D108BD9-81ED-4DB2-BD59-A6C34878D82A}">
                    <a16:rowId xmlns:a16="http://schemas.microsoft.com/office/drawing/2014/main" val="10016"/>
                  </a:ext>
                </a:extLst>
              </a:tr>
              <a:tr h="198978">
                <a:tc>
                  <a:txBody>
                    <a:bodyPr/>
                    <a:lstStyle/>
                    <a:p>
                      <a:pPr>
                        <a:lnSpc>
                          <a:spcPct val="116000"/>
                        </a:lnSpc>
                        <a:spcAft>
                          <a:spcPts val="800"/>
                        </a:spcAft>
                        <a:buNone/>
                      </a:pPr>
                      <a:r>
                        <a:rPr sz="1200"/>
                        <a:t>14</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ASP.NET Core Web API</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100</a:t>
                      </a:r>
                      <a:endParaRPr sz="1400">
                        <a:latin typeface="Yu Mincho"/>
                        <a:ea typeface="Yu Mincho"/>
                        <a:cs typeface="Yu Mincho"/>
                      </a:endParaRPr>
                    </a:p>
                  </a:txBody>
                  <a:tcPr marL="42992" marR="42992" marT="0" marB="0"/>
                </a:tc>
                <a:extLst>
                  <a:ext uri="{0D108BD9-81ED-4DB2-BD59-A6C34878D82A}">
                    <a16:rowId xmlns:a16="http://schemas.microsoft.com/office/drawing/2014/main" val="10017"/>
                  </a:ext>
                </a:extLst>
              </a:tr>
              <a:tr h="195367">
                <a:tc>
                  <a:txBody>
                    <a:bodyPr/>
                    <a:lstStyle/>
                    <a:p>
                      <a:pPr>
                        <a:lnSpc>
                          <a:spcPct val="116000"/>
                        </a:lnSpc>
                        <a:spcAft>
                          <a:spcPts val="800"/>
                        </a:spcAft>
                        <a:buNone/>
                      </a:pPr>
                      <a:r>
                        <a:rPr sz="1200"/>
                        <a:t>15</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Angular Frontend</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70</a:t>
                      </a:r>
                      <a:endParaRPr sz="1400">
                        <a:latin typeface="Yu Mincho"/>
                        <a:ea typeface="Yu Mincho"/>
                        <a:cs typeface="Yu Mincho"/>
                      </a:endParaRPr>
                    </a:p>
                  </a:txBody>
                  <a:tcPr marL="42992" marR="42992" marT="0" marB="0"/>
                </a:tc>
                <a:extLst>
                  <a:ext uri="{0D108BD9-81ED-4DB2-BD59-A6C34878D82A}">
                    <a16:rowId xmlns:a16="http://schemas.microsoft.com/office/drawing/2014/main" val="10018"/>
                  </a:ext>
                </a:extLst>
              </a:tr>
              <a:tr h="195367">
                <a:tc>
                  <a:txBody>
                    <a:bodyPr/>
                    <a:lstStyle/>
                    <a:p>
                      <a:pPr>
                        <a:lnSpc>
                          <a:spcPct val="116000"/>
                        </a:lnSpc>
                        <a:spcAft>
                          <a:spcPts val="800"/>
                        </a:spcAft>
                        <a:buNone/>
                      </a:pPr>
                      <a:r>
                        <a:rPr sz="1200"/>
                        <a:t>16</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AI Sync &amp; Processing</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80</a:t>
                      </a:r>
                      <a:endParaRPr sz="1400">
                        <a:latin typeface="Yu Mincho"/>
                        <a:ea typeface="Yu Mincho"/>
                        <a:cs typeface="Yu Mincho"/>
                      </a:endParaRPr>
                    </a:p>
                  </a:txBody>
                  <a:tcPr marL="42992" marR="42992" marT="0" marB="0"/>
                </a:tc>
                <a:extLst>
                  <a:ext uri="{0D108BD9-81ED-4DB2-BD59-A6C34878D82A}">
                    <a16:rowId xmlns:a16="http://schemas.microsoft.com/office/drawing/2014/main" val="10019"/>
                  </a:ext>
                </a:extLst>
              </a:tr>
              <a:tr h="195367">
                <a:tc>
                  <a:txBody>
                    <a:bodyPr/>
                    <a:lstStyle/>
                    <a:p>
                      <a:pPr>
                        <a:lnSpc>
                          <a:spcPct val="116000"/>
                        </a:lnSpc>
                        <a:spcAft>
                          <a:spcPts val="800"/>
                        </a:spcAft>
                        <a:buNone/>
                      </a:pPr>
                      <a:r>
                        <a:rPr sz="1200"/>
                        <a:t>17</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Data Layer</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20</a:t>
                      </a:r>
                      <a:endParaRPr sz="1400">
                        <a:latin typeface="Yu Mincho"/>
                        <a:ea typeface="Yu Mincho"/>
                        <a:cs typeface="Yu Mincho"/>
                      </a:endParaRPr>
                    </a:p>
                  </a:txBody>
                  <a:tcPr marL="42992" marR="42992" marT="0" marB="0"/>
                </a:tc>
                <a:extLst>
                  <a:ext uri="{0D108BD9-81ED-4DB2-BD59-A6C34878D82A}">
                    <a16:rowId xmlns:a16="http://schemas.microsoft.com/office/drawing/2014/main" val="10020"/>
                  </a:ext>
                </a:extLst>
              </a:tr>
              <a:tr h="195367">
                <a:tc>
                  <a:txBody>
                    <a:bodyPr/>
                    <a:lstStyle/>
                    <a:p>
                      <a:pPr>
                        <a:lnSpc>
                          <a:spcPct val="116000"/>
                        </a:lnSpc>
                        <a:spcAft>
                          <a:spcPts val="800"/>
                        </a:spcAft>
                        <a:buNone/>
                      </a:pPr>
                      <a:r>
                        <a:rPr sz="1200"/>
                        <a:t>18</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Shared Infrastructure / Security</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10</a:t>
                      </a:r>
                      <a:endParaRPr sz="1400">
                        <a:latin typeface="Yu Mincho"/>
                        <a:ea typeface="Yu Mincho"/>
                        <a:cs typeface="Yu Mincho"/>
                      </a:endParaRPr>
                    </a:p>
                  </a:txBody>
                  <a:tcPr marL="42992" marR="42992" marT="0" marB="0"/>
                </a:tc>
                <a:extLst>
                  <a:ext uri="{0D108BD9-81ED-4DB2-BD59-A6C34878D82A}">
                    <a16:rowId xmlns:a16="http://schemas.microsoft.com/office/drawing/2014/main" val="10021"/>
                  </a:ext>
                </a:extLst>
              </a:tr>
              <a:tr h="208061">
                <a:tc>
                  <a:txBody>
                    <a:bodyPr/>
                    <a:lstStyle/>
                    <a:p>
                      <a:pPr>
                        <a:buNone/>
                      </a:pP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Core Development Subtotal</a:t>
                      </a: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a:t>414</a:t>
                      </a:r>
                      <a:endParaRPr sz="1400">
                        <a:latin typeface="Yu Mincho"/>
                        <a:ea typeface="Yu Mincho"/>
                        <a:cs typeface="Yu Mincho"/>
                      </a:endParaRPr>
                    </a:p>
                  </a:txBody>
                  <a:tcPr marL="42992" marR="42992" marT="0" marB="0"/>
                </a:tc>
                <a:extLst>
                  <a:ext uri="{0D108BD9-81ED-4DB2-BD59-A6C34878D82A}">
                    <a16:rowId xmlns:a16="http://schemas.microsoft.com/office/drawing/2014/main" val="10022"/>
                  </a:ext>
                </a:extLst>
              </a:tr>
              <a:tr h="208061">
                <a:tc>
                  <a:txBody>
                    <a:bodyPr/>
                    <a:lstStyle/>
                    <a:p>
                      <a:pPr>
                        <a:buNone/>
                      </a:pPr>
                      <a:endParaRPr sz="1400">
                        <a:latin typeface="Yu Mincho"/>
                        <a:ea typeface="Yu Mincho"/>
                        <a:cs typeface="Yu Mincho"/>
                      </a:endParaRPr>
                    </a:p>
                  </a:txBody>
                  <a:tcPr marL="42992" marR="42992" marT="0" marB="0"/>
                </a:tc>
                <a:tc>
                  <a:txBody>
                    <a:bodyPr/>
                    <a:lstStyle/>
                    <a:p>
                      <a:pPr>
                        <a:lnSpc>
                          <a:spcPct val="116000"/>
                        </a:lnSpc>
                        <a:spcAft>
                          <a:spcPts val="800"/>
                        </a:spcAft>
                        <a:buNone/>
                      </a:pPr>
                      <a:r>
                        <a:rPr sz="1200" b="1"/>
                        <a:t>Total Estimated Development Hours</a:t>
                      </a:r>
                      <a:endParaRPr sz="1400" b="1">
                        <a:latin typeface="Yu Mincho"/>
                        <a:ea typeface="Yu Mincho"/>
                        <a:cs typeface="Yu Mincho"/>
                      </a:endParaRPr>
                    </a:p>
                  </a:txBody>
                  <a:tcPr marL="42992" marR="42992" marT="0" marB="0"/>
                </a:tc>
                <a:tc>
                  <a:txBody>
                    <a:bodyPr/>
                    <a:lstStyle/>
                    <a:p>
                      <a:pPr>
                        <a:lnSpc>
                          <a:spcPct val="116000"/>
                        </a:lnSpc>
                        <a:spcAft>
                          <a:spcPts val="800"/>
                        </a:spcAft>
                        <a:buNone/>
                      </a:pPr>
                      <a:r>
                        <a:rPr sz="1200" b="1"/>
                        <a:t>774</a:t>
                      </a:r>
                      <a:endParaRPr sz="1400" b="1">
                        <a:latin typeface="Yu Mincho"/>
                        <a:ea typeface="Yu Mincho"/>
                        <a:cs typeface="Yu Mincho"/>
                      </a:endParaRPr>
                    </a:p>
                  </a:txBody>
                  <a:tcPr marL="42992" marR="42992" marT="0" marB="0"/>
                </a:tc>
                <a:extLst>
                  <a:ext uri="{0D108BD9-81ED-4DB2-BD59-A6C34878D82A}">
                    <a16:rowId xmlns:a16="http://schemas.microsoft.com/office/drawing/2014/main" val="10023"/>
                  </a:ext>
                </a:extLst>
              </a:tr>
            </a:tbl>
          </a:graphicData>
        </a:graphic>
      </p:graphicFrame>
    </p:spTree>
    <p:extLst>
      <p:ext uri="{BB962C8B-B14F-4D97-AF65-F5344CB8AC3E}">
        <p14:creationId xmlns:p14="http://schemas.microsoft.com/office/powerpoint/2010/main" val="1775441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70CF330-DEC0-4D4E-A725-4BB7AF044719}"/>
              </a:ext>
            </a:extLst>
          </p:cNvPr>
          <p:cNvSpPr>
            <a:spLocks noGrp="1"/>
          </p:cNvSpPr>
          <p:nvPr/>
        </p:nvSpPr>
        <p:spPr>
          <a:xfrm>
            <a:off x="640080" y="411480"/>
            <a:ext cx="7315200" cy="320040"/>
          </a:xfrm>
          <a:prstGeom prst="rect">
            <a:avLst/>
          </a:prstGeom>
          <a:noFill/>
        </p:spPr>
        <p:txBody>
          <a:bodyPr wrap="square" anchor="ctr"/>
          <a:lstStyle/>
          <a:p>
            <a:pPr marL="0" indent="0">
              <a:buNone/>
            </a:pPr>
            <a:r>
              <a:rPr sz="1300" b="1" spc="200">
                <a:solidFill>
                  <a:srgbClr val="E8A33D"/>
                </a:solidFill>
                <a:latin typeface="Calibri"/>
                <a:ea typeface="Calibri"/>
                <a:cs typeface="Calibri"/>
              </a:rPr>
              <a:t>INFRASTRUCTURE</a:t>
            </a:r>
            <a:endParaRPr sz="1300"/>
          </a:p>
        </p:txBody>
      </p:sp>
      <p:sp>
        <p:nvSpPr>
          <p:cNvPr id="3" name="Text 1">
            <a:extLst>
              <a:ext uri="{FF2B5EF4-FFF2-40B4-BE49-F238E27FC236}">
                <a16:creationId xmlns:a16="http://schemas.microsoft.com/office/drawing/2014/main" id="{43A91C02-5646-40DF-AFBF-F77834D3ED78}"/>
              </a:ext>
            </a:extLst>
          </p:cNvPr>
          <p:cNvSpPr>
            <a:spLocks noGrp="1"/>
          </p:cNvSpPr>
          <p:nvPr/>
        </p:nvSpPr>
        <p:spPr>
          <a:xfrm>
            <a:off x="640080" y="713232"/>
            <a:ext cx="10515600" cy="822960"/>
          </a:xfrm>
          <a:prstGeom prst="rect">
            <a:avLst/>
          </a:prstGeom>
          <a:noFill/>
        </p:spPr>
        <p:txBody>
          <a:bodyPr wrap="square" anchor="ctr"/>
          <a:lstStyle/>
          <a:p>
            <a:pPr marL="0" indent="0">
              <a:lnSpc>
                <a:spcPts val="3400"/>
              </a:lnSpc>
              <a:buNone/>
            </a:pPr>
            <a:r>
              <a:rPr sz="3000" b="1">
                <a:solidFill>
                  <a:srgbClr val="1E2761"/>
                </a:solidFill>
                <a:latin typeface="Cambria"/>
                <a:ea typeface="Cambria"/>
                <a:cs typeface="Cambria"/>
              </a:rPr>
              <a:t>Recommended three-tier architecture</a:t>
            </a:r>
            <a:endParaRPr sz="3000"/>
          </a:p>
        </p:txBody>
      </p:sp>
      <p:sp>
        <p:nvSpPr>
          <p:cNvPr id="4" name="Text 2">
            <a:extLst>
              <a:ext uri="{FF2B5EF4-FFF2-40B4-BE49-F238E27FC236}">
                <a16:creationId xmlns:a16="http://schemas.microsoft.com/office/drawing/2014/main" id="{8624B32C-8AD1-4B38-81B9-5EB0E5CC62DE}"/>
              </a:ext>
            </a:extLst>
          </p:cNvPr>
          <p:cNvSpPr>
            <a:spLocks noGrp="1"/>
          </p:cNvSpPr>
          <p:nvPr/>
        </p:nvSpPr>
        <p:spPr>
          <a:xfrm>
            <a:off x="640080" y="1417320"/>
            <a:ext cx="10332720" cy="685800"/>
          </a:xfrm>
          <a:prstGeom prst="rect">
            <a:avLst/>
          </a:prstGeom>
          <a:noFill/>
        </p:spPr>
        <p:txBody>
          <a:bodyPr wrap="square" anchor="ctr"/>
          <a:lstStyle/>
          <a:p>
            <a:pPr marL="0" indent="0">
              <a:lnSpc>
                <a:spcPct val="125000"/>
              </a:lnSpc>
              <a:buNone/>
            </a:pPr>
            <a:r>
              <a:rPr sz="1250">
                <a:solidFill>
                  <a:srgbClr val="6B7280"/>
                </a:solidFill>
                <a:latin typeface="Calibri"/>
                <a:ea typeface="Calibri"/>
                <a:cs typeface="Calibri"/>
              </a:rPr>
              <a:t>A dedicated Application Server and Database Server, backed by a message queue and background worker for AI processing. Smaller pilots may consolidate the app server and worker onto one host, keeping the database separate.</a:t>
            </a:r>
            <a:endParaRPr sz="1250"/>
          </a:p>
        </p:txBody>
      </p:sp>
      <p:sp>
        <p:nvSpPr>
          <p:cNvPr id="5" name="Shape 3">
            <a:extLst>
              <a:ext uri="{FF2B5EF4-FFF2-40B4-BE49-F238E27FC236}">
                <a16:creationId xmlns:a16="http://schemas.microsoft.com/office/drawing/2014/main" id="{7C57AEC2-397D-482F-88A2-5032D9CD9ADE}"/>
              </a:ext>
            </a:extLst>
          </p:cNvPr>
          <p:cNvSpPr>
            <a:spLocks noGrp="1"/>
          </p:cNvSpPr>
          <p:nvPr/>
        </p:nvSpPr>
        <p:spPr>
          <a:xfrm>
            <a:off x="640080" y="2423160"/>
            <a:ext cx="3429000" cy="2286000"/>
          </a:xfrm>
          <a:prstGeom prst="roundRect">
            <a:avLst>
              <a:gd name="adj" fmla="val 3600"/>
            </a:avLst>
          </a:prstGeom>
          <a:solidFill>
            <a:srgbClr val="F4F7FC"/>
          </a:solidFill>
          <a:ln w="12700">
            <a:solidFill>
              <a:srgbClr val="DCE3F0"/>
            </a:solidFill>
            <a:prstDash val="solid"/>
          </a:ln>
        </p:spPr>
        <p:txBody>
          <a:bodyPr/>
          <a:lstStyle/>
          <a:p>
            <a:endParaRPr/>
          </a:p>
        </p:txBody>
      </p:sp>
      <p:sp>
        <p:nvSpPr>
          <p:cNvPr id="6" name="Shape 4">
            <a:extLst>
              <a:ext uri="{FF2B5EF4-FFF2-40B4-BE49-F238E27FC236}">
                <a16:creationId xmlns:a16="http://schemas.microsoft.com/office/drawing/2014/main" id="{C464E259-F8C8-42FF-A486-C4E758E799E9}"/>
              </a:ext>
            </a:extLst>
          </p:cNvPr>
          <p:cNvSpPr>
            <a:spLocks noGrp="1"/>
          </p:cNvSpPr>
          <p:nvPr/>
        </p:nvSpPr>
        <p:spPr>
          <a:xfrm>
            <a:off x="896112" y="2679192"/>
            <a:ext cx="457200" cy="457200"/>
          </a:xfrm>
          <a:prstGeom prst="ellipse">
            <a:avLst/>
          </a:prstGeom>
          <a:solidFill>
            <a:srgbClr val="1E2761"/>
          </a:solidFill>
        </p:spPr>
        <p:txBody>
          <a:bodyPr/>
          <a:lstStyle/>
          <a:p>
            <a:endParaRPr/>
          </a:p>
        </p:txBody>
      </p:sp>
      <p:sp>
        <p:nvSpPr>
          <p:cNvPr id="7" name="Text 5">
            <a:extLst>
              <a:ext uri="{FF2B5EF4-FFF2-40B4-BE49-F238E27FC236}">
                <a16:creationId xmlns:a16="http://schemas.microsoft.com/office/drawing/2014/main" id="{D3B45381-953F-4EFD-9FB2-03AE5E4309E4}"/>
              </a:ext>
            </a:extLst>
          </p:cNvPr>
          <p:cNvSpPr>
            <a:spLocks noGrp="1"/>
          </p:cNvSpPr>
          <p:nvPr/>
        </p:nvSpPr>
        <p:spPr>
          <a:xfrm>
            <a:off x="896112" y="2679192"/>
            <a:ext cx="457200" cy="457200"/>
          </a:xfrm>
          <a:prstGeom prst="rect">
            <a:avLst/>
          </a:prstGeom>
          <a:noFill/>
        </p:spPr>
        <p:txBody>
          <a:bodyPr wrap="square" anchor="ctr"/>
          <a:lstStyle/>
          <a:p>
            <a:pPr marL="0" indent="0" algn="ctr">
              <a:buNone/>
            </a:pPr>
            <a:r>
              <a:rPr sz="1600" b="1">
                <a:solidFill>
                  <a:srgbClr val="FFFFFF"/>
                </a:solidFill>
                <a:latin typeface="Cambria"/>
                <a:ea typeface="Cambria"/>
                <a:cs typeface="Cambria"/>
              </a:rPr>
              <a:t>1</a:t>
            </a:r>
            <a:endParaRPr sz="1600"/>
          </a:p>
        </p:txBody>
      </p:sp>
      <p:sp>
        <p:nvSpPr>
          <p:cNvPr id="8" name="Text 6">
            <a:extLst>
              <a:ext uri="{FF2B5EF4-FFF2-40B4-BE49-F238E27FC236}">
                <a16:creationId xmlns:a16="http://schemas.microsoft.com/office/drawing/2014/main" id="{43EB6BB2-4C60-4E14-909D-42310B600E76}"/>
              </a:ext>
            </a:extLst>
          </p:cNvPr>
          <p:cNvSpPr>
            <a:spLocks noGrp="1"/>
          </p:cNvSpPr>
          <p:nvPr/>
        </p:nvSpPr>
        <p:spPr>
          <a:xfrm>
            <a:off x="896112" y="3291840"/>
            <a:ext cx="2916936" cy="365760"/>
          </a:xfrm>
          <a:prstGeom prst="rect">
            <a:avLst/>
          </a:prstGeom>
          <a:noFill/>
        </p:spPr>
        <p:txBody>
          <a:bodyPr wrap="square" anchor="ctr"/>
          <a:lstStyle/>
          <a:p>
            <a:pPr marL="0" indent="0">
              <a:buNone/>
            </a:pPr>
            <a:r>
              <a:rPr sz="1450" b="1">
                <a:solidFill>
                  <a:srgbClr val="1E2761"/>
                </a:solidFill>
                <a:latin typeface="Cambria"/>
                <a:ea typeface="Cambria"/>
                <a:cs typeface="Cambria"/>
              </a:rPr>
              <a:t>Application Server</a:t>
            </a:r>
            <a:endParaRPr sz="1450"/>
          </a:p>
        </p:txBody>
      </p:sp>
      <p:sp>
        <p:nvSpPr>
          <p:cNvPr id="9" name="Text 7">
            <a:extLst>
              <a:ext uri="{FF2B5EF4-FFF2-40B4-BE49-F238E27FC236}">
                <a16:creationId xmlns:a16="http://schemas.microsoft.com/office/drawing/2014/main" id="{7AE14EA8-6BF0-4D7B-8D60-90E4C8019130}"/>
              </a:ext>
            </a:extLst>
          </p:cNvPr>
          <p:cNvSpPr>
            <a:spLocks noGrp="1"/>
          </p:cNvSpPr>
          <p:nvPr/>
        </p:nvSpPr>
        <p:spPr>
          <a:xfrm>
            <a:off x="896112" y="3657600"/>
            <a:ext cx="2916936" cy="685800"/>
          </a:xfrm>
          <a:prstGeom prst="rect">
            <a:avLst/>
          </a:prstGeom>
          <a:noFill/>
        </p:spPr>
        <p:txBody>
          <a:bodyPr wrap="square" lIns="91440" tIns="45720" rIns="91440" bIns="45720" anchor="ctr"/>
          <a:lstStyle/>
          <a:p>
            <a:pPr>
              <a:lnSpc>
                <a:spcPct val="120000"/>
              </a:lnSpc>
              <a:buNone/>
            </a:pPr>
            <a:r>
              <a:rPr sz="1100">
                <a:solidFill>
                  <a:srgbClr val="2B2E43"/>
                </a:solidFill>
                <a:latin typeface="Calibri"/>
                <a:ea typeface="Calibri"/>
                <a:cs typeface="Calibri"/>
              </a:rPr>
              <a:t>ASP.NET Core Web API +  Background Processing</a:t>
            </a:r>
            <a:endParaRPr sz="1100"/>
          </a:p>
        </p:txBody>
      </p:sp>
      <p:sp>
        <p:nvSpPr>
          <p:cNvPr id="10" name="Text 8">
            <a:extLst>
              <a:ext uri="{FF2B5EF4-FFF2-40B4-BE49-F238E27FC236}">
                <a16:creationId xmlns:a16="http://schemas.microsoft.com/office/drawing/2014/main" id="{0C7C137F-C50B-4792-9AFD-FC132473A80B}"/>
              </a:ext>
            </a:extLst>
          </p:cNvPr>
          <p:cNvSpPr>
            <a:spLocks noGrp="1"/>
          </p:cNvSpPr>
          <p:nvPr/>
        </p:nvSpPr>
        <p:spPr>
          <a:xfrm>
            <a:off x="896112" y="4297680"/>
            <a:ext cx="2916936" cy="320040"/>
          </a:xfrm>
          <a:prstGeom prst="rect">
            <a:avLst/>
          </a:prstGeom>
          <a:noFill/>
        </p:spPr>
        <p:txBody>
          <a:bodyPr wrap="square" anchor="ctr"/>
          <a:lstStyle/>
          <a:p>
            <a:pPr marL="0" indent="0">
              <a:buNone/>
            </a:pPr>
            <a:r>
              <a:rPr sz="1000" i="1">
                <a:solidFill>
                  <a:srgbClr val="6B7280"/>
                </a:solidFill>
                <a:latin typeface="Calibri"/>
                <a:ea typeface="Calibri"/>
                <a:cs typeface="Calibri"/>
              </a:rPr>
              <a:t>IIS, .NET 8+, 4 vCPU / 8GB min.</a:t>
            </a:r>
            <a:endParaRPr sz="1000"/>
          </a:p>
        </p:txBody>
      </p:sp>
      <p:sp>
        <p:nvSpPr>
          <p:cNvPr id="11" name="Shape 9">
            <a:extLst>
              <a:ext uri="{FF2B5EF4-FFF2-40B4-BE49-F238E27FC236}">
                <a16:creationId xmlns:a16="http://schemas.microsoft.com/office/drawing/2014/main" id="{F3BCA231-B435-4A04-AB81-A0942752AA8C}"/>
              </a:ext>
            </a:extLst>
          </p:cNvPr>
          <p:cNvSpPr>
            <a:spLocks noGrp="1"/>
          </p:cNvSpPr>
          <p:nvPr/>
        </p:nvSpPr>
        <p:spPr>
          <a:xfrm>
            <a:off x="4379976" y="2423160"/>
            <a:ext cx="3429000" cy="2286000"/>
          </a:xfrm>
          <a:prstGeom prst="roundRect">
            <a:avLst>
              <a:gd name="adj" fmla="val 3600"/>
            </a:avLst>
          </a:prstGeom>
          <a:solidFill>
            <a:srgbClr val="F4F7FC"/>
          </a:solidFill>
          <a:ln w="12700">
            <a:solidFill>
              <a:srgbClr val="DCE3F0"/>
            </a:solidFill>
            <a:prstDash val="solid"/>
          </a:ln>
        </p:spPr>
        <p:txBody>
          <a:bodyPr/>
          <a:lstStyle/>
          <a:p>
            <a:endParaRPr/>
          </a:p>
        </p:txBody>
      </p:sp>
      <p:sp>
        <p:nvSpPr>
          <p:cNvPr id="12" name="Shape 10">
            <a:extLst>
              <a:ext uri="{FF2B5EF4-FFF2-40B4-BE49-F238E27FC236}">
                <a16:creationId xmlns:a16="http://schemas.microsoft.com/office/drawing/2014/main" id="{9265B4A7-5A42-4935-A7F4-7D49D28A7021}"/>
              </a:ext>
            </a:extLst>
          </p:cNvPr>
          <p:cNvSpPr>
            <a:spLocks noGrp="1"/>
          </p:cNvSpPr>
          <p:nvPr/>
        </p:nvSpPr>
        <p:spPr>
          <a:xfrm>
            <a:off x="4636008" y="2679192"/>
            <a:ext cx="457200" cy="457200"/>
          </a:xfrm>
          <a:prstGeom prst="ellipse">
            <a:avLst/>
          </a:prstGeom>
          <a:solidFill>
            <a:srgbClr val="1E2761"/>
          </a:solidFill>
        </p:spPr>
        <p:txBody>
          <a:bodyPr/>
          <a:lstStyle/>
          <a:p>
            <a:endParaRPr/>
          </a:p>
        </p:txBody>
      </p:sp>
      <p:sp>
        <p:nvSpPr>
          <p:cNvPr id="13" name="Text 11">
            <a:extLst>
              <a:ext uri="{FF2B5EF4-FFF2-40B4-BE49-F238E27FC236}">
                <a16:creationId xmlns:a16="http://schemas.microsoft.com/office/drawing/2014/main" id="{92F60124-3E4F-48F2-94BD-EB72D4722BEC}"/>
              </a:ext>
            </a:extLst>
          </p:cNvPr>
          <p:cNvSpPr>
            <a:spLocks noGrp="1"/>
          </p:cNvSpPr>
          <p:nvPr/>
        </p:nvSpPr>
        <p:spPr>
          <a:xfrm>
            <a:off x="4636008" y="2679192"/>
            <a:ext cx="457200" cy="457200"/>
          </a:xfrm>
          <a:prstGeom prst="rect">
            <a:avLst/>
          </a:prstGeom>
          <a:noFill/>
        </p:spPr>
        <p:txBody>
          <a:bodyPr wrap="square" anchor="ctr"/>
          <a:lstStyle/>
          <a:p>
            <a:pPr marL="0" indent="0" algn="ctr">
              <a:buNone/>
            </a:pPr>
            <a:r>
              <a:rPr sz="1600" b="1">
                <a:solidFill>
                  <a:srgbClr val="FFFFFF"/>
                </a:solidFill>
                <a:latin typeface="Cambria"/>
                <a:ea typeface="Cambria"/>
                <a:cs typeface="Cambria"/>
              </a:rPr>
              <a:t>2</a:t>
            </a:r>
            <a:endParaRPr sz="1600"/>
          </a:p>
        </p:txBody>
      </p:sp>
      <p:sp>
        <p:nvSpPr>
          <p:cNvPr id="14" name="Text 12">
            <a:extLst>
              <a:ext uri="{FF2B5EF4-FFF2-40B4-BE49-F238E27FC236}">
                <a16:creationId xmlns:a16="http://schemas.microsoft.com/office/drawing/2014/main" id="{DE15C916-51B8-434C-BA59-65D9D3268AF7}"/>
              </a:ext>
            </a:extLst>
          </p:cNvPr>
          <p:cNvSpPr>
            <a:spLocks noGrp="1"/>
          </p:cNvSpPr>
          <p:nvPr/>
        </p:nvSpPr>
        <p:spPr>
          <a:xfrm>
            <a:off x="4636008" y="3291840"/>
            <a:ext cx="2916936" cy="365760"/>
          </a:xfrm>
          <a:prstGeom prst="rect">
            <a:avLst/>
          </a:prstGeom>
          <a:noFill/>
        </p:spPr>
        <p:txBody>
          <a:bodyPr wrap="square" anchor="ctr"/>
          <a:lstStyle/>
          <a:p>
            <a:pPr marL="0" indent="0">
              <a:buNone/>
            </a:pPr>
            <a:r>
              <a:rPr sz="1450" b="1">
                <a:solidFill>
                  <a:srgbClr val="1E2761"/>
                </a:solidFill>
                <a:latin typeface="Cambria"/>
                <a:ea typeface="Cambria"/>
                <a:cs typeface="Cambria"/>
              </a:rPr>
              <a:t>Database Server</a:t>
            </a:r>
            <a:endParaRPr sz="1450"/>
          </a:p>
        </p:txBody>
      </p:sp>
      <p:sp>
        <p:nvSpPr>
          <p:cNvPr id="15" name="Text 13">
            <a:extLst>
              <a:ext uri="{FF2B5EF4-FFF2-40B4-BE49-F238E27FC236}">
                <a16:creationId xmlns:a16="http://schemas.microsoft.com/office/drawing/2014/main" id="{B6891173-4491-4322-8D2D-660DABFF7889}"/>
              </a:ext>
            </a:extLst>
          </p:cNvPr>
          <p:cNvSpPr>
            <a:spLocks noGrp="1"/>
          </p:cNvSpPr>
          <p:nvPr/>
        </p:nvSpPr>
        <p:spPr>
          <a:xfrm>
            <a:off x="4636008" y="3657600"/>
            <a:ext cx="2916936" cy="685800"/>
          </a:xfrm>
          <a:prstGeom prst="rect">
            <a:avLst/>
          </a:prstGeom>
          <a:noFill/>
        </p:spPr>
        <p:txBody>
          <a:bodyPr wrap="square" anchor="ctr"/>
          <a:lstStyle/>
          <a:p>
            <a:pPr marL="0" indent="0">
              <a:lnSpc>
                <a:spcPct val="120000"/>
              </a:lnSpc>
              <a:buNone/>
            </a:pPr>
            <a:r>
              <a:rPr sz="1100">
                <a:solidFill>
                  <a:srgbClr val="2B2E43"/>
                </a:solidFill>
                <a:latin typeface="Calibri"/>
                <a:ea typeface="Calibri"/>
                <a:cs typeface="Calibri"/>
              </a:rPr>
              <a:t>PostgreSQL, isolated from app server</a:t>
            </a:r>
            <a:endParaRPr sz="1100"/>
          </a:p>
        </p:txBody>
      </p:sp>
      <p:sp>
        <p:nvSpPr>
          <p:cNvPr id="16" name="Text 14">
            <a:extLst>
              <a:ext uri="{FF2B5EF4-FFF2-40B4-BE49-F238E27FC236}">
                <a16:creationId xmlns:a16="http://schemas.microsoft.com/office/drawing/2014/main" id="{54B775B0-C93F-4B10-B155-5FDC99AE8137}"/>
              </a:ext>
            </a:extLst>
          </p:cNvPr>
          <p:cNvSpPr>
            <a:spLocks noGrp="1"/>
          </p:cNvSpPr>
          <p:nvPr/>
        </p:nvSpPr>
        <p:spPr>
          <a:xfrm>
            <a:off x="4636008" y="4297680"/>
            <a:ext cx="2916936" cy="320040"/>
          </a:xfrm>
          <a:prstGeom prst="rect">
            <a:avLst/>
          </a:prstGeom>
          <a:noFill/>
        </p:spPr>
        <p:txBody>
          <a:bodyPr wrap="square" anchor="ctr"/>
          <a:lstStyle/>
          <a:p>
            <a:pPr marL="0" indent="0">
              <a:buNone/>
            </a:pPr>
            <a:r>
              <a:rPr sz="1000" i="1">
                <a:solidFill>
                  <a:srgbClr val="6B7280"/>
                </a:solidFill>
                <a:latin typeface="Calibri"/>
                <a:ea typeface="Calibri"/>
                <a:cs typeface="Calibri"/>
              </a:rPr>
              <a:t>4 vCPU / 8GB min., SSD</a:t>
            </a:r>
            <a:endParaRPr sz="1000"/>
          </a:p>
        </p:txBody>
      </p:sp>
      <p:sp>
        <p:nvSpPr>
          <p:cNvPr id="17" name="Shape 15">
            <a:extLst>
              <a:ext uri="{FF2B5EF4-FFF2-40B4-BE49-F238E27FC236}">
                <a16:creationId xmlns:a16="http://schemas.microsoft.com/office/drawing/2014/main" id="{A941E2D9-2172-4444-8536-6607B5889A80}"/>
              </a:ext>
            </a:extLst>
          </p:cNvPr>
          <p:cNvSpPr>
            <a:spLocks noGrp="1"/>
          </p:cNvSpPr>
          <p:nvPr/>
        </p:nvSpPr>
        <p:spPr>
          <a:xfrm>
            <a:off x="8119872" y="2423160"/>
            <a:ext cx="3429000" cy="2286000"/>
          </a:xfrm>
          <a:prstGeom prst="roundRect">
            <a:avLst>
              <a:gd name="adj" fmla="val 3600"/>
            </a:avLst>
          </a:prstGeom>
          <a:solidFill>
            <a:srgbClr val="F4F7FC"/>
          </a:solidFill>
          <a:ln w="12700">
            <a:solidFill>
              <a:srgbClr val="DCE3F0"/>
            </a:solidFill>
            <a:prstDash val="solid"/>
          </a:ln>
        </p:spPr>
        <p:txBody>
          <a:bodyPr/>
          <a:lstStyle/>
          <a:p>
            <a:endParaRPr/>
          </a:p>
        </p:txBody>
      </p:sp>
      <p:sp>
        <p:nvSpPr>
          <p:cNvPr id="18" name="Shape 16">
            <a:extLst>
              <a:ext uri="{FF2B5EF4-FFF2-40B4-BE49-F238E27FC236}">
                <a16:creationId xmlns:a16="http://schemas.microsoft.com/office/drawing/2014/main" id="{6D5C3513-EC1E-4D4A-A6DF-61800C47E492}"/>
              </a:ext>
            </a:extLst>
          </p:cNvPr>
          <p:cNvSpPr>
            <a:spLocks noGrp="1"/>
          </p:cNvSpPr>
          <p:nvPr/>
        </p:nvSpPr>
        <p:spPr>
          <a:xfrm>
            <a:off x="8375904" y="2679192"/>
            <a:ext cx="457200" cy="457200"/>
          </a:xfrm>
          <a:prstGeom prst="ellipse">
            <a:avLst/>
          </a:prstGeom>
          <a:solidFill>
            <a:srgbClr val="1E2761"/>
          </a:solidFill>
        </p:spPr>
        <p:txBody>
          <a:bodyPr/>
          <a:lstStyle/>
          <a:p>
            <a:endParaRPr/>
          </a:p>
        </p:txBody>
      </p:sp>
      <p:sp>
        <p:nvSpPr>
          <p:cNvPr id="19" name="Text 17">
            <a:extLst>
              <a:ext uri="{FF2B5EF4-FFF2-40B4-BE49-F238E27FC236}">
                <a16:creationId xmlns:a16="http://schemas.microsoft.com/office/drawing/2014/main" id="{00FFC128-9ADA-4533-9AD1-48DF20C9F086}"/>
              </a:ext>
            </a:extLst>
          </p:cNvPr>
          <p:cNvSpPr>
            <a:spLocks noGrp="1"/>
          </p:cNvSpPr>
          <p:nvPr/>
        </p:nvSpPr>
        <p:spPr>
          <a:xfrm>
            <a:off x="8375904" y="2679192"/>
            <a:ext cx="457200" cy="457200"/>
          </a:xfrm>
          <a:prstGeom prst="rect">
            <a:avLst/>
          </a:prstGeom>
          <a:noFill/>
        </p:spPr>
        <p:txBody>
          <a:bodyPr wrap="square" anchor="ctr"/>
          <a:lstStyle/>
          <a:p>
            <a:pPr marL="0" indent="0" algn="ctr">
              <a:buNone/>
            </a:pPr>
            <a:r>
              <a:rPr sz="1600" b="1">
                <a:solidFill>
                  <a:srgbClr val="FFFFFF"/>
                </a:solidFill>
                <a:latin typeface="Cambria"/>
                <a:ea typeface="Cambria"/>
                <a:cs typeface="Cambria"/>
              </a:rPr>
              <a:t>3</a:t>
            </a:r>
            <a:endParaRPr sz="1600"/>
          </a:p>
        </p:txBody>
      </p:sp>
      <p:sp>
        <p:nvSpPr>
          <p:cNvPr id="20" name="Text 18">
            <a:extLst>
              <a:ext uri="{FF2B5EF4-FFF2-40B4-BE49-F238E27FC236}">
                <a16:creationId xmlns:a16="http://schemas.microsoft.com/office/drawing/2014/main" id="{2B73FF4C-E859-4C0C-871D-95E15CB25C27}"/>
              </a:ext>
            </a:extLst>
          </p:cNvPr>
          <p:cNvSpPr>
            <a:spLocks noGrp="1"/>
          </p:cNvSpPr>
          <p:nvPr/>
        </p:nvSpPr>
        <p:spPr>
          <a:xfrm>
            <a:off x="8375904" y="3291840"/>
            <a:ext cx="2916936" cy="365760"/>
          </a:xfrm>
          <a:prstGeom prst="rect">
            <a:avLst/>
          </a:prstGeom>
          <a:noFill/>
        </p:spPr>
        <p:txBody>
          <a:bodyPr wrap="square" anchor="ctr"/>
          <a:lstStyle/>
          <a:p>
            <a:pPr marL="0" indent="0">
              <a:buNone/>
            </a:pPr>
            <a:r>
              <a:rPr sz="1450" b="1">
                <a:solidFill>
                  <a:srgbClr val="1E2761"/>
                </a:solidFill>
                <a:latin typeface="Cambria"/>
                <a:ea typeface="Cambria"/>
                <a:cs typeface="Cambria"/>
              </a:rPr>
              <a:t>Web / Client Hosting</a:t>
            </a:r>
            <a:endParaRPr sz="1450"/>
          </a:p>
        </p:txBody>
      </p:sp>
      <p:sp>
        <p:nvSpPr>
          <p:cNvPr id="21" name="Text 19">
            <a:extLst>
              <a:ext uri="{FF2B5EF4-FFF2-40B4-BE49-F238E27FC236}">
                <a16:creationId xmlns:a16="http://schemas.microsoft.com/office/drawing/2014/main" id="{C00A3974-A3E6-4A44-A6F3-0F889F98F3C0}"/>
              </a:ext>
            </a:extLst>
          </p:cNvPr>
          <p:cNvSpPr>
            <a:spLocks noGrp="1"/>
          </p:cNvSpPr>
          <p:nvPr/>
        </p:nvSpPr>
        <p:spPr>
          <a:xfrm>
            <a:off x="8375904" y="3657600"/>
            <a:ext cx="2916936" cy="685800"/>
          </a:xfrm>
          <a:prstGeom prst="rect">
            <a:avLst/>
          </a:prstGeom>
          <a:noFill/>
        </p:spPr>
        <p:txBody>
          <a:bodyPr wrap="square" anchor="ctr"/>
          <a:lstStyle/>
          <a:p>
            <a:pPr marL="0" indent="0">
              <a:lnSpc>
                <a:spcPct val="120000"/>
              </a:lnSpc>
              <a:buNone/>
            </a:pPr>
            <a:r>
              <a:rPr sz="1100">
                <a:solidFill>
                  <a:srgbClr val="2B2E43"/>
                </a:solidFill>
                <a:latin typeface="Calibri"/>
                <a:ea typeface="Calibri"/>
                <a:cs typeface="Calibri"/>
              </a:rPr>
              <a:t>Angular Frontend on static hosting / CDN; Avalonia Desktop on end-user workstations</a:t>
            </a:r>
            <a:endParaRPr sz="1100"/>
          </a:p>
        </p:txBody>
      </p:sp>
      <p:sp>
        <p:nvSpPr>
          <p:cNvPr id="22" name="Text 20">
            <a:extLst>
              <a:ext uri="{FF2B5EF4-FFF2-40B4-BE49-F238E27FC236}">
                <a16:creationId xmlns:a16="http://schemas.microsoft.com/office/drawing/2014/main" id="{53E88B76-A76C-4AD7-8AD4-2605854248F7}"/>
              </a:ext>
            </a:extLst>
          </p:cNvPr>
          <p:cNvSpPr>
            <a:spLocks noGrp="1"/>
          </p:cNvSpPr>
          <p:nvPr/>
        </p:nvSpPr>
        <p:spPr>
          <a:xfrm>
            <a:off x="8375904" y="4297680"/>
            <a:ext cx="2916936" cy="320040"/>
          </a:xfrm>
          <a:prstGeom prst="rect">
            <a:avLst/>
          </a:prstGeom>
          <a:noFill/>
        </p:spPr>
        <p:txBody>
          <a:bodyPr wrap="square" anchor="ctr"/>
          <a:lstStyle/>
          <a:p>
            <a:pPr marL="0" indent="0">
              <a:buNone/>
            </a:pPr>
            <a:r>
              <a:rPr sz="1000" i="1">
                <a:solidFill>
                  <a:srgbClr val="6B7280"/>
                </a:solidFill>
                <a:latin typeface="Calibri"/>
                <a:ea typeface="Calibri"/>
                <a:cs typeface="Calibri"/>
              </a:rPr>
              <a:t>Not server-hosted</a:t>
            </a:r>
            <a:endParaRPr sz="1000"/>
          </a:p>
        </p:txBody>
      </p:sp>
      <p:sp>
        <p:nvSpPr>
          <p:cNvPr id="23" name="Shape 21">
            <a:extLst>
              <a:ext uri="{FF2B5EF4-FFF2-40B4-BE49-F238E27FC236}">
                <a16:creationId xmlns:a16="http://schemas.microsoft.com/office/drawing/2014/main" id="{6C1DFB7D-984A-4CE0-B9B9-FEC0FBD23D55}"/>
              </a:ext>
            </a:extLst>
          </p:cNvPr>
          <p:cNvSpPr>
            <a:spLocks noGrp="1"/>
          </p:cNvSpPr>
          <p:nvPr/>
        </p:nvSpPr>
        <p:spPr>
          <a:xfrm>
            <a:off x="640080" y="4937760"/>
            <a:ext cx="10908792" cy="914400"/>
          </a:xfrm>
          <a:prstGeom prst="roundRect">
            <a:avLst>
              <a:gd name="adj" fmla="val 8000"/>
            </a:avLst>
          </a:prstGeom>
          <a:solidFill>
            <a:srgbClr val="1E2761"/>
          </a:solidFill>
        </p:spPr>
        <p:txBody>
          <a:bodyPr/>
          <a:lstStyle/>
          <a:p>
            <a:endParaRPr/>
          </a:p>
        </p:txBody>
      </p:sp>
      <p:sp>
        <p:nvSpPr>
          <p:cNvPr id="24" name="Text 22">
            <a:extLst>
              <a:ext uri="{FF2B5EF4-FFF2-40B4-BE49-F238E27FC236}">
                <a16:creationId xmlns:a16="http://schemas.microsoft.com/office/drawing/2014/main" id="{1DAA0EE6-69C6-4B0A-B221-F1B362085547}"/>
              </a:ext>
            </a:extLst>
          </p:cNvPr>
          <p:cNvSpPr>
            <a:spLocks noGrp="1"/>
          </p:cNvSpPr>
          <p:nvPr/>
        </p:nvSpPr>
        <p:spPr>
          <a:xfrm>
            <a:off x="960120" y="5074920"/>
            <a:ext cx="10241280" cy="274320"/>
          </a:xfrm>
          <a:prstGeom prst="rect">
            <a:avLst/>
          </a:prstGeom>
          <a:noFill/>
        </p:spPr>
        <p:txBody>
          <a:bodyPr wrap="square" anchor="ctr"/>
          <a:lstStyle/>
          <a:p>
            <a:pPr marL="0" indent="0">
              <a:buNone/>
            </a:pPr>
            <a:r>
              <a:rPr sz="1050" b="1" spc="100">
                <a:solidFill>
                  <a:srgbClr val="E8A33D"/>
                </a:solidFill>
                <a:latin typeface="Calibri"/>
                <a:ea typeface="Calibri"/>
                <a:cs typeface="Calibri"/>
              </a:rPr>
              <a:t>MESSAGE QUEUE / BROKER  +  OBJECT STORAGE &amp; MONITORING</a:t>
            </a:r>
            <a:endParaRPr sz="1050"/>
          </a:p>
        </p:txBody>
      </p:sp>
      <p:sp>
        <p:nvSpPr>
          <p:cNvPr id="25" name="Text 23">
            <a:extLst>
              <a:ext uri="{FF2B5EF4-FFF2-40B4-BE49-F238E27FC236}">
                <a16:creationId xmlns:a16="http://schemas.microsoft.com/office/drawing/2014/main" id="{2918AE2A-3961-4209-97C8-7028AE470628}"/>
              </a:ext>
            </a:extLst>
          </p:cNvPr>
          <p:cNvSpPr>
            <a:spLocks noGrp="1"/>
          </p:cNvSpPr>
          <p:nvPr/>
        </p:nvSpPr>
        <p:spPr>
          <a:xfrm>
            <a:off x="960120" y="5349240"/>
            <a:ext cx="10241280" cy="411480"/>
          </a:xfrm>
          <a:prstGeom prst="rect">
            <a:avLst/>
          </a:prstGeom>
          <a:noFill/>
        </p:spPr>
        <p:txBody>
          <a:bodyPr wrap="square" lIns="91440" tIns="45720" rIns="91440" bIns="45720" anchor="ctr"/>
          <a:lstStyle/>
          <a:p>
            <a:r>
              <a:rPr sz="1200">
                <a:solidFill>
                  <a:srgbClr val="CADCFC"/>
                </a:solidFill>
                <a:latin typeface="Calibri"/>
                <a:ea typeface="Calibri"/>
                <a:cs typeface="Calibri"/>
              </a:rPr>
              <a:t>Azure Blob Storage for file/object storage and centralized logging/monitoring, accessible by the Application Server.</a:t>
            </a:r>
            <a:endParaRPr sz="1200"/>
          </a:p>
        </p:txBody>
      </p:sp>
      <p:sp>
        <p:nvSpPr>
          <p:cNvPr id="26" name="Text 24">
            <a:extLst>
              <a:ext uri="{FF2B5EF4-FFF2-40B4-BE49-F238E27FC236}">
                <a16:creationId xmlns:a16="http://schemas.microsoft.com/office/drawing/2014/main" id="{8BA8942B-E51D-44A4-A562-C976ADA023CF}"/>
              </a:ext>
            </a:extLst>
          </p:cNvPr>
          <p:cNvSpPr>
            <a:spLocks noGrp="1"/>
          </p:cNvSpPr>
          <p:nvPr/>
        </p:nvSpPr>
        <p:spPr>
          <a:xfrm>
            <a:off x="640080" y="6400800"/>
            <a:ext cx="4572000" cy="274320"/>
          </a:xfrm>
          <a:prstGeom prst="rect">
            <a:avLst/>
          </a:prstGeom>
          <a:noFill/>
        </p:spPr>
        <p:txBody>
          <a:bodyPr wrap="square" anchor="ctr"/>
          <a:lstStyle/>
          <a:p>
            <a:pPr marL="0" indent="0">
              <a:buNone/>
            </a:pPr>
            <a:r>
              <a:rPr sz="1000">
                <a:solidFill>
                  <a:srgbClr val="6B7280"/>
                </a:solidFill>
                <a:latin typeface="Calibri"/>
                <a:ea typeface="Calibri"/>
                <a:cs typeface="Calibri"/>
              </a:rPr>
              <a:t>Astravi — AI Cost Comparison</a:t>
            </a:r>
            <a:endParaRPr sz="1000"/>
          </a:p>
        </p:txBody>
      </p:sp>
      <p:sp>
        <p:nvSpPr>
          <p:cNvPr id="27" name="Text 25">
            <a:extLst>
              <a:ext uri="{FF2B5EF4-FFF2-40B4-BE49-F238E27FC236}">
                <a16:creationId xmlns:a16="http://schemas.microsoft.com/office/drawing/2014/main" id="{973656FC-103B-49EF-B653-B4B0DEC05739}"/>
              </a:ext>
            </a:extLst>
          </p:cNvPr>
          <p:cNvSpPr>
            <a:spLocks noGrp="1"/>
          </p:cNvSpPr>
          <p:nvPr/>
        </p:nvSpPr>
        <p:spPr>
          <a:xfrm>
            <a:off x="11365992" y="6400800"/>
            <a:ext cx="548640" cy="274320"/>
          </a:xfrm>
          <a:prstGeom prst="rect">
            <a:avLst/>
          </a:prstGeom>
          <a:noFill/>
        </p:spPr>
        <p:txBody>
          <a:bodyPr wrap="square" anchor="ctr"/>
          <a:lstStyle/>
          <a:p>
            <a:pPr marL="0" indent="0" algn="r">
              <a:buNone/>
            </a:pPr>
            <a:r>
              <a:rPr sz="1000">
                <a:solidFill>
                  <a:srgbClr val="6B7280"/>
                </a:solidFill>
                <a:latin typeface="Calibri"/>
                <a:ea typeface="Calibri"/>
                <a:cs typeface="Calibri"/>
              </a:rPr>
              <a:t>14</a:t>
            </a:r>
            <a:endParaRPr sz="1000"/>
          </a:p>
        </p:txBody>
      </p:sp>
    </p:spTree>
    <p:extLst>
      <p:ext uri="{BB962C8B-B14F-4D97-AF65-F5344CB8AC3E}">
        <p14:creationId xmlns:p14="http://schemas.microsoft.com/office/powerpoint/2010/main" val="1924017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B6E1A83-89AB-401C-B753-5CF68DFE9245}"/>
              </a:ext>
            </a:extLst>
          </p:cNvPr>
          <p:cNvSpPr>
            <a:spLocks noGrp="1"/>
          </p:cNvSpPr>
          <p:nvPr/>
        </p:nvSpPr>
        <p:spPr>
          <a:xfrm>
            <a:off x="0" y="0"/>
            <a:ext cx="12188952" cy="6858000"/>
          </a:xfrm>
          <a:prstGeom prst="rect">
            <a:avLst/>
          </a:prstGeom>
          <a:solidFill>
            <a:srgbClr val="1E2761"/>
          </a:solidFill>
        </p:spPr>
        <p:txBody>
          <a:bodyPr/>
          <a:lstStyle/>
          <a:p>
            <a:endParaRPr/>
          </a:p>
        </p:txBody>
      </p:sp>
      <p:sp>
        <p:nvSpPr>
          <p:cNvPr id="3" name="Text 1">
            <a:extLst>
              <a:ext uri="{FF2B5EF4-FFF2-40B4-BE49-F238E27FC236}">
                <a16:creationId xmlns:a16="http://schemas.microsoft.com/office/drawing/2014/main" id="{A7A256FE-1402-442B-837D-C3FAD259440B}"/>
              </a:ext>
            </a:extLst>
          </p:cNvPr>
          <p:cNvSpPr>
            <a:spLocks noGrp="1"/>
          </p:cNvSpPr>
          <p:nvPr/>
        </p:nvSpPr>
        <p:spPr>
          <a:xfrm>
            <a:off x="640080" y="411480"/>
            <a:ext cx="7315200" cy="320040"/>
          </a:xfrm>
          <a:prstGeom prst="rect">
            <a:avLst/>
          </a:prstGeom>
          <a:noFill/>
        </p:spPr>
        <p:txBody>
          <a:bodyPr wrap="square" anchor="ctr"/>
          <a:lstStyle/>
          <a:p>
            <a:pPr marL="0" indent="0">
              <a:buNone/>
            </a:pPr>
            <a:r>
              <a:rPr sz="1300" b="1" spc="200">
                <a:solidFill>
                  <a:srgbClr val="E8A33D"/>
                </a:solidFill>
                <a:latin typeface="Calibri"/>
                <a:ea typeface="Calibri"/>
                <a:cs typeface="Calibri"/>
              </a:rPr>
              <a:t>NEXT STEPS</a:t>
            </a:r>
            <a:endParaRPr sz="1300"/>
          </a:p>
        </p:txBody>
      </p:sp>
      <p:sp>
        <p:nvSpPr>
          <p:cNvPr id="4" name="Text 2">
            <a:extLst>
              <a:ext uri="{FF2B5EF4-FFF2-40B4-BE49-F238E27FC236}">
                <a16:creationId xmlns:a16="http://schemas.microsoft.com/office/drawing/2014/main" id="{54A5D079-C58C-4A09-9445-7831C77AD1E4}"/>
              </a:ext>
            </a:extLst>
          </p:cNvPr>
          <p:cNvSpPr>
            <a:spLocks noGrp="1"/>
          </p:cNvSpPr>
          <p:nvPr/>
        </p:nvSpPr>
        <p:spPr>
          <a:xfrm>
            <a:off x="640080" y="713232"/>
            <a:ext cx="10515600" cy="822960"/>
          </a:xfrm>
          <a:prstGeom prst="rect">
            <a:avLst/>
          </a:prstGeom>
          <a:noFill/>
        </p:spPr>
        <p:txBody>
          <a:bodyPr wrap="square" anchor="ctr"/>
          <a:lstStyle/>
          <a:p>
            <a:pPr marL="0" indent="0">
              <a:lnSpc>
                <a:spcPts val="3400"/>
              </a:lnSpc>
              <a:buNone/>
            </a:pPr>
            <a:r>
              <a:rPr sz="3000" b="1">
                <a:solidFill>
                  <a:srgbClr val="FFFFFF"/>
                </a:solidFill>
                <a:latin typeface="Cambria"/>
                <a:ea typeface="Cambria"/>
                <a:cs typeface="Cambria"/>
              </a:rPr>
              <a:t>What we need to move forward</a:t>
            </a:r>
            <a:endParaRPr sz="3000"/>
          </a:p>
        </p:txBody>
      </p:sp>
      <p:sp>
        <p:nvSpPr>
          <p:cNvPr id="5" name="Shape 3">
            <a:extLst>
              <a:ext uri="{FF2B5EF4-FFF2-40B4-BE49-F238E27FC236}">
                <a16:creationId xmlns:a16="http://schemas.microsoft.com/office/drawing/2014/main" id="{5B5E6EA7-8228-46EE-92DB-3EB878991531}"/>
              </a:ext>
            </a:extLst>
          </p:cNvPr>
          <p:cNvSpPr>
            <a:spLocks noGrp="1"/>
          </p:cNvSpPr>
          <p:nvPr/>
        </p:nvSpPr>
        <p:spPr>
          <a:xfrm>
            <a:off x="640080" y="1965960"/>
            <a:ext cx="10908792" cy="914400"/>
          </a:xfrm>
          <a:prstGeom prst="roundRect">
            <a:avLst>
              <a:gd name="adj" fmla="val 8000"/>
            </a:avLst>
          </a:prstGeom>
          <a:solidFill>
            <a:srgbClr val="141B47"/>
          </a:solidFill>
          <a:ln w="12700">
            <a:solidFill>
              <a:srgbClr val="3A4380"/>
            </a:solidFill>
            <a:prstDash val="solid"/>
          </a:ln>
        </p:spPr>
        <p:txBody>
          <a:bodyPr/>
          <a:lstStyle/>
          <a:p>
            <a:endParaRPr/>
          </a:p>
        </p:txBody>
      </p:sp>
      <p:sp>
        <p:nvSpPr>
          <p:cNvPr id="6" name="Shape 4">
            <a:extLst>
              <a:ext uri="{FF2B5EF4-FFF2-40B4-BE49-F238E27FC236}">
                <a16:creationId xmlns:a16="http://schemas.microsoft.com/office/drawing/2014/main" id="{EDDBC610-12CE-42CC-B625-627056FB775A}"/>
              </a:ext>
            </a:extLst>
          </p:cNvPr>
          <p:cNvSpPr>
            <a:spLocks noGrp="1"/>
          </p:cNvSpPr>
          <p:nvPr/>
        </p:nvSpPr>
        <p:spPr>
          <a:xfrm>
            <a:off x="896112" y="2185416"/>
            <a:ext cx="475488" cy="475488"/>
          </a:xfrm>
          <a:prstGeom prst="ellipse">
            <a:avLst/>
          </a:prstGeom>
          <a:solidFill>
            <a:srgbClr val="E8A33D"/>
          </a:solidFill>
        </p:spPr>
        <p:txBody>
          <a:bodyPr/>
          <a:lstStyle/>
          <a:p>
            <a:endParaRPr/>
          </a:p>
        </p:txBody>
      </p:sp>
      <p:sp>
        <p:nvSpPr>
          <p:cNvPr id="7" name="Text 5">
            <a:extLst>
              <a:ext uri="{FF2B5EF4-FFF2-40B4-BE49-F238E27FC236}">
                <a16:creationId xmlns:a16="http://schemas.microsoft.com/office/drawing/2014/main" id="{5A59FE02-0F4E-4100-A5BA-BE51BCBDF52E}"/>
              </a:ext>
            </a:extLst>
          </p:cNvPr>
          <p:cNvSpPr>
            <a:spLocks noGrp="1"/>
          </p:cNvSpPr>
          <p:nvPr/>
        </p:nvSpPr>
        <p:spPr>
          <a:xfrm>
            <a:off x="896112" y="2185416"/>
            <a:ext cx="475488" cy="475488"/>
          </a:xfrm>
          <a:prstGeom prst="rect">
            <a:avLst/>
          </a:prstGeom>
          <a:noFill/>
        </p:spPr>
        <p:txBody>
          <a:bodyPr wrap="square" anchor="ctr"/>
          <a:lstStyle/>
          <a:p>
            <a:pPr marL="0" indent="0" algn="ctr">
              <a:buNone/>
            </a:pPr>
            <a:r>
              <a:rPr sz="1800" b="1">
                <a:solidFill>
                  <a:srgbClr val="1E2761"/>
                </a:solidFill>
                <a:latin typeface="Cambria"/>
                <a:ea typeface="Cambria"/>
                <a:cs typeface="Cambria"/>
              </a:rPr>
              <a:t>1</a:t>
            </a:r>
            <a:endParaRPr sz="1800"/>
          </a:p>
        </p:txBody>
      </p:sp>
      <p:sp>
        <p:nvSpPr>
          <p:cNvPr id="8" name="Text 6">
            <a:extLst>
              <a:ext uri="{FF2B5EF4-FFF2-40B4-BE49-F238E27FC236}">
                <a16:creationId xmlns:a16="http://schemas.microsoft.com/office/drawing/2014/main" id="{B4DC5218-FAF6-49AD-9D3B-F4BAA6F4473C}"/>
              </a:ext>
            </a:extLst>
          </p:cNvPr>
          <p:cNvSpPr>
            <a:spLocks noGrp="1"/>
          </p:cNvSpPr>
          <p:nvPr/>
        </p:nvSpPr>
        <p:spPr>
          <a:xfrm>
            <a:off x="1600200" y="1965960"/>
            <a:ext cx="9692640" cy="914400"/>
          </a:xfrm>
          <a:prstGeom prst="rect">
            <a:avLst/>
          </a:prstGeom>
          <a:noFill/>
        </p:spPr>
        <p:txBody>
          <a:bodyPr wrap="square" anchor="ctr"/>
          <a:lstStyle/>
          <a:p>
            <a:pPr marL="0" indent="0">
              <a:lnSpc>
                <a:spcPct val="120000"/>
              </a:lnSpc>
              <a:buNone/>
            </a:pPr>
            <a:r>
              <a:rPr sz="1400">
                <a:solidFill>
                  <a:srgbClr val="FFFFFF"/>
                </a:solidFill>
                <a:latin typeface="Calibri"/>
                <a:ea typeface="Calibri"/>
                <a:cs typeface="Calibri"/>
              </a:rPr>
              <a:t>Approve a 1–3 month pilot rental of Option 2 (2× NVIDIA L4 GPU server)</a:t>
            </a:r>
            <a:endParaRPr sz="1400"/>
          </a:p>
        </p:txBody>
      </p:sp>
      <p:sp>
        <p:nvSpPr>
          <p:cNvPr id="9" name="Shape 7">
            <a:extLst>
              <a:ext uri="{FF2B5EF4-FFF2-40B4-BE49-F238E27FC236}">
                <a16:creationId xmlns:a16="http://schemas.microsoft.com/office/drawing/2014/main" id="{B536AE29-FF90-4783-B17C-D984730FE972}"/>
              </a:ext>
            </a:extLst>
          </p:cNvPr>
          <p:cNvSpPr>
            <a:spLocks noGrp="1"/>
          </p:cNvSpPr>
          <p:nvPr/>
        </p:nvSpPr>
        <p:spPr>
          <a:xfrm>
            <a:off x="640080" y="3044952"/>
            <a:ext cx="10908792" cy="914400"/>
          </a:xfrm>
          <a:prstGeom prst="roundRect">
            <a:avLst>
              <a:gd name="adj" fmla="val 8000"/>
            </a:avLst>
          </a:prstGeom>
          <a:solidFill>
            <a:srgbClr val="141B47"/>
          </a:solidFill>
          <a:ln w="12700">
            <a:solidFill>
              <a:srgbClr val="3A4380"/>
            </a:solidFill>
            <a:prstDash val="solid"/>
          </a:ln>
        </p:spPr>
        <p:txBody>
          <a:bodyPr/>
          <a:lstStyle/>
          <a:p>
            <a:endParaRPr/>
          </a:p>
        </p:txBody>
      </p:sp>
      <p:sp>
        <p:nvSpPr>
          <p:cNvPr id="10" name="Shape 8">
            <a:extLst>
              <a:ext uri="{FF2B5EF4-FFF2-40B4-BE49-F238E27FC236}">
                <a16:creationId xmlns:a16="http://schemas.microsoft.com/office/drawing/2014/main" id="{27FF7396-88CA-4C4F-8B96-8FBB8A0FAA4A}"/>
              </a:ext>
            </a:extLst>
          </p:cNvPr>
          <p:cNvSpPr>
            <a:spLocks noGrp="1"/>
          </p:cNvSpPr>
          <p:nvPr/>
        </p:nvSpPr>
        <p:spPr>
          <a:xfrm>
            <a:off x="896112" y="3264408"/>
            <a:ext cx="475488" cy="475488"/>
          </a:xfrm>
          <a:prstGeom prst="ellipse">
            <a:avLst/>
          </a:prstGeom>
          <a:solidFill>
            <a:srgbClr val="E8A33D"/>
          </a:solidFill>
        </p:spPr>
        <p:txBody>
          <a:bodyPr/>
          <a:lstStyle/>
          <a:p>
            <a:endParaRPr/>
          </a:p>
        </p:txBody>
      </p:sp>
      <p:sp>
        <p:nvSpPr>
          <p:cNvPr id="11" name="Text 9">
            <a:extLst>
              <a:ext uri="{FF2B5EF4-FFF2-40B4-BE49-F238E27FC236}">
                <a16:creationId xmlns:a16="http://schemas.microsoft.com/office/drawing/2014/main" id="{2CC4BEB4-45A9-4272-8DD2-FB72721E1765}"/>
              </a:ext>
            </a:extLst>
          </p:cNvPr>
          <p:cNvSpPr>
            <a:spLocks noGrp="1"/>
          </p:cNvSpPr>
          <p:nvPr/>
        </p:nvSpPr>
        <p:spPr>
          <a:xfrm>
            <a:off x="896112" y="3264408"/>
            <a:ext cx="475488" cy="475488"/>
          </a:xfrm>
          <a:prstGeom prst="rect">
            <a:avLst/>
          </a:prstGeom>
          <a:noFill/>
        </p:spPr>
        <p:txBody>
          <a:bodyPr wrap="square" anchor="ctr"/>
          <a:lstStyle/>
          <a:p>
            <a:pPr marL="0" indent="0" algn="ctr">
              <a:buNone/>
            </a:pPr>
            <a:r>
              <a:rPr sz="1800" b="1">
                <a:solidFill>
                  <a:srgbClr val="1E2761"/>
                </a:solidFill>
                <a:latin typeface="Cambria"/>
                <a:ea typeface="Cambria"/>
                <a:cs typeface="Cambria"/>
              </a:rPr>
              <a:t>2</a:t>
            </a:r>
            <a:endParaRPr sz="1800"/>
          </a:p>
        </p:txBody>
      </p:sp>
      <p:sp>
        <p:nvSpPr>
          <p:cNvPr id="12" name="Text 10">
            <a:extLst>
              <a:ext uri="{FF2B5EF4-FFF2-40B4-BE49-F238E27FC236}">
                <a16:creationId xmlns:a16="http://schemas.microsoft.com/office/drawing/2014/main" id="{989E1F01-C0B1-40CB-9D37-D27276D5F155}"/>
              </a:ext>
            </a:extLst>
          </p:cNvPr>
          <p:cNvSpPr>
            <a:spLocks noGrp="1"/>
          </p:cNvSpPr>
          <p:nvPr/>
        </p:nvSpPr>
        <p:spPr>
          <a:xfrm>
            <a:off x="1600200" y="3044952"/>
            <a:ext cx="9692640" cy="914400"/>
          </a:xfrm>
          <a:prstGeom prst="rect">
            <a:avLst/>
          </a:prstGeom>
          <a:noFill/>
        </p:spPr>
        <p:txBody>
          <a:bodyPr wrap="square" anchor="ctr"/>
          <a:lstStyle/>
          <a:p>
            <a:pPr marL="0" indent="0">
              <a:lnSpc>
                <a:spcPct val="120000"/>
              </a:lnSpc>
              <a:buNone/>
            </a:pPr>
            <a:r>
              <a:rPr sz="1400">
                <a:solidFill>
                  <a:srgbClr val="FFFFFF"/>
                </a:solidFill>
                <a:latin typeface="Calibri"/>
                <a:ea typeface="Calibri"/>
                <a:cs typeface="Calibri"/>
              </a:rPr>
              <a:t>Run a realistic 100–200 employee load test against throughput and latency targets</a:t>
            </a:r>
            <a:endParaRPr sz="1400"/>
          </a:p>
        </p:txBody>
      </p:sp>
      <p:sp>
        <p:nvSpPr>
          <p:cNvPr id="13" name="Shape 11">
            <a:extLst>
              <a:ext uri="{FF2B5EF4-FFF2-40B4-BE49-F238E27FC236}">
                <a16:creationId xmlns:a16="http://schemas.microsoft.com/office/drawing/2014/main" id="{0A76C3F3-00E7-4773-AFF8-802401FB7D3D}"/>
              </a:ext>
            </a:extLst>
          </p:cNvPr>
          <p:cNvSpPr>
            <a:spLocks noGrp="1"/>
          </p:cNvSpPr>
          <p:nvPr/>
        </p:nvSpPr>
        <p:spPr>
          <a:xfrm>
            <a:off x="640080" y="4123944"/>
            <a:ext cx="10908792" cy="914400"/>
          </a:xfrm>
          <a:prstGeom prst="roundRect">
            <a:avLst>
              <a:gd name="adj" fmla="val 8000"/>
            </a:avLst>
          </a:prstGeom>
          <a:solidFill>
            <a:srgbClr val="141B47"/>
          </a:solidFill>
          <a:ln w="12700">
            <a:solidFill>
              <a:srgbClr val="3A4380"/>
            </a:solidFill>
            <a:prstDash val="solid"/>
          </a:ln>
        </p:spPr>
        <p:txBody>
          <a:bodyPr/>
          <a:lstStyle/>
          <a:p>
            <a:endParaRPr/>
          </a:p>
        </p:txBody>
      </p:sp>
      <p:sp>
        <p:nvSpPr>
          <p:cNvPr id="14" name="Shape 12">
            <a:extLst>
              <a:ext uri="{FF2B5EF4-FFF2-40B4-BE49-F238E27FC236}">
                <a16:creationId xmlns:a16="http://schemas.microsoft.com/office/drawing/2014/main" id="{B1568FEE-3677-44EA-9AA7-61CCAA842E43}"/>
              </a:ext>
            </a:extLst>
          </p:cNvPr>
          <p:cNvSpPr>
            <a:spLocks noGrp="1"/>
          </p:cNvSpPr>
          <p:nvPr/>
        </p:nvSpPr>
        <p:spPr>
          <a:xfrm>
            <a:off x="896112" y="4343400"/>
            <a:ext cx="475488" cy="475488"/>
          </a:xfrm>
          <a:prstGeom prst="ellipse">
            <a:avLst/>
          </a:prstGeom>
          <a:solidFill>
            <a:srgbClr val="E8A33D"/>
          </a:solidFill>
        </p:spPr>
        <p:txBody>
          <a:bodyPr/>
          <a:lstStyle/>
          <a:p>
            <a:endParaRPr/>
          </a:p>
        </p:txBody>
      </p:sp>
      <p:sp>
        <p:nvSpPr>
          <p:cNvPr id="15" name="Text 13">
            <a:extLst>
              <a:ext uri="{FF2B5EF4-FFF2-40B4-BE49-F238E27FC236}">
                <a16:creationId xmlns:a16="http://schemas.microsoft.com/office/drawing/2014/main" id="{7064EF00-EE5E-4758-A66B-B3ED0869E3CE}"/>
              </a:ext>
            </a:extLst>
          </p:cNvPr>
          <p:cNvSpPr>
            <a:spLocks noGrp="1"/>
          </p:cNvSpPr>
          <p:nvPr/>
        </p:nvSpPr>
        <p:spPr>
          <a:xfrm>
            <a:off x="896112" y="4343400"/>
            <a:ext cx="475488" cy="475488"/>
          </a:xfrm>
          <a:prstGeom prst="rect">
            <a:avLst/>
          </a:prstGeom>
          <a:noFill/>
        </p:spPr>
        <p:txBody>
          <a:bodyPr wrap="square" anchor="ctr"/>
          <a:lstStyle/>
          <a:p>
            <a:pPr marL="0" indent="0" algn="ctr">
              <a:buNone/>
            </a:pPr>
            <a:r>
              <a:rPr sz="1800" b="1">
                <a:solidFill>
                  <a:srgbClr val="1E2761"/>
                </a:solidFill>
                <a:latin typeface="Cambria"/>
                <a:ea typeface="Cambria"/>
                <a:cs typeface="Cambria"/>
              </a:rPr>
              <a:t>3</a:t>
            </a:r>
            <a:endParaRPr sz="1800"/>
          </a:p>
        </p:txBody>
      </p:sp>
      <p:sp>
        <p:nvSpPr>
          <p:cNvPr id="16" name="Text 14">
            <a:extLst>
              <a:ext uri="{FF2B5EF4-FFF2-40B4-BE49-F238E27FC236}">
                <a16:creationId xmlns:a16="http://schemas.microsoft.com/office/drawing/2014/main" id="{0104EC04-9839-4985-93B3-DD3701883C48}"/>
              </a:ext>
            </a:extLst>
          </p:cNvPr>
          <p:cNvSpPr>
            <a:spLocks noGrp="1"/>
          </p:cNvSpPr>
          <p:nvPr/>
        </p:nvSpPr>
        <p:spPr>
          <a:xfrm>
            <a:off x="1600200" y="4123944"/>
            <a:ext cx="9692640" cy="914400"/>
          </a:xfrm>
          <a:prstGeom prst="rect">
            <a:avLst/>
          </a:prstGeom>
          <a:noFill/>
        </p:spPr>
        <p:txBody>
          <a:bodyPr wrap="square" anchor="ctr"/>
          <a:lstStyle/>
          <a:p>
            <a:pPr marL="0" indent="0">
              <a:lnSpc>
                <a:spcPct val="120000"/>
              </a:lnSpc>
              <a:buNone/>
            </a:pPr>
            <a:r>
              <a:rPr sz="1400">
                <a:solidFill>
                  <a:srgbClr val="FFFFFF"/>
                </a:solidFill>
                <a:latin typeface="Calibri"/>
                <a:ea typeface="Calibri"/>
                <a:cs typeface="Calibri"/>
              </a:rPr>
              <a:t>Select and budget a search API provider (Brave or Tavily) and confirm the data-handling policy</a:t>
            </a:r>
            <a:endParaRPr sz="1400"/>
          </a:p>
        </p:txBody>
      </p:sp>
      <p:sp>
        <p:nvSpPr>
          <p:cNvPr id="17" name="Shape 15">
            <a:extLst>
              <a:ext uri="{FF2B5EF4-FFF2-40B4-BE49-F238E27FC236}">
                <a16:creationId xmlns:a16="http://schemas.microsoft.com/office/drawing/2014/main" id="{253CAA40-7320-4AD4-8B6C-F8577349D2C1}"/>
              </a:ext>
            </a:extLst>
          </p:cNvPr>
          <p:cNvSpPr>
            <a:spLocks noGrp="1"/>
          </p:cNvSpPr>
          <p:nvPr/>
        </p:nvSpPr>
        <p:spPr>
          <a:xfrm>
            <a:off x="640080" y="5202936"/>
            <a:ext cx="10908792" cy="914400"/>
          </a:xfrm>
          <a:prstGeom prst="roundRect">
            <a:avLst>
              <a:gd name="adj" fmla="val 8000"/>
            </a:avLst>
          </a:prstGeom>
          <a:solidFill>
            <a:srgbClr val="141B47"/>
          </a:solidFill>
          <a:ln w="12700">
            <a:solidFill>
              <a:srgbClr val="3A4380"/>
            </a:solidFill>
            <a:prstDash val="solid"/>
          </a:ln>
        </p:spPr>
        <p:txBody>
          <a:bodyPr/>
          <a:lstStyle/>
          <a:p>
            <a:endParaRPr/>
          </a:p>
        </p:txBody>
      </p:sp>
      <p:sp>
        <p:nvSpPr>
          <p:cNvPr id="18" name="Shape 16">
            <a:extLst>
              <a:ext uri="{FF2B5EF4-FFF2-40B4-BE49-F238E27FC236}">
                <a16:creationId xmlns:a16="http://schemas.microsoft.com/office/drawing/2014/main" id="{7A342670-C0F1-4311-B5D7-4201716DF5E7}"/>
              </a:ext>
            </a:extLst>
          </p:cNvPr>
          <p:cNvSpPr>
            <a:spLocks noGrp="1"/>
          </p:cNvSpPr>
          <p:nvPr/>
        </p:nvSpPr>
        <p:spPr>
          <a:xfrm>
            <a:off x="896112" y="5422392"/>
            <a:ext cx="475488" cy="475488"/>
          </a:xfrm>
          <a:prstGeom prst="ellipse">
            <a:avLst/>
          </a:prstGeom>
          <a:solidFill>
            <a:srgbClr val="E8A33D"/>
          </a:solidFill>
        </p:spPr>
        <p:txBody>
          <a:bodyPr/>
          <a:lstStyle/>
          <a:p>
            <a:endParaRPr/>
          </a:p>
        </p:txBody>
      </p:sp>
      <p:sp>
        <p:nvSpPr>
          <p:cNvPr id="19" name="Text 17">
            <a:extLst>
              <a:ext uri="{FF2B5EF4-FFF2-40B4-BE49-F238E27FC236}">
                <a16:creationId xmlns:a16="http://schemas.microsoft.com/office/drawing/2014/main" id="{DC24192B-9357-430A-9A88-6B3C18A75D17}"/>
              </a:ext>
            </a:extLst>
          </p:cNvPr>
          <p:cNvSpPr>
            <a:spLocks noGrp="1"/>
          </p:cNvSpPr>
          <p:nvPr/>
        </p:nvSpPr>
        <p:spPr>
          <a:xfrm>
            <a:off x="896112" y="5422392"/>
            <a:ext cx="475488" cy="475488"/>
          </a:xfrm>
          <a:prstGeom prst="rect">
            <a:avLst/>
          </a:prstGeom>
          <a:noFill/>
        </p:spPr>
        <p:txBody>
          <a:bodyPr wrap="square" anchor="ctr"/>
          <a:lstStyle/>
          <a:p>
            <a:pPr marL="0" indent="0" algn="ctr">
              <a:buNone/>
            </a:pPr>
            <a:r>
              <a:rPr sz="1800" b="1">
                <a:solidFill>
                  <a:srgbClr val="1E2761"/>
                </a:solidFill>
                <a:latin typeface="Cambria"/>
                <a:ea typeface="Cambria"/>
                <a:cs typeface="Cambria"/>
              </a:rPr>
              <a:t>4</a:t>
            </a:r>
            <a:endParaRPr sz="1800"/>
          </a:p>
        </p:txBody>
      </p:sp>
      <p:sp>
        <p:nvSpPr>
          <p:cNvPr id="20" name="Text 18">
            <a:extLst>
              <a:ext uri="{FF2B5EF4-FFF2-40B4-BE49-F238E27FC236}">
                <a16:creationId xmlns:a16="http://schemas.microsoft.com/office/drawing/2014/main" id="{23C98409-813D-42AD-82CB-E4589C48748A}"/>
              </a:ext>
            </a:extLst>
          </p:cNvPr>
          <p:cNvSpPr>
            <a:spLocks noGrp="1"/>
          </p:cNvSpPr>
          <p:nvPr/>
        </p:nvSpPr>
        <p:spPr>
          <a:xfrm>
            <a:off x="1600200" y="5202936"/>
            <a:ext cx="9692640" cy="914400"/>
          </a:xfrm>
          <a:prstGeom prst="rect">
            <a:avLst/>
          </a:prstGeom>
          <a:noFill/>
        </p:spPr>
        <p:txBody>
          <a:bodyPr wrap="square" anchor="ctr"/>
          <a:lstStyle/>
          <a:p>
            <a:pPr marL="0" indent="0">
              <a:lnSpc>
                <a:spcPct val="120000"/>
              </a:lnSpc>
              <a:buNone/>
            </a:pPr>
            <a:r>
              <a:rPr sz="1400">
                <a:solidFill>
                  <a:srgbClr val="FFFFFF"/>
                </a:solidFill>
                <a:latin typeface="Calibri"/>
                <a:ea typeface="Calibri"/>
                <a:cs typeface="Calibri"/>
              </a:rPr>
              <a:t>Approve the ~400-hour development plan and confirm team staffing (solo vs. small team)</a:t>
            </a:r>
            <a:endParaRPr sz="1400"/>
          </a:p>
        </p:txBody>
      </p:sp>
      <p:sp>
        <p:nvSpPr>
          <p:cNvPr id="21" name="Text 19">
            <a:extLst>
              <a:ext uri="{FF2B5EF4-FFF2-40B4-BE49-F238E27FC236}">
                <a16:creationId xmlns:a16="http://schemas.microsoft.com/office/drawing/2014/main" id="{213CA245-EA66-46A6-961B-E9D9ACB6FD2A}"/>
              </a:ext>
            </a:extLst>
          </p:cNvPr>
          <p:cNvSpPr>
            <a:spLocks noGrp="1"/>
          </p:cNvSpPr>
          <p:nvPr/>
        </p:nvSpPr>
        <p:spPr>
          <a:xfrm>
            <a:off x="640080" y="6400800"/>
            <a:ext cx="4572000" cy="274320"/>
          </a:xfrm>
          <a:prstGeom prst="rect">
            <a:avLst/>
          </a:prstGeom>
          <a:noFill/>
        </p:spPr>
        <p:txBody>
          <a:bodyPr wrap="square" anchor="ctr"/>
          <a:lstStyle/>
          <a:p>
            <a:pPr marL="0" indent="0">
              <a:buNone/>
            </a:pPr>
            <a:r>
              <a:rPr sz="1000">
                <a:solidFill>
                  <a:srgbClr val="CADCFC"/>
                </a:solidFill>
                <a:latin typeface="Calibri"/>
                <a:ea typeface="Calibri"/>
                <a:cs typeface="Calibri"/>
              </a:rPr>
              <a:t>Astravi — AI Cost Comparison</a:t>
            </a:r>
            <a:endParaRPr sz="1000"/>
          </a:p>
        </p:txBody>
      </p:sp>
      <p:sp>
        <p:nvSpPr>
          <p:cNvPr id="22" name="Text 20">
            <a:extLst>
              <a:ext uri="{FF2B5EF4-FFF2-40B4-BE49-F238E27FC236}">
                <a16:creationId xmlns:a16="http://schemas.microsoft.com/office/drawing/2014/main" id="{9E357719-CAE7-4378-A68E-6EA025A4B533}"/>
              </a:ext>
            </a:extLst>
          </p:cNvPr>
          <p:cNvSpPr>
            <a:spLocks noGrp="1"/>
          </p:cNvSpPr>
          <p:nvPr/>
        </p:nvSpPr>
        <p:spPr>
          <a:xfrm>
            <a:off x="11365992" y="6400800"/>
            <a:ext cx="548640" cy="274320"/>
          </a:xfrm>
          <a:prstGeom prst="rect">
            <a:avLst/>
          </a:prstGeom>
          <a:noFill/>
        </p:spPr>
        <p:txBody>
          <a:bodyPr wrap="square" anchor="ctr"/>
          <a:lstStyle/>
          <a:p>
            <a:pPr marL="0" indent="0" algn="r">
              <a:buNone/>
            </a:pPr>
            <a:r>
              <a:rPr sz="1000">
                <a:solidFill>
                  <a:srgbClr val="6B7280"/>
                </a:solidFill>
                <a:latin typeface="Calibri"/>
                <a:ea typeface="Calibri"/>
                <a:cs typeface="Calibri"/>
              </a:rPr>
              <a:t>15</a:t>
            </a:r>
            <a:endParaRPr sz="1000"/>
          </a:p>
        </p:txBody>
      </p:sp>
    </p:spTree>
    <p:extLst>
      <p:ext uri="{BB962C8B-B14F-4D97-AF65-F5344CB8AC3E}">
        <p14:creationId xmlns:p14="http://schemas.microsoft.com/office/powerpoint/2010/main" val="770274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D831940-DA96-4E94-98E4-41EBA065E5A5}"/>
              </a:ext>
            </a:extLst>
          </p:cNvPr>
          <p:cNvSpPr>
            <a:spLocks noGrp="1"/>
          </p:cNvSpPr>
          <p:nvPr/>
        </p:nvSpPr>
        <p:spPr>
          <a:xfrm>
            <a:off x="640080" y="609600"/>
            <a:ext cx="7239000" cy="361950"/>
          </a:xfrm>
          <a:prstGeom prst="rect">
            <a:avLst/>
          </a:prstGeom>
          <a:noFill/>
          <a:ln w="0">
            <a:noFill/>
          </a:ln>
        </p:spPr>
        <p:txBody>
          <a:bodyPr/>
          <a:lstStyle/>
          <a:p>
            <a:pPr>
              <a:defRPr sz="1800" b="1">
                <a:solidFill>
                  <a:srgbClr val="E8A33D"/>
                </a:solidFill>
                <a:latin typeface="Calibri"/>
                <a:ea typeface="Calibri"/>
                <a:cs typeface="Calibri"/>
              </a:defRPr>
            </a:pPr>
            <a:r>
              <a:rPr sz="1800" b="1">
                <a:solidFill>
                  <a:srgbClr val="E8A33D"/>
                </a:solidFill>
                <a:latin typeface="Calibri"/>
                <a:ea typeface="Calibri"/>
                <a:cs typeface="Calibri"/>
              </a:rPr>
              <a:t>TENTATIVE DELIVERY PLAN</a:t>
            </a:r>
          </a:p>
        </p:txBody>
      </p:sp>
      <p:sp>
        <p:nvSpPr>
          <p:cNvPr id="2" name="Rectangle 1">
            <a:extLst>
              <a:ext uri="{FF2B5EF4-FFF2-40B4-BE49-F238E27FC236}">
                <a16:creationId xmlns:a16="http://schemas.microsoft.com/office/drawing/2014/main" id="{4B7DC5F6-A24D-4C99-B27B-692CDE0C514B}"/>
              </a:ext>
            </a:extLst>
          </p:cNvPr>
          <p:cNvSpPr>
            <a:spLocks noGrp="1"/>
          </p:cNvSpPr>
          <p:nvPr/>
        </p:nvSpPr>
        <p:spPr>
          <a:xfrm>
            <a:off x="640080" y="1104900"/>
            <a:ext cx="10477500" cy="666750"/>
          </a:xfrm>
          <a:prstGeom prst="rect">
            <a:avLst/>
          </a:prstGeom>
          <a:noFill/>
          <a:ln w="0">
            <a:noFill/>
          </a:ln>
        </p:spPr>
        <p:txBody>
          <a:bodyPr/>
          <a:lstStyle/>
          <a:p>
            <a:pPr>
              <a:defRPr sz="3600" b="1">
                <a:solidFill>
                  <a:srgbClr val="FFFFFF"/>
                </a:solidFill>
                <a:latin typeface="Cambria"/>
                <a:ea typeface="Cambria"/>
                <a:cs typeface="Cambria"/>
              </a:defRPr>
            </a:pPr>
            <a:r>
              <a:rPr sz="3600" b="1">
                <a:solidFill>
                  <a:srgbClr val="FFFFFF"/>
                </a:solidFill>
                <a:latin typeface="Cambria"/>
                <a:ea typeface="Cambria"/>
                <a:cs typeface="Cambria"/>
              </a:rPr>
              <a:t>Project delivery and QA dates</a:t>
            </a:r>
          </a:p>
        </p:txBody>
      </p:sp>
      <p:sp>
        <p:nvSpPr>
          <p:cNvPr id="3" name="Rectangle 2">
            <a:extLst>
              <a:ext uri="{FF2B5EF4-FFF2-40B4-BE49-F238E27FC236}">
                <a16:creationId xmlns:a16="http://schemas.microsoft.com/office/drawing/2014/main" id="{155ACFF4-F50D-44B0-8608-B9112BA782AD}"/>
              </a:ext>
            </a:extLst>
          </p:cNvPr>
          <p:cNvSpPr>
            <a:spLocks noGrp="1"/>
          </p:cNvSpPr>
          <p:nvPr/>
        </p:nvSpPr>
        <p:spPr>
          <a:xfrm>
            <a:off x="640080" y="1943100"/>
            <a:ext cx="10001250" cy="381000"/>
          </a:xfrm>
          <a:prstGeom prst="rect">
            <a:avLst/>
          </a:prstGeom>
          <a:noFill/>
          <a:ln w="0">
            <a:noFill/>
          </a:ln>
        </p:spPr>
        <p:txBody>
          <a:bodyPr/>
          <a:lstStyle/>
          <a:p>
            <a:pPr>
              <a:defRPr sz="1350">
                <a:solidFill>
                  <a:srgbClr val="CADCFC"/>
                </a:solidFill>
                <a:latin typeface="Calibri"/>
                <a:ea typeface="Calibri"/>
                <a:cs typeface="Calibri"/>
              </a:defRPr>
            </a:pPr>
            <a:r>
              <a:rPr sz="1350">
                <a:solidFill>
                  <a:srgbClr val="CADCFC"/>
                </a:solidFill>
                <a:latin typeface="Calibri"/>
                <a:ea typeface="Calibri"/>
                <a:cs typeface="Calibri"/>
              </a:rPr>
              <a:t>The following dates are tentative and depend on agreed scope, timely decisions, and project dependencies.</a:t>
            </a:r>
          </a:p>
        </p:txBody>
      </p:sp>
      <p:sp>
        <p:nvSpPr>
          <p:cNvPr id="4" name="Rectangle 3">
            <a:extLst>
              <a:ext uri="{FF2B5EF4-FFF2-40B4-BE49-F238E27FC236}">
                <a16:creationId xmlns:a16="http://schemas.microsoft.com/office/drawing/2014/main" id="{DD621F8C-B5D8-424A-ADE6-F6ACE4885275}"/>
              </a:ext>
            </a:extLst>
          </p:cNvPr>
          <p:cNvSpPr>
            <a:spLocks noGrp="1"/>
          </p:cNvSpPr>
          <p:nvPr/>
        </p:nvSpPr>
        <p:spPr>
          <a:xfrm>
            <a:off x="640080" y="2724150"/>
            <a:ext cx="10908792" cy="19050"/>
          </a:xfrm>
          <a:prstGeom prst="rect">
            <a:avLst/>
          </a:prstGeom>
          <a:solidFill>
            <a:srgbClr val="E8A33D"/>
          </a:solidFill>
          <a:ln w="0">
            <a:noFill/>
          </a:ln>
        </p:spPr>
      </p:sp>
      <p:sp>
        <p:nvSpPr>
          <p:cNvPr id="5" name="Rectangle 4">
            <a:extLst>
              <a:ext uri="{FF2B5EF4-FFF2-40B4-BE49-F238E27FC236}">
                <a16:creationId xmlns:a16="http://schemas.microsoft.com/office/drawing/2014/main" id="{53846DBE-01F3-4095-9135-6B49A47FFE42}"/>
              </a:ext>
            </a:extLst>
          </p:cNvPr>
          <p:cNvSpPr>
            <a:spLocks noGrp="1"/>
          </p:cNvSpPr>
          <p:nvPr/>
        </p:nvSpPr>
        <p:spPr>
          <a:xfrm>
            <a:off x="6096000" y="3257550"/>
            <a:ext cx="19050" cy="1943100"/>
          </a:xfrm>
          <a:prstGeom prst="rect">
            <a:avLst/>
          </a:prstGeom>
          <a:solidFill>
            <a:srgbClr val="49558D"/>
          </a:solidFill>
          <a:ln w="0">
            <a:noFill/>
          </a:ln>
        </p:spPr>
      </p:sp>
      <p:sp>
        <p:nvSpPr>
          <p:cNvPr id="6" name="Rectangle 5">
            <a:extLst>
              <a:ext uri="{FF2B5EF4-FFF2-40B4-BE49-F238E27FC236}">
                <a16:creationId xmlns:a16="http://schemas.microsoft.com/office/drawing/2014/main" id="{106F8651-4987-446E-8ABB-8EB133E7A752}"/>
              </a:ext>
            </a:extLst>
          </p:cNvPr>
          <p:cNvSpPr>
            <a:spLocks noGrp="1"/>
          </p:cNvSpPr>
          <p:nvPr/>
        </p:nvSpPr>
        <p:spPr>
          <a:xfrm>
            <a:off x="1524000" y="3276600"/>
            <a:ext cx="3619500" cy="304800"/>
          </a:xfrm>
          <a:prstGeom prst="rect">
            <a:avLst/>
          </a:prstGeom>
          <a:noFill/>
          <a:ln w="0">
            <a:noFill/>
          </a:ln>
        </p:spPr>
        <p:txBody>
          <a:bodyPr/>
          <a:lstStyle/>
          <a:p>
            <a:pPr algn="ctr">
              <a:defRPr sz="1350" b="1">
                <a:solidFill>
                  <a:srgbClr val="E8A33D"/>
                </a:solidFill>
                <a:latin typeface="Calibri"/>
                <a:ea typeface="Calibri"/>
                <a:cs typeface="Calibri"/>
              </a:defRPr>
            </a:pPr>
            <a:r>
              <a:rPr sz="1350" b="1">
                <a:solidFill>
                  <a:srgbClr val="E8A33D"/>
                </a:solidFill>
                <a:latin typeface="Calibri"/>
                <a:ea typeface="Calibri"/>
                <a:cs typeface="Calibri"/>
              </a:rPr>
              <a:t>PROJECT DELIVERY</a:t>
            </a:r>
          </a:p>
        </p:txBody>
      </p:sp>
      <p:sp>
        <p:nvSpPr>
          <p:cNvPr id="7" name="Rectangle 6">
            <a:extLst>
              <a:ext uri="{FF2B5EF4-FFF2-40B4-BE49-F238E27FC236}">
                <a16:creationId xmlns:a16="http://schemas.microsoft.com/office/drawing/2014/main" id="{83EFEC9B-489F-4871-BB9D-D7374386B3BA}"/>
              </a:ext>
            </a:extLst>
          </p:cNvPr>
          <p:cNvSpPr>
            <a:spLocks noGrp="1"/>
          </p:cNvSpPr>
          <p:nvPr/>
        </p:nvSpPr>
        <p:spPr>
          <a:xfrm>
            <a:off x="1143000" y="3752850"/>
            <a:ext cx="4381500" cy="819150"/>
          </a:xfrm>
          <a:prstGeom prst="rect">
            <a:avLst/>
          </a:prstGeom>
          <a:noFill/>
          <a:ln w="0">
            <a:noFill/>
          </a:ln>
        </p:spPr>
        <p:txBody>
          <a:bodyPr/>
          <a:lstStyle/>
          <a:p>
            <a:pPr algn="ctr">
              <a:defRPr sz="3150" b="1">
                <a:solidFill>
                  <a:srgbClr val="FFFFFF"/>
                </a:solidFill>
                <a:latin typeface="Cambria"/>
                <a:ea typeface="Cambria"/>
                <a:cs typeface="Cambria"/>
              </a:defRPr>
            </a:pPr>
            <a:r>
              <a:rPr sz="3150" b="1">
                <a:solidFill>
                  <a:srgbClr val="FFFFFF"/>
                </a:solidFill>
                <a:latin typeface="Cambria"/>
                <a:ea typeface="Cambria"/>
                <a:cs typeface="Cambria"/>
              </a:rPr>
              <a:t>23 Nov 2026</a:t>
            </a:r>
          </a:p>
        </p:txBody>
      </p:sp>
      <p:sp>
        <p:nvSpPr>
          <p:cNvPr id="8" name="Rectangle 7">
            <a:extLst>
              <a:ext uri="{FF2B5EF4-FFF2-40B4-BE49-F238E27FC236}">
                <a16:creationId xmlns:a16="http://schemas.microsoft.com/office/drawing/2014/main" id="{46803D79-EBAB-48F7-9A85-9E02494CE858}"/>
              </a:ext>
            </a:extLst>
          </p:cNvPr>
          <p:cNvSpPr>
            <a:spLocks noGrp="1"/>
          </p:cNvSpPr>
          <p:nvPr/>
        </p:nvSpPr>
        <p:spPr>
          <a:xfrm>
            <a:off x="1143000" y="4686300"/>
            <a:ext cx="4381500" cy="342900"/>
          </a:xfrm>
          <a:prstGeom prst="rect">
            <a:avLst/>
          </a:prstGeom>
          <a:noFill/>
          <a:ln w="0">
            <a:noFill/>
          </a:ln>
        </p:spPr>
        <p:txBody>
          <a:bodyPr/>
          <a:lstStyle/>
          <a:p>
            <a:pPr algn="ctr">
              <a:defRPr sz="1350">
                <a:solidFill>
                  <a:srgbClr val="CADCFC"/>
                </a:solidFill>
                <a:latin typeface="Calibri"/>
                <a:ea typeface="Calibri"/>
                <a:cs typeface="Calibri"/>
              </a:defRPr>
            </a:pPr>
            <a:r>
              <a:rPr sz="1350">
                <a:solidFill>
                  <a:srgbClr val="CADCFC"/>
                </a:solidFill>
                <a:latin typeface="Calibri"/>
                <a:ea typeface="Calibri"/>
                <a:cs typeface="Calibri"/>
              </a:rPr>
              <a:t>Target project completion</a:t>
            </a:r>
          </a:p>
        </p:txBody>
      </p:sp>
      <p:sp>
        <p:nvSpPr>
          <p:cNvPr id="9" name="Rectangle 8">
            <a:extLst>
              <a:ext uri="{FF2B5EF4-FFF2-40B4-BE49-F238E27FC236}">
                <a16:creationId xmlns:a16="http://schemas.microsoft.com/office/drawing/2014/main" id="{205C7C16-B9EC-4A3D-B8FB-3FECC7EBF4D4}"/>
              </a:ext>
            </a:extLst>
          </p:cNvPr>
          <p:cNvSpPr>
            <a:spLocks noGrp="1"/>
          </p:cNvSpPr>
          <p:nvPr/>
        </p:nvSpPr>
        <p:spPr>
          <a:xfrm>
            <a:off x="7048500" y="3276600"/>
            <a:ext cx="3619500" cy="304800"/>
          </a:xfrm>
          <a:prstGeom prst="rect">
            <a:avLst/>
          </a:prstGeom>
          <a:noFill/>
          <a:ln w="0">
            <a:noFill/>
          </a:ln>
        </p:spPr>
        <p:txBody>
          <a:bodyPr/>
          <a:lstStyle/>
          <a:p>
            <a:pPr algn="ctr">
              <a:defRPr sz="1350" b="1">
                <a:solidFill>
                  <a:srgbClr val="E8A33D"/>
                </a:solidFill>
                <a:latin typeface="Calibri"/>
                <a:ea typeface="Calibri"/>
                <a:cs typeface="Calibri"/>
              </a:defRPr>
            </a:pPr>
            <a:r>
              <a:rPr sz="1350" b="1">
                <a:solidFill>
                  <a:srgbClr val="E8A33D"/>
                </a:solidFill>
                <a:latin typeface="Calibri"/>
                <a:ea typeface="Calibri"/>
                <a:cs typeface="Calibri"/>
              </a:rPr>
              <a:t>QA COMPLETION</a:t>
            </a:r>
          </a:p>
        </p:txBody>
      </p:sp>
      <p:sp>
        <p:nvSpPr>
          <p:cNvPr id="10" name="Rectangle 9">
            <a:extLst>
              <a:ext uri="{FF2B5EF4-FFF2-40B4-BE49-F238E27FC236}">
                <a16:creationId xmlns:a16="http://schemas.microsoft.com/office/drawing/2014/main" id="{46DDADA3-6C4B-4E20-AD5D-D957484A9059}"/>
              </a:ext>
            </a:extLst>
          </p:cNvPr>
          <p:cNvSpPr>
            <a:spLocks noGrp="1"/>
          </p:cNvSpPr>
          <p:nvPr/>
        </p:nvSpPr>
        <p:spPr>
          <a:xfrm>
            <a:off x="6667500" y="3752850"/>
            <a:ext cx="4381500" cy="819150"/>
          </a:xfrm>
          <a:prstGeom prst="rect">
            <a:avLst/>
          </a:prstGeom>
          <a:noFill/>
          <a:ln w="0">
            <a:noFill/>
          </a:ln>
        </p:spPr>
        <p:txBody>
          <a:bodyPr/>
          <a:lstStyle/>
          <a:p>
            <a:pPr algn="ctr">
              <a:defRPr sz="3150" b="1">
                <a:solidFill>
                  <a:srgbClr val="FFFFFF"/>
                </a:solidFill>
                <a:latin typeface="Cambria"/>
                <a:ea typeface="Cambria"/>
                <a:cs typeface="Cambria"/>
              </a:defRPr>
            </a:pPr>
            <a:r>
              <a:rPr sz="3150" b="1">
                <a:solidFill>
                  <a:srgbClr val="FFFFFF"/>
                </a:solidFill>
                <a:latin typeface="Cambria"/>
                <a:ea typeface="Cambria"/>
                <a:cs typeface="Cambria"/>
              </a:rPr>
              <a:t>30 Nov 2026</a:t>
            </a:r>
          </a:p>
        </p:txBody>
      </p:sp>
      <p:sp>
        <p:nvSpPr>
          <p:cNvPr id="11" name="Rectangle 10">
            <a:extLst>
              <a:ext uri="{FF2B5EF4-FFF2-40B4-BE49-F238E27FC236}">
                <a16:creationId xmlns:a16="http://schemas.microsoft.com/office/drawing/2014/main" id="{25189259-D420-44CE-9D01-B81B66115334}"/>
              </a:ext>
            </a:extLst>
          </p:cNvPr>
          <p:cNvSpPr>
            <a:spLocks noGrp="1"/>
          </p:cNvSpPr>
          <p:nvPr/>
        </p:nvSpPr>
        <p:spPr>
          <a:xfrm>
            <a:off x="6667500" y="4686300"/>
            <a:ext cx="4381500" cy="342900"/>
          </a:xfrm>
          <a:prstGeom prst="rect">
            <a:avLst/>
          </a:prstGeom>
          <a:noFill/>
          <a:ln w="0">
            <a:noFill/>
          </a:ln>
        </p:spPr>
        <p:txBody>
          <a:bodyPr/>
          <a:lstStyle/>
          <a:p>
            <a:pPr algn="ctr">
              <a:defRPr sz="1350">
                <a:solidFill>
                  <a:srgbClr val="CADCFC"/>
                </a:solidFill>
                <a:latin typeface="Calibri"/>
                <a:ea typeface="Calibri"/>
                <a:cs typeface="Calibri"/>
              </a:defRPr>
            </a:pPr>
            <a:r>
              <a:rPr sz="1350">
                <a:solidFill>
                  <a:srgbClr val="CADCFC"/>
                </a:solidFill>
                <a:latin typeface="Calibri"/>
                <a:ea typeface="Calibri"/>
                <a:cs typeface="Calibri"/>
              </a:rPr>
              <a:t>Final QA and sign-off</a:t>
            </a:r>
          </a:p>
        </p:txBody>
      </p:sp>
      <p:sp>
        <p:nvSpPr>
          <p:cNvPr id="12" name="Rectangle 11">
            <a:extLst>
              <a:ext uri="{FF2B5EF4-FFF2-40B4-BE49-F238E27FC236}">
                <a16:creationId xmlns:a16="http://schemas.microsoft.com/office/drawing/2014/main" id="{36AE6BF7-2C48-4B3F-B6E1-C48426648E51}"/>
              </a:ext>
            </a:extLst>
          </p:cNvPr>
          <p:cNvSpPr>
            <a:spLocks noGrp="1"/>
          </p:cNvSpPr>
          <p:nvPr/>
        </p:nvSpPr>
        <p:spPr>
          <a:xfrm>
            <a:off x="640080" y="6400800"/>
            <a:ext cx="4572000" cy="274320"/>
          </a:xfrm>
          <a:prstGeom prst="rect">
            <a:avLst/>
          </a:prstGeom>
          <a:noFill/>
          <a:ln w="0">
            <a:noFill/>
          </a:ln>
        </p:spPr>
        <p:txBody>
          <a:bodyPr/>
          <a:lstStyle/>
          <a:p>
            <a:pPr>
              <a:defRPr sz="1000">
                <a:solidFill>
                  <a:srgbClr val="CADCFC"/>
                </a:solidFill>
                <a:latin typeface="Calibri"/>
                <a:ea typeface="Calibri"/>
                <a:cs typeface="Calibri"/>
              </a:defRPr>
            </a:pPr>
            <a:r>
              <a:rPr sz="1000">
                <a:solidFill>
                  <a:srgbClr val="CADCFC"/>
                </a:solidFill>
                <a:latin typeface="Calibri"/>
                <a:ea typeface="Calibri"/>
                <a:cs typeface="Calibri"/>
              </a:rPr>
              <a:t>Astravi — AI Cost Comparison</a:t>
            </a:r>
          </a:p>
        </p:txBody>
      </p:sp>
      <p:sp>
        <p:nvSpPr>
          <p:cNvPr id="13" name="Rectangle 12">
            <a:extLst>
              <a:ext uri="{FF2B5EF4-FFF2-40B4-BE49-F238E27FC236}">
                <a16:creationId xmlns:a16="http://schemas.microsoft.com/office/drawing/2014/main" id="{1C662018-D4B3-44BE-A17D-13A89523DDA1}"/>
              </a:ext>
            </a:extLst>
          </p:cNvPr>
          <p:cNvSpPr>
            <a:spLocks noGrp="1"/>
          </p:cNvSpPr>
          <p:nvPr/>
        </p:nvSpPr>
        <p:spPr>
          <a:xfrm>
            <a:off x="11365992" y="6400800"/>
            <a:ext cx="548640" cy="274320"/>
          </a:xfrm>
          <a:prstGeom prst="rect">
            <a:avLst/>
          </a:prstGeom>
          <a:noFill/>
          <a:ln w="0">
            <a:noFill/>
          </a:ln>
        </p:spPr>
        <p:txBody>
          <a:bodyPr/>
          <a:lstStyle/>
          <a:p>
            <a:pPr algn="r">
              <a:defRPr sz="1000">
                <a:solidFill>
                  <a:srgbClr val="CADCFC"/>
                </a:solidFill>
                <a:latin typeface="Calibri"/>
                <a:ea typeface="Calibri"/>
                <a:cs typeface="Calibri"/>
              </a:defRPr>
            </a:pPr>
            <a:r>
              <a:rPr sz="1000">
                <a:solidFill>
                  <a:srgbClr val="CADCFC"/>
                </a:solidFill>
                <a:latin typeface="Calibri"/>
                <a:ea typeface="Calibri"/>
                <a:cs typeface="Calibri"/>
              </a:rPr>
              <a:t>15</a:t>
            </a:r>
          </a:p>
        </p:txBody>
      </p:sp>
    </p:spTree>
    <p:extLst>
      <p:ext uri="{BB962C8B-B14F-4D97-AF65-F5344CB8AC3E}">
        <p14:creationId xmlns:p14="http://schemas.microsoft.com/office/powerpoint/2010/main" val="7702749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DocSecurity>0</DocSecurity>
  <PresentationFormat>Widescreen</PresentationFormat>
  <Slides>15</Slides>
  <Notes>15</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Walnut Exporter</cp:lastModifiedBy>
  <cp:revision>1</cp:revision>
  <dcterms:created xsi:type="dcterms:W3CDTF">2026-09-11T12:26:37Z</dcterms:created>
  <dcterms:modified xsi:type="dcterms:W3CDTF">2026-09-11T12:30:02Z</dcterms:modified>
</cp:coreProperties>
</file>